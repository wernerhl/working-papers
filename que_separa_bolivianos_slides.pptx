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FFFFFF"/>
        </a:solidFill>
        <a:effectLst>
          <a:outerShdw blurRad="50800" dist="38100" dir="5400000" rotWithShape="0">
            <a:srgbClr val="000000"/>
          </a:outerShdw>
        </a:effectLst>
        <a:uFillTx/>
        <a:latin typeface="+mn-lt"/>
        <a:ea typeface="+mn-ea"/>
        <a:cs typeface="+mn-cs"/>
        <a:sym typeface="Futura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FFFFFF"/>
        </a:solidFill>
        <a:effectLst>
          <a:outerShdw blurRad="50800" dist="38100" dir="5400000" rotWithShape="0">
            <a:srgbClr val="000000"/>
          </a:outerShdw>
        </a:effectLst>
        <a:uFillTx/>
        <a:latin typeface="+mn-lt"/>
        <a:ea typeface="+mn-ea"/>
        <a:cs typeface="+mn-cs"/>
        <a:sym typeface="Futura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FFFFFF"/>
        </a:solidFill>
        <a:effectLst>
          <a:outerShdw blurRad="50800" dist="38100" dir="5400000" rotWithShape="0">
            <a:srgbClr val="000000"/>
          </a:outerShdw>
        </a:effectLst>
        <a:uFillTx/>
        <a:latin typeface="+mn-lt"/>
        <a:ea typeface="+mn-ea"/>
        <a:cs typeface="+mn-cs"/>
        <a:sym typeface="Futura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FFFFFF"/>
        </a:solidFill>
        <a:effectLst>
          <a:outerShdw blurRad="50800" dist="38100" dir="5400000" rotWithShape="0">
            <a:srgbClr val="000000"/>
          </a:outerShdw>
        </a:effectLst>
        <a:uFillTx/>
        <a:latin typeface="+mn-lt"/>
        <a:ea typeface="+mn-ea"/>
        <a:cs typeface="+mn-cs"/>
        <a:sym typeface="Futura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FFFFFF"/>
        </a:solidFill>
        <a:effectLst>
          <a:outerShdw blurRad="50800" dist="38100" dir="5400000" rotWithShape="0">
            <a:srgbClr val="000000"/>
          </a:outerShdw>
        </a:effectLst>
        <a:uFillTx/>
        <a:latin typeface="+mn-lt"/>
        <a:ea typeface="+mn-ea"/>
        <a:cs typeface="+mn-cs"/>
        <a:sym typeface="Futura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FFFFFF"/>
        </a:solidFill>
        <a:effectLst>
          <a:outerShdw blurRad="50800" dist="38100" dir="5400000" rotWithShape="0">
            <a:srgbClr val="000000"/>
          </a:outerShdw>
        </a:effectLst>
        <a:uFillTx/>
        <a:latin typeface="+mn-lt"/>
        <a:ea typeface="+mn-ea"/>
        <a:cs typeface="+mn-cs"/>
        <a:sym typeface="Futura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FFFFFF"/>
        </a:solidFill>
        <a:effectLst>
          <a:outerShdw blurRad="50800" dist="38100" dir="5400000" rotWithShape="0">
            <a:srgbClr val="000000"/>
          </a:outerShdw>
        </a:effectLst>
        <a:uFillTx/>
        <a:latin typeface="+mn-lt"/>
        <a:ea typeface="+mn-ea"/>
        <a:cs typeface="+mn-cs"/>
        <a:sym typeface="Futura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FFFFFF"/>
        </a:solidFill>
        <a:effectLst>
          <a:outerShdw blurRad="50800" dist="38100" dir="5400000" rotWithShape="0">
            <a:srgbClr val="000000"/>
          </a:outerShdw>
        </a:effectLst>
        <a:uFillTx/>
        <a:latin typeface="+mn-lt"/>
        <a:ea typeface="+mn-ea"/>
        <a:cs typeface="+mn-cs"/>
        <a:sym typeface="Futura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FFFFFF"/>
        </a:solidFill>
        <a:effectLst>
          <a:outerShdw blurRad="50800" dist="38100" dir="5400000" rotWithShape="0">
            <a:srgbClr val="000000"/>
          </a:outerShdw>
        </a:effectLst>
        <a:uFillTx/>
        <a:latin typeface="+mn-lt"/>
        <a:ea typeface="+mn-ea"/>
        <a:cs typeface="+mn-cs"/>
        <a:sym typeface="Futur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000205">
              <a:alpha val="36000"/>
            </a:srgbClr>
          </a:solidFill>
        </a:fill>
      </a:tcStyle>
    </a:wholeTbl>
    <a:band2H>
      <a:tcTxStyle/>
      <a:tcStyle>
        <a:tcBdr/>
        <a:fill>
          <a:solidFill>
            <a:srgbClr val="676164">
              <a:alpha val="36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676163">
              <a:alpha val="36000"/>
            </a:srgbClr>
          </a:solidFill>
        </a:fill>
      </a:tcStyle>
    </a:wholeTbl>
    <a:band2H>
      <a:tcTxStyle/>
      <a:tcStyle>
        <a:tcBdr/>
        <a:fill>
          <a:solidFill>
            <a:srgbClr val="676163">
              <a:alpha val="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97EB">
              <a:alpha val="75000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97EB">
              <a:alpha val="75000"/>
            </a:srgb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94908F">
              <a:alpha val="64999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929292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71E00">
              <a:alpha val="80000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929292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2800">
              <a:alpha val="80000"/>
            </a:srgbClr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wholeTbl>
    <a:band2H>
      <a:tcTxStyle/>
      <a:tcStyle>
        <a:tcBdr/>
        <a:fill>
          <a:solidFill>
            <a:srgbClr val="676163">
              <a:alpha val="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B400">
              <a:alpha val="90000"/>
            </a:srgbClr>
          </a:solidFill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B400">
              <a:alpha val="90000"/>
            </a:srgbClr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676164">
              <a:alpha val="36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27D7D">
              <a:alpha val="64999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27D7D">
              <a:alpha val="64999"/>
            </a:srgbClr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676164">
              <a:alpha val="36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A0A4A8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A0A4A8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>
      <p:cViewPr varScale="1">
        <p:scale>
          <a:sx n="45" d="100"/>
          <a:sy n="45" d="100"/>
        </p:scale>
        <p:origin x="23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6306775295578622E-2"/>
          <c:y val="4.1395938100328197E-2"/>
          <c:w val="0.95137826023505978"/>
          <c:h val="0.794237726519139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@ No indígenas</c:v>
                </c:pt>
              </c:strCache>
            </c:strRef>
          </c:tx>
          <c:spPr>
            <a:gradFill flip="none" rotWithShape="1">
              <a:gsLst>
                <a:gs pos="0">
                  <a:srgbClr val="00B8FF">
                    <a:alpha val="75000"/>
                  </a:srgbClr>
                </a:gs>
                <a:gs pos="100000">
                  <a:srgbClr val="0062FF">
                    <a:alpha val="64999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algn="tl">
                <a:srgbClr val="000000">
                  <a:alpha val="50000"/>
                </a:srgbClr>
              </a:outerShdw>
            </a:effectLst>
          </c:spPr>
          <c:invertIfNegative val="0"/>
          <c:cat>
            <c:strRef>
              <c:f>Sheet1!$B$1:$D$1</c:f>
              <c:strCache>
                <c:ptCount val="3"/>
                <c:pt idx="0">
                  <c:v>Por herencia</c:v>
                </c:pt>
                <c:pt idx="1">
                  <c:v>Por idioma</c:v>
                </c:pt>
                <c:pt idx="2">
                  <c:v>Por auto-identificación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-0.16</c:v>
                </c:pt>
                <c:pt idx="1">
                  <c:v>-0.61</c:v>
                </c:pt>
                <c:pt idx="2">
                  <c:v>-0.18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5D-144A-A83E-7D4142BB2039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@ Indígenas</c:v>
                </c:pt>
              </c:strCache>
            </c:strRef>
          </c:tx>
          <c:spPr>
            <a:gradFill flip="none" rotWithShape="1">
              <a:gsLst>
                <a:gs pos="0">
                  <a:srgbClr val="65DA10">
                    <a:alpha val="75000"/>
                  </a:srgbClr>
                </a:gs>
                <a:gs pos="100000">
                  <a:srgbClr val="008D19">
                    <a:alpha val="64999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algn="tl">
                <a:srgbClr val="000000">
                  <a:alpha val="50000"/>
                </a:srgbClr>
              </a:outerShdw>
            </a:effectLst>
          </c:spPr>
          <c:invertIfNegative val="0"/>
          <c:cat>
            <c:strRef>
              <c:f>Sheet1!$B$1:$D$1</c:f>
              <c:strCache>
                <c:ptCount val="3"/>
                <c:pt idx="0">
                  <c:v>Por herencia</c:v>
                </c:pt>
                <c:pt idx="1">
                  <c:v>Por idioma</c:v>
                </c:pt>
                <c:pt idx="2">
                  <c:v>Por auto-identificación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  <c:pt idx="0">
                  <c:v>-1.47</c:v>
                </c:pt>
                <c:pt idx="1">
                  <c:v>-1.65</c:v>
                </c:pt>
                <c:pt idx="2">
                  <c:v>-2.23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5D-144A-A83E-7D4142BB20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B8B8B8"/>
            </a:solidFill>
            <a:prstDash val="solid"/>
            <a:miter lim="400000"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FFFFFF"/>
                </a:solidFill>
                <a:latin typeface="Futura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0"/>
          <c:min val="-5"/>
        </c:scaling>
        <c:delete val="0"/>
        <c:axPos val="t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high"/>
        <c:spPr>
          <a:ln w="12700" cap="flat">
            <a:solidFill>
              <a:srgbClr val="B8B8B8"/>
            </a:solidFill>
            <a:prstDash val="solid"/>
            <a:miter lim="400000"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FFFFFF"/>
                </a:solidFill>
                <a:latin typeface="Futura"/>
              </a:defRPr>
            </a:pPr>
            <a:endParaRPr lang="en-US"/>
          </a:p>
        </c:txPr>
        <c:crossAx val="2094734552"/>
        <c:crosses val="min"/>
        <c:crossBetween val="between"/>
        <c:majorUnit val="1"/>
        <c:minorUnit val="0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6322182532048228E-2"/>
          <c:y val="7.8362554182570987E-2"/>
          <c:w val="0.95134978366833112"/>
          <c:h val="0.7242940279936387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@ Oriente</c:v>
                </c:pt>
              </c:strCache>
            </c:strRef>
          </c:tx>
          <c:spPr>
            <a:gradFill flip="none" rotWithShape="1">
              <a:gsLst>
                <a:gs pos="0">
                  <a:srgbClr val="00B8FF">
                    <a:alpha val="75000"/>
                  </a:srgbClr>
                </a:gs>
                <a:gs pos="100000">
                  <a:srgbClr val="0062FF">
                    <a:alpha val="64999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algn="tl">
                <a:srgbClr val="000000">
                  <a:alpha val="50000"/>
                </a:srgbClr>
              </a:outerShdw>
            </a:effectLst>
          </c:spPr>
          <c:invertIfNegative val="0"/>
          <c:cat>
            <c:strRef>
              <c:f>Sheet1!$B$1:$D$1</c:f>
              <c:strCache>
                <c:ptCount val="3"/>
                <c:pt idx="0">
                  <c:v>LPZ vs SCZ</c:v>
                </c:pt>
                <c:pt idx="1">
                  <c:v>Orien.vsOcc.</c:v>
                </c:pt>
                <c:pt idx="2">
                  <c:v>Auto-identificación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-1.6</c:v>
                </c:pt>
                <c:pt idx="1">
                  <c:v>-1.43</c:v>
                </c:pt>
                <c:pt idx="2">
                  <c:v>-2.0299999999999998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BD-B747-B2B3-2211CC098B6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@ Occidente</c:v>
                </c:pt>
              </c:strCache>
            </c:strRef>
          </c:tx>
          <c:spPr>
            <a:gradFill flip="none" rotWithShape="1">
              <a:gsLst>
                <a:gs pos="0">
                  <a:srgbClr val="65DA10">
                    <a:alpha val="75000"/>
                  </a:srgbClr>
                </a:gs>
                <a:gs pos="100000">
                  <a:srgbClr val="008D19">
                    <a:alpha val="64999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algn="tl">
                <a:srgbClr val="000000">
                  <a:alpha val="50000"/>
                </a:srgbClr>
              </a:outerShdw>
            </a:effectLst>
          </c:spPr>
          <c:invertIfNegative val="0"/>
          <c:cat>
            <c:strRef>
              <c:f>Sheet1!$B$1:$D$1</c:f>
              <c:strCache>
                <c:ptCount val="3"/>
                <c:pt idx="0">
                  <c:v>LPZ vs SCZ</c:v>
                </c:pt>
                <c:pt idx="1">
                  <c:v>Orien.vsOcc.</c:v>
                </c:pt>
                <c:pt idx="2">
                  <c:v>Auto-identificación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  <c:pt idx="0">
                  <c:v>-0.85</c:v>
                </c:pt>
                <c:pt idx="1">
                  <c:v>-0.56999999999999995</c:v>
                </c:pt>
                <c:pt idx="2">
                  <c:v>-1.75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BD-B747-B2B3-2211CC098B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B8B8B8"/>
            </a:solidFill>
            <a:prstDash val="solid"/>
            <a:miter lim="400000"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FFFFFF"/>
                </a:solidFill>
                <a:latin typeface="Futura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0"/>
          <c:min val="-5"/>
        </c:scaling>
        <c:delete val="0"/>
        <c:axPos val="t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high"/>
        <c:spPr>
          <a:ln w="12700" cap="flat">
            <a:solidFill>
              <a:srgbClr val="B8B8B8"/>
            </a:solidFill>
            <a:prstDash val="solid"/>
            <a:miter lim="400000"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FFFFFF"/>
                </a:solidFill>
                <a:latin typeface="Futura"/>
              </a:defRPr>
            </a:pPr>
            <a:endParaRPr lang="en-US"/>
          </a:p>
        </c:txPr>
        <c:crossAx val="2094734552"/>
        <c:crosses val="min"/>
        <c:crossBetween val="between"/>
        <c:majorUnit val="1"/>
        <c:minorUnit val="0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3.6181709273851906E-2"/>
          <c:y val="8.2759740622659644E-2"/>
          <c:w val="0.93426995124816714"/>
          <c:h val="0.4725284074325692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@ No pobres</c:v>
                </c:pt>
              </c:strCache>
            </c:strRef>
          </c:tx>
          <c:spPr>
            <a:gradFill flip="none" rotWithShape="1">
              <a:gsLst>
                <a:gs pos="0">
                  <a:srgbClr val="00B8FF">
                    <a:alpha val="75000"/>
                  </a:srgbClr>
                </a:gs>
                <a:gs pos="100000">
                  <a:srgbClr val="0062FF">
                    <a:alpha val="64999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algn="tl">
                <a:srgbClr val="000000">
                  <a:alpha val="50000"/>
                </a:srgbClr>
              </a:outerShdw>
            </a:effectLst>
          </c:spPr>
          <c:invertIfNegative val="0"/>
          <c:cat>
            <c:strRef>
              <c:f>Sheet1!$B$1:$C$1</c:f>
              <c:strCache>
                <c:ptCount val="2"/>
                <c:pt idx="0">
                  <c:v>Por auto-evaluación</c:v>
                </c:pt>
                <c:pt idx="1">
                  <c:v>Por activos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-0.54</c:v>
                </c:pt>
                <c:pt idx="1">
                  <c:v>-1.2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05-124B-A0A7-C3066A8720B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@ Pobres</c:v>
                </c:pt>
              </c:strCache>
            </c:strRef>
          </c:tx>
          <c:spPr>
            <a:gradFill flip="none" rotWithShape="1">
              <a:gsLst>
                <a:gs pos="0">
                  <a:srgbClr val="65DA10">
                    <a:alpha val="75000"/>
                  </a:srgbClr>
                </a:gs>
                <a:gs pos="100000">
                  <a:srgbClr val="008D19">
                    <a:alpha val="64999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algn="tl">
                <a:srgbClr val="000000">
                  <a:alpha val="50000"/>
                </a:srgbClr>
              </a:outerShdw>
            </a:effectLst>
          </c:spPr>
          <c:invertIfNegative val="0"/>
          <c:cat>
            <c:strRef>
              <c:f>Sheet1!$B$1:$C$1</c:f>
              <c:strCache>
                <c:ptCount val="2"/>
                <c:pt idx="0">
                  <c:v>Por auto-evaluación</c:v>
                </c:pt>
                <c:pt idx="1">
                  <c:v>Por activos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-0.44</c:v>
                </c:pt>
                <c:pt idx="1">
                  <c:v>-0.35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05-124B-A0A7-C3066A8720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B8B8B8"/>
            </a:solidFill>
            <a:prstDash val="solid"/>
            <a:miter lim="400000"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FFFFFF"/>
                </a:solidFill>
                <a:latin typeface="Futura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0"/>
          <c:min val="-5"/>
        </c:scaling>
        <c:delete val="0"/>
        <c:axPos val="t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high"/>
        <c:spPr>
          <a:ln w="12700" cap="flat">
            <a:solidFill>
              <a:srgbClr val="B8B8B8"/>
            </a:solidFill>
            <a:prstDash val="solid"/>
            <a:miter lim="400000"/>
          </a:ln>
        </c:spPr>
        <c:txPr>
          <a:bodyPr rot="0"/>
          <a:lstStyle/>
          <a:p>
            <a:pPr>
              <a:defRPr sz="3400" b="0" i="0" u="none" strike="noStrike">
                <a:solidFill>
                  <a:srgbClr val="FFFFFF"/>
                </a:solidFill>
                <a:latin typeface="Futura"/>
              </a:defRPr>
            </a:pPr>
            <a:endParaRPr lang="en-US"/>
          </a:p>
        </c:txPr>
        <c:crossAx val="2094734552"/>
        <c:crosses val="min"/>
        <c:crossBetween val="between"/>
        <c:majorUnit val="1"/>
        <c:minorUnit val="0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3.5521368136913409E-2"/>
          <c:y val="0"/>
          <c:w val="0.93546956995040398"/>
          <c:h val="0.727201086990271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@ Oposición</c:v>
                </c:pt>
              </c:strCache>
            </c:strRef>
          </c:tx>
          <c:spPr>
            <a:gradFill flip="none" rotWithShape="1">
              <a:gsLst>
                <a:gs pos="0">
                  <a:srgbClr val="00B8FF">
                    <a:alpha val="75000"/>
                  </a:srgbClr>
                </a:gs>
                <a:gs pos="100000">
                  <a:srgbClr val="0062FF">
                    <a:alpha val="64999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algn="tl">
                <a:srgbClr val="000000">
                  <a:alpha val="50000"/>
                </a:srgbClr>
              </a:outerShdw>
            </a:effectLst>
          </c:spPr>
          <c:invertIfNegative val="0"/>
          <c:cat>
            <c:strRef>
              <c:f>Sheet1!$B$1:$C$1</c:f>
              <c:strCache>
                <c:ptCount val="2"/>
                <c:pt idx="0">
                  <c:v>Voto 2020</c:v>
                </c:pt>
                <c:pt idx="1">
                  <c:v>Voto 2022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-2.39</c:v>
                </c:pt>
                <c:pt idx="1">
                  <c:v>-3.09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23-C341-925B-2FCB785CC15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@ Incumbente</c:v>
                </c:pt>
              </c:strCache>
            </c:strRef>
          </c:tx>
          <c:spPr>
            <a:gradFill flip="none" rotWithShape="1">
              <a:gsLst>
                <a:gs pos="0">
                  <a:srgbClr val="65DA10">
                    <a:alpha val="75000"/>
                  </a:srgbClr>
                </a:gs>
                <a:gs pos="100000">
                  <a:srgbClr val="008D19">
                    <a:alpha val="64999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algn="tl">
                <a:srgbClr val="000000">
                  <a:alpha val="50000"/>
                </a:srgbClr>
              </a:outerShdw>
            </a:effectLst>
          </c:spPr>
          <c:invertIfNegative val="0"/>
          <c:cat>
            <c:strRef>
              <c:f>Sheet1!$B$1:$C$1</c:f>
              <c:strCache>
                <c:ptCount val="2"/>
                <c:pt idx="0">
                  <c:v>Voto 2020</c:v>
                </c:pt>
                <c:pt idx="1">
                  <c:v>Voto 2022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-4.08</c:v>
                </c:pt>
                <c:pt idx="1">
                  <c:v>-4.8899999999999997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23-C341-925B-2FCB785CC1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B8B8B8"/>
            </a:solidFill>
            <a:prstDash val="solid"/>
            <a:miter lim="400000"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FFFFFF"/>
                </a:solidFill>
                <a:latin typeface="Futura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0"/>
          <c:min val="-5"/>
        </c:scaling>
        <c:delete val="0"/>
        <c:axPos val="t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high"/>
        <c:spPr>
          <a:ln w="12700" cap="flat">
            <a:solidFill>
              <a:srgbClr val="B8B8B8"/>
            </a:solidFill>
            <a:prstDash val="solid"/>
            <a:miter lim="400000"/>
          </a:ln>
        </c:spPr>
        <c:txPr>
          <a:bodyPr rot="0"/>
          <a:lstStyle/>
          <a:p>
            <a:pPr>
              <a:defRPr sz="3400" b="0" i="0" u="none" strike="noStrike">
                <a:solidFill>
                  <a:srgbClr val="FFFFFF"/>
                </a:solidFill>
                <a:latin typeface="Futura"/>
              </a:defRPr>
            </a:pPr>
            <a:endParaRPr lang="en-US"/>
          </a:p>
        </c:txPr>
        <c:crossAx val="2094734552"/>
        <c:crosses val="min"/>
        <c:crossBetween val="between"/>
        <c:majorUnit val="1"/>
        <c:minorUnit val="0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9907979334504731E-2"/>
          <c:y val="0"/>
          <c:w val="0.94777705619613373"/>
          <c:h val="0.8356336646194678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@ No indígenas</c:v>
                </c:pt>
              </c:strCache>
            </c:strRef>
          </c:tx>
          <c:spPr>
            <a:gradFill flip="none" rotWithShape="1">
              <a:gsLst>
                <a:gs pos="0">
                  <a:srgbClr val="00B8FF">
                    <a:alpha val="75000"/>
                  </a:srgbClr>
                </a:gs>
                <a:gs pos="100000">
                  <a:srgbClr val="0062FF">
                    <a:alpha val="64999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algn="tl">
                <a:srgbClr val="000000">
                  <a:alpha val="50000"/>
                </a:srgbClr>
              </a:outerShdw>
            </a:effectLst>
          </c:spPr>
          <c:invertIfNegative val="0"/>
          <c:cat>
            <c:strRef>
              <c:f>Sheet1!$B$1:$D$1</c:f>
              <c:strCache>
                <c:ptCount val="3"/>
                <c:pt idx="0">
                  <c:v>Por herencia</c:v>
                </c:pt>
                <c:pt idx="1">
                  <c:v>Por idioma</c:v>
                </c:pt>
                <c:pt idx="2">
                  <c:v>Por auto-identificación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1B-C044-87F1-12A36A3DAD79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@ Indígenas</c:v>
                </c:pt>
              </c:strCache>
            </c:strRef>
          </c:tx>
          <c:spPr>
            <a:gradFill flip="none" rotWithShape="1">
              <a:gsLst>
                <a:gs pos="0">
                  <a:srgbClr val="65DA10">
                    <a:alpha val="75000"/>
                  </a:srgbClr>
                </a:gs>
                <a:gs pos="100000">
                  <a:srgbClr val="008D19">
                    <a:alpha val="64999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algn="tl">
                <a:srgbClr val="000000">
                  <a:alpha val="50000"/>
                </a:srgbClr>
              </a:outerShdw>
            </a:effectLst>
          </c:spPr>
          <c:invertIfNegative val="0"/>
          <c:cat>
            <c:strRef>
              <c:f>Sheet1!$B$1:$D$1</c:f>
              <c:strCache>
                <c:ptCount val="3"/>
                <c:pt idx="0">
                  <c:v>Por herencia</c:v>
                </c:pt>
                <c:pt idx="1">
                  <c:v>Por idioma</c:v>
                </c:pt>
                <c:pt idx="2">
                  <c:v>Por auto-identificación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1B-C044-87F1-12A36A3DAD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B8B8B8"/>
            </a:solidFill>
            <a:prstDash val="solid"/>
            <a:miter lim="400000"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FFFFFF"/>
                </a:solidFill>
                <a:latin typeface="Futura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0"/>
          <c:min val="-5"/>
        </c:scaling>
        <c:delete val="0"/>
        <c:axPos val="t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high"/>
        <c:spPr>
          <a:ln w="12700" cap="flat">
            <a:solidFill>
              <a:srgbClr val="B8B8B8"/>
            </a:solidFill>
            <a:prstDash val="solid"/>
            <a:miter lim="400000"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FFFFFF"/>
                </a:solidFill>
                <a:latin typeface="Futura"/>
              </a:defRPr>
            </a:pPr>
            <a:endParaRPr lang="en-US"/>
          </a:p>
        </c:txPr>
        <c:crossAx val="2094734552"/>
        <c:crosses val="min"/>
        <c:crossBetween val="between"/>
        <c:majorUnit val="1"/>
        <c:minorUnit val="0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6322182532048228E-2"/>
          <c:y val="2.5816180220897881E-2"/>
          <c:w val="0.95134978366833112"/>
          <c:h val="0.776840401955311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@ Oriente</c:v>
                </c:pt>
              </c:strCache>
            </c:strRef>
          </c:tx>
          <c:spPr>
            <a:gradFill flip="none" rotWithShape="1">
              <a:gsLst>
                <a:gs pos="0">
                  <a:srgbClr val="00B8FF">
                    <a:alpha val="75000"/>
                  </a:srgbClr>
                </a:gs>
                <a:gs pos="100000">
                  <a:srgbClr val="0062FF">
                    <a:alpha val="64999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algn="tl">
                <a:srgbClr val="000000">
                  <a:alpha val="50000"/>
                </a:srgbClr>
              </a:outerShdw>
            </a:effectLst>
          </c:spPr>
          <c:invertIfNegative val="0"/>
          <c:cat>
            <c:strRef>
              <c:f>Sheet1!$B$1:$D$1</c:f>
              <c:strCache>
                <c:ptCount val="3"/>
                <c:pt idx="0">
                  <c:v>LPZ vs SCZ</c:v>
                </c:pt>
                <c:pt idx="1">
                  <c:v>Orien.vsOcc.</c:v>
                </c:pt>
                <c:pt idx="2">
                  <c:v>Auto-identificación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-0.53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F6-F54F-983D-5F4333B1077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@ Occidente</c:v>
                </c:pt>
              </c:strCache>
            </c:strRef>
          </c:tx>
          <c:spPr>
            <a:gradFill flip="none" rotWithShape="1">
              <a:gsLst>
                <a:gs pos="0">
                  <a:srgbClr val="65DA10">
                    <a:alpha val="75000"/>
                  </a:srgbClr>
                </a:gs>
                <a:gs pos="100000">
                  <a:srgbClr val="008D19">
                    <a:alpha val="64999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algn="tl">
                <a:srgbClr val="000000">
                  <a:alpha val="50000"/>
                </a:srgbClr>
              </a:outerShdw>
            </a:effectLst>
          </c:spPr>
          <c:invertIfNegative val="0"/>
          <c:cat>
            <c:strRef>
              <c:f>Sheet1!$B$1:$D$1</c:f>
              <c:strCache>
                <c:ptCount val="3"/>
                <c:pt idx="0">
                  <c:v>LPZ vs SCZ</c:v>
                </c:pt>
                <c:pt idx="1">
                  <c:v>Orien.vsOcc.</c:v>
                </c:pt>
                <c:pt idx="2">
                  <c:v>Auto-identificación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-0.55000000000000004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F6-F54F-983D-5F4333B10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B8B8B8"/>
            </a:solidFill>
            <a:prstDash val="solid"/>
            <a:miter lim="400000"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FFFFFF"/>
                </a:solidFill>
                <a:latin typeface="Futura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0"/>
          <c:min val="-5"/>
        </c:scaling>
        <c:delete val="0"/>
        <c:axPos val="t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high"/>
        <c:spPr>
          <a:ln w="12700" cap="flat">
            <a:solidFill>
              <a:srgbClr val="B8B8B8"/>
            </a:solidFill>
            <a:prstDash val="solid"/>
            <a:miter lim="400000"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FFFFFF"/>
                </a:solidFill>
                <a:latin typeface="Futura"/>
              </a:defRPr>
            </a:pPr>
            <a:endParaRPr lang="en-US"/>
          </a:p>
        </c:txPr>
        <c:crossAx val="2094734552"/>
        <c:crosses val="min"/>
        <c:crossBetween val="between"/>
        <c:majorUnit val="1"/>
        <c:minorUnit val="0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5910312174868198E-2"/>
          <c:y val="2.1039229219835205E-2"/>
          <c:w val="0.95211102684993332"/>
          <c:h val="0.7816174271845572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@ No pobres</c:v>
                </c:pt>
              </c:strCache>
            </c:strRef>
          </c:tx>
          <c:spPr>
            <a:gradFill flip="none" rotWithShape="1">
              <a:gsLst>
                <a:gs pos="0">
                  <a:srgbClr val="00B8FF">
                    <a:alpha val="75000"/>
                  </a:srgbClr>
                </a:gs>
                <a:gs pos="100000">
                  <a:srgbClr val="0062FF">
                    <a:alpha val="64999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algn="tl">
                <a:srgbClr val="000000">
                  <a:alpha val="50000"/>
                </a:srgbClr>
              </a:outerShdw>
            </a:effectLst>
          </c:spPr>
          <c:invertIfNegative val="0"/>
          <c:cat>
            <c:strRef>
              <c:f>Sheet1!$B$1:$C$1</c:f>
              <c:strCache>
                <c:ptCount val="2"/>
                <c:pt idx="0">
                  <c:v>Por auto-evaluación</c:v>
                </c:pt>
                <c:pt idx="1">
                  <c:v>Por activos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0</c:v>
                </c:pt>
                <c:pt idx="1">
                  <c:v>-0.46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04-D845-A90A-ECA40E42E63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@ Pobres</c:v>
                </c:pt>
              </c:strCache>
            </c:strRef>
          </c:tx>
          <c:spPr>
            <a:gradFill flip="none" rotWithShape="1">
              <a:gsLst>
                <a:gs pos="0">
                  <a:srgbClr val="65DA10">
                    <a:alpha val="75000"/>
                  </a:srgbClr>
                </a:gs>
                <a:gs pos="100000">
                  <a:srgbClr val="008D19">
                    <a:alpha val="64999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algn="tl">
                <a:srgbClr val="000000">
                  <a:alpha val="50000"/>
                </a:srgbClr>
              </a:outerShdw>
            </a:effectLst>
          </c:spPr>
          <c:invertIfNegative val="0"/>
          <c:cat>
            <c:strRef>
              <c:f>Sheet1!$B$1:$C$1</c:f>
              <c:strCache>
                <c:ptCount val="2"/>
                <c:pt idx="0">
                  <c:v>Por auto-evaluación</c:v>
                </c:pt>
                <c:pt idx="1">
                  <c:v>Por activos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0.74</c:v>
                </c:pt>
                <c:pt idx="1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04-D845-A90A-ECA40E42E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B8B8B8"/>
            </a:solidFill>
            <a:prstDash val="solid"/>
            <a:miter lim="400000"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FFFFFF"/>
                </a:solidFill>
                <a:latin typeface="Futura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2"/>
          <c:min val="-3"/>
        </c:scaling>
        <c:delete val="0"/>
        <c:axPos val="t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high"/>
        <c:spPr>
          <a:ln w="12700" cap="flat">
            <a:solidFill>
              <a:srgbClr val="B8B8B8"/>
            </a:solidFill>
            <a:prstDash val="solid"/>
            <a:miter lim="400000"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FFFFFF"/>
                </a:solidFill>
                <a:latin typeface="Futura"/>
              </a:defRPr>
            </a:pPr>
            <a:endParaRPr lang="en-US"/>
          </a:p>
        </c:txPr>
        <c:crossAx val="2094734552"/>
        <c:crosses val="min"/>
        <c:crossBetween val="between"/>
        <c:majorUnit val="1"/>
        <c:minorUnit val="0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5433810129758556E-2"/>
          <c:y val="1.6262287929195943E-2"/>
          <c:w val="0.95299172614410632"/>
          <c:h val="0.7863943684751966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@ Oposición</c:v>
                </c:pt>
              </c:strCache>
            </c:strRef>
          </c:tx>
          <c:spPr>
            <a:gradFill flip="none" rotWithShape="1">
              <a:gsLst>
                <a:gs pos="0">
                  <a:srgbClr val="00B8FF">
                    <a:alpha val="75000"/>
                  </a:srgbClr>
                </a:gs>
                <a:gs pos="100000">
                  <a:srgbClr val="0062FF">
                    <a:alpha val="64999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algn="tl">
                <a:srgbClr val="000000">
                  <a:alpha val="50000"/>
                </a:srgbClr>
              </a:outerShdw>
            </a:effectLst>
          </c:spPr>
          <c:invertIfNegative val="0"/>
          <c:cat>
            <c:strRef>
              <c:f>Sheet1!$B$1:$C$1</c:f>
              <c:strCache>
                <c:ptCount val="2"/>
                <c:pt idx="0">
                  <c:v>Voto 2020</c:v>
                </c:pt>
                <c:pt idx="1">
                  <c:v>Voto 2022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-0.9</c:v>
                </c:pt>
                <c:pt idx="1">
                  <c:v>-0.97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4A-9A47-9401-EB0A5130556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@ Incumbente</c:v>
                </c:pt>
              </c:strCache>
            </c:strRef>
          </c:tx>
          <c:spPr>
            <a:gradFill flip="none" rotWithShape="1">
              <a:gsLst>
                <a:gs pos="0">
                  <a:srgbClr val="65DA10">
                    <a:alpha val="75000"/>
                  </a:srgbClr>
                </a:gs>
                <a:gs pos="100000">
                  <a:srgbClr val="008D19">
                    <a:alpha val="64999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algn="tl">
                <a:srgbClr val="000000">
                  <a:alpha val="50000"/>
                </a:srgbClr>
              </a:outerShdw>
            </a:effectLst>
          </c:spPr>
          <c:invertIfNegative val="0"/>
          <c:cat>
            <c:strRef>
              <c:f>Sheet1!$B$1:$C$1</c:f>
              <c:strCache>
                <c:ptCount val="2"/>
                <c:pt idx="0">
                  <c:v>Voto 2020</c:v>
                </c:pt>
                <c:pt idx="1">
                  <c:v>Voto 2022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-1.73</c:v>
                </c:pt>
                <c:pt idx="1">
                  <c:v>-1.42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4A-9A47-9401-EB0A513055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B8B8B8"/>
            </a:solidFill>
            <a:prstDash val="solid"/>
            <a:miter lim="400000"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FFFFFF"/>
                </a:solidFill>
                <a:latin typeface="Futura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0"/>
          <c:min val="-5"/>
        </c:scaling>
        <c:delete val="0"/>
        <c:axPos val="t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high"/>
        <c:spPr>
          <a:ln w="12700" cap="flat">
            <a:solidFill>
              <a:srgbClr val="B8B8B8"/>
            </a:solidFill>
            <a:prstDash val="solid"/>
            <a:miter lim="400000"/>
          </a:ln>
        </c:spPr>
        <c:txPr>
          <a:bodyPr rot="0"/>
          <a:lstStyle/>
          <a:p>
            <a:pPr>
              <a:defRPr sz="2000" b="0" i="0" u="none" strike="noStrike">
                <a:solidFill>
                  <a:srgbClr val="FFFFFF"/>
                </a:solidFill>
                <a:latin typeface="Futura"/>
              </a:defRPr>
            </a:pPr>
            <a:endParaRPr lang="en-US"/>
          </a:p>
        </c:txPr>
        <c:crossAx val="2094734552"/>
        <c:crosses val="min"/>
        <c:crossBetween val="between"/>
        <c:majorUnit val="1"/>
        <c:minorUnit val="0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Futura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Futura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Futura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Futura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Futura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Futura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Futura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Futura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Futura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Shape 71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5" name="Shape 7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Preferencias por redistribuir/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Shape 73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33" name="Shape 73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279400" indent="-279400">
              <a:buSzPct val="75000"/>
              <a:buChar char="*"/>
            </a:pPr>
            <a:r>
              <a:t>El gobierno debe garantizar trabajos y vida de calidad para todos.</a:t>
            </a:r>
          </a:p>
          <a:p>
            <a:pPr marL="279400" indent="-279400">
              <a:buSzPct val="75000"/>
              <a:buChar char="*"/>
            </a:pPr>
            <a:r>
              <a:t>Vs. El gobierno debe dejar a cada persona garantizar su propio éxito.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473200" y="1790700"/>
            <a:ext cx="21437600" cy="4927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73200" y="6845300"/>
            <a:ext cx="21437600" cy="22098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  <a:defRPr sz="5800">
                <a:solidFill>
                  <a:srgbClr val="73BFFF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5800">
                <a:solidFill>
                  <a:srgbClr val="73BFFF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5800">
                <a:solidFill>
                  <a:srgbClr val="73BFFF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5800">
                <a:solidFill>
                  <a:srgbClr val="73BFFF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5800">
                <a:solidFill>
                  <a:srgbClr val="73B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artial view of a metal gear"/>
          <p:cNvSpPr>
            <a:spLocks noGrp="1"/>
          </p:cNvSpPr>
          <p:nvPr>
            <p:ph type="pic" idx="21"/>
          </p:nvPr>
        </p:nvSpPr>
        <p:spPr>
          <a:xfrm>
            <a:off x="1473200" y="-2692400"/>
            <a:ext cx="21437602" cy="16070758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473200" y="9575800"/>
            <a:ext cx="21437600" cy="17145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73200" y="11290300"/>
            <a:ext cx="21437600" cy="21971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  <a:defRPr sz="5800">
                <a:solidFill>
                  <a:srgbClr val="73BFFF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5800">
                <a:solidFill>
                  <a:srgbClr val="73BFFF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5800">
                <a:solidFill>
                  <a:srgbClr val="73BFFF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5800">
                <a:solidFill>
                  <a:srgbClr val="73BFFF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5800">
                <a:solidFill>
                  <a:srgbClr val="73B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473200" y="5143500"/>
            <a:ext cx="21437600" cy="3429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lose-up photo of bicycle gears"/>
          <p:cNvSpPr>
            <a:spLocks noGrp="1"/>
          </p:cNvSpPr>
          <p:nvPr>
            <p:ph type="pic" idx="21"/>
          </p:nvPr>
        </p:nvSpPr>
        <p:spPr>
          <a:xfrm>
            <a:off x="12925240" y="918941"/>
            <a:ext cx="11599695" cy="15473898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473200" y="1803400"/>
            <a:ext cx="9639300" cy="4927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73200" y="6718300"/>
            <a:ext cx="9639300" cy="50927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  <a:defRPr sz="5800">
                <a:solidFill>
                  <a:srgbClr val="73BFFF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5800">
                <a:solidFill>
                  <a:srgbClr val="73BFFF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5800">
                <a:solidFill>
                  <a:srgbClr val="73BFFF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5800">
                <a:solidFill>
                  <a:srgbClr val="73BFFF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5800">
                <a:solidFill>
                  <a:srgbClr val="73B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xfrm>
            <a:off x="1473200" y="3898900"/>
            <a:ext cx="21437600" cy="8039100"/>
          </a:xfrm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lose-up photo of bicycle gears"/>
          <p:cNvSpPr>
            <a:spLocks noGrp="1"/>
          </p:cNvSpPr>
          <p:nvPr>
            <p:ph type="pic" sz="half" idx="21"/>
          </p:nvPr>
        </p:nvSpPr>
        <p:spPr>
          <a:xfrm>
            <a:off x="13169900" y="2376299"/>
            <a:ext cx="9522179" cy="12702588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473200" y="3898900"/>
            <a:ext cx="10007600" cy="8039100"/>
          </a:xfrm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lose-up photo of the lower portion of a bicycle wheel"/>
          <p:cNvSpPr>
            <a:spLocks noGrp="1"/>
          </p:cNvSpPr>
          <p:nvPr>
            <p:ph type="pic" sz="quarter" idx="21"/>
          </p:nvPr>
        </p:nvSpPr>
        <p:spPr>
          <a:xfrm>
            <a:off x="15225183" y="6694487"/>
            <a:ext cx="8551334" cy="64135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Close-up photo of a bicycle chain on a gear"/>
          <p:cNvSpPr>
            <a:spLocks noGrp="1"/>
          </p:cNvSpPr>
          <p:nvPr>
            <p:ph type="pic" sz="quarter" idx="22"/>
          </p:nvPr>
        </p:nvSpPr>
        <p:spPr>
          <a:xfrm>
            <a:off x="15773400" y="914400"/>
            <a:ext cx="7476848" cy="560504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Close-up photo of bicycle gears"/>
          <p:cNvSpPr>
            <a:spLocks noGrp="1"/>
          </p:cNvSpPr>
          <p:nvPr>
            <p:ph type="pic" idx="23"/>
          </p:nvPr>
        </p:nvSpPr>
        <p:spPr>
          <a:xfrm>
            <a:off x="1077599" y="355600"/>
            <a:ext cx="14423165" cy="192405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79187" y="13109828"/>
            <a:ext cx="413538" cy="412244"/>
          </a:xfrm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66200"/>
            <a:ext cx="19621500" cy="623094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>
                <a:solidFill>
                  <a:srgbClr val="73BFFF"/>
                </a:solidFill>
                <a:effectLst>
                  <a:outerShdw blurRad="38100" dist="36285" dir="2700000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24295"/>
            <a:ext cx="19621500" cy="92088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>
                <a:effectLst>
                  <a:outerShdw blurRad="38100" dist="54428" dir="2700000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lose-up photo of a bicycle chain on a gear"/>
          <p:cNvSpPr>
            <a:spLocks noGrp="1"/>
          </p:cNvSpPr>
          <p:nvPr>
            <p:ph type="pic" idx="21"/>
          </p:nvPr>
        </p:nvSpPr>
        <p:spPr>
          <a:xfrm>
            <a:off x="-12700" y="-3924300"/>
            <a:ext cx="24384000" cy="1827953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473200" y="1930400"/>
            <a:ext cx="21437600" cy="985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>
              <a:buBlip>
                <a:blip r:embed="rId15"/>
              </a:buBlip>
            </a:lvl1pPr>
            <a:lvl2pPr>
              <a:buBlip>
                <a:blip r:embed="rId15"/>
              </a:buBlip>
            </a:lvl2pPr>
            <a:lvl3pPr>
              <a:buBlip>
                <a:blip r:embed="rId15"/>
              </a:buBlip>
            </a:lvl3pPr>
            <a:lvl4pPr>
              <a:buBlip>
                <a:blip r:embed="rId15"/>
              </a:buBlip>
            </a:lvl4pPr>
            <a:lvl5pPr>
              <a:buBlip>
                <a:blip r:embed="rId15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76902" y="13109828"/>
            <a:ext cx="413538" cy="41224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r">
              <a:defRPr sz="1800">
                <a:solidFill>
                  <a:srgbClr val="FFFFFF">
                    <a:alpha val="70000"/>
                  </a:srgbClr>
                </a:solidFill>
                <a:latin typeface="Futura Bold"/>
                <a:ea typeface="Futura Bold"/>
                <a:cs typeface="Futura Bold"/>
                <a:sym typeface="Futura Bold"/>
              </a:defRPr>
            </a:lvl1pPr>
          </a:lstStyle>
          <a:p>
            <a:pPr>
              <a:defRPr>
                <a:effectLst/>
              </a:defRPr>
            </a:pPr>
            <a:fld id="{86CB4B4D-7CA3-9044-876B-883B54F8677D}" type="slidenum">
              <a:t>‹#›</a:t>
            </a:fld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1473200" y="355600"/>
            <a:ext cx="21437600" cy="342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1pPr>
      <a:lvl2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2pPr>
      <a:lvl3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3pPr>
      <a:lvl4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4pPr>
      <a:lvl5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5pPr>
      <a:lvl6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6pPr>
      <a:lvl7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7pPr>
      <a:lvl8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8pPr>
      <a:lvl9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30000"/>
        <a:buFontTx/>
        <a:buBlip>
          <a:blip r:embed="rId15"/>
        </a:buBlip>
        <a:tabLst/>
        <a:defRPr sz="5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1pPr>
      <a:lvl2pPr marL="1270000" marR="0" indent="-635000" algn="l" defTabSz="8255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30000"/>
        <a:buFontTx/>
        <a:buBlip>
          <a:blip r:embed="rId15"/>
        </a:buBlip>
        <a:tabLst/>
        <a:defRPr sz="5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2pPr>
      <a:lvl3pPr marL="1905000" marR="0" indent="-635000" algn="l" defTabSz="8255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30000"/>
        <a:buFontTx/>
        <a:buBlip>
          <a:blip r:embed="rId15"/>
        </a:buBlip>
        <a:tabLst/>
        <a:defRPr sz="5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3pPr>
      <a:lvl4pPr marL="2540000" marR="0" indent="-635000" algn="l" defTabSz="8255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30000"/>
        <a:buFontTx/>
        <a:buBlip>
          <a:blip r:embed="rId15"/>
        </a:buBlip>
        <a:tabLst/>
        <a:defRPr sz="5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4pPr>
      <a:lvl5pPr marL="3175000" marR="0" indent="-635000" algn="l" defTabSz="8255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30000"/>
        <a:buFontTx/>
        <a:buBlip>
          <a:blip r:embed="rId15"/>
        </a:buBlip>
        <a:tabLst/>
        <a:defRPr sz="5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5pPr>
      <a:lvl6pPr marL="3810000" marR="0" indent="-635000" algn="l" defTabSz="8255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30000"/>
        <a:buFontTx/>
        <a:buBlip>
          <a:blip r:embed="rId15"/>
        </a:buBlip>
        <a:tabLst/>
        <a:defRPr sz="5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6pPr>
      <a:lvl7pPr marL="4445000" marR="0" indent="-635000" algn="l" defTabSz="8255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30000"/>
        <a:buFontTx/>
        <a:buBlip>
          <a:blip r:embed="rId15"/>
        </a:buBlip>
        <a:tabLst/>
        <a:defRPr sz="5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7pPr>
      <a:lvl8pPr marL="5080000" marR="0" indent="-635000" algn="l" defTabSz="8255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30000"/>
        <a:buFontTx/>
        <a:buBlip>
          <a:blip r:embed="rId15"/>
        </a:buBlip>
        <a:tabLst/>
        <a:defRPr sz="5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8pPr>
      <a:lvl9pPr marL="5715000" marR="0" indent="-635000" algn="l" defTabSz="825500" rtl="0" latinLnBrk="0">
        <a:lnSpc>
          <a:spcPct val="100000"/>
        </a:lnSpc>
        <a:spcBef>
          <a:spcPts val="5100"/>
        </a:spcBef>
        <a:spcAft>
          <a:spcPts val="0"/>
        </a:spcAft>
        <a:buClrTx/>
        <a:buSzPct val="30000"/>
        <a:buFontTx/>
        <a:buBlip>
          <a:blip r:embed="rId15"/>
        </a:buBlip>
        <a:tabLst/>
        <a:defRPr sz="5000" b="0" i="0" u="none" strike="noStrike" cap="none" spc="0" baseline="0">
          <a:solidFill>
            <a:srgbClr val="FFFFFF"/>
          </a:solidFill>
          <a:effectLst>
            <a:outerShdw blurRad="50800" dist="38100" dir="5400000" rotWithShape="0">
              <a:srgbClr val="000000"/>
            </a:outerShdw>
          </a:effectLst>
          <a:uFillTx/>
          <a:latin typeface="+mn-lt"/>
          <a:ea typeface="+mn-ea"/>
          <a:cs typeface="+mn-cs"/>
          <a:sym typeface="Futura"/>
        </a:defRPr>
      </a:lvl9pPr>
    </p:bodyStyle>
    <p:otherStyle>
      <a:lvl1pPr marL="0" marR="0" indent="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utura Bold"/>
        </a:defRPr>
      </a:lvl1pPr>
      <a:lvl2pPr marL="0" marR="0" indent="2286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utura Bold"/>
        </a:defRPr>
      </a:lvl2pPr>
      <a:lvl3pPr marL="0" marR="0" indent="4572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utura Bold"/>
        </a:defRPr>
      </a:lvl3pPr>
      <a:lvl4pPr marL="0" marR="0" indent="6858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utura Bold"/>
        </a:defRPr>
      </a:lvl4pPr>
      <a:lvl5pPr marL="0" marR="0" indent="9144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utura Bold"/>
        </a:defRPr>
      </a:lvl5pPr>
      <a:lvl6pPr marL="0" marR="0" indent="11430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utura Bold"/>
        </a:defRPr>
      </a:lvl6pPr>
      <a:lvl7pPr marL="0" marR="0" indent="13716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utura Bold"/>
        </a:defRPr>
      </a:lvl7pPr>
      <a:lvl8pPr marL="0" marR="0" indent="16002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utura Bold"/>
        </a:defRPr>
      </a:lvl8pPr>
      <a:lvl9pPr marL="0" marR="0" indent="18288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utura 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tif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tif"/><Relationship Id="rId12" Type="http://schemas.openxmlformats.org/officeDocument/2006/relationships/image" Target="../media/image16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tif"/><Relationship Id="rId11" Type="http://schemas.openxmlformats.org/officeDocument/2006/relationships/image" Target="../media/image15.jpeg"/><Relationship Id="rId5" Type="http://schemas.openxmlformats.org/officeDocument/2006/relationships/image" Target="../media/image9.tif"/><Relationship Id="rId10" Type="http://schemas.openxmlformats.org/officeDocument/2006/relationships/image" Target="../media/image14.jpeg"/><Relationship Id="rId4" Type="http://schemas.openxmlformats.org/officeDocument/2006/relationships/image" Target="../media/image8.tif"/><Relationship Id="rId9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"/><Relationship Id="rId2" Type="http://schemas.openxmlformats.org/officeDocument/2006/relationships/image" Target="../media/image26.t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t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"/><Relationship Id="rId2" Type="http://schemas.openxmlformats.org/officeDocument/2006/relationships/image" Target="../media/image30.t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t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if"/><Relationship Id="rId2" Type="http://schemas.openxmlformats.org/officeDocument/2006/relationships/image" Target="../media/image34.tif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tif"/><Relationship Id="rId2" Type="http://schemas.openxmlformats.org/officeDocument/2006/relationships/image" Target="../media/image37.tif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if"/><Relationship Id="rId2" Type="http://schemas.openxmlformats.org/officeDocument/2006/relationships/image" Target="../media/image40.t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2.ti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tif"/><Relationship Id="rId2" Type="http://schemas.openxmlformats.org/officeDocument/2006/relationships/image" Target="../media/image44.t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ti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tif"/><Relationship Id="rId2" Type="http://schemas.openxmlformats.org/officeDocument/2006/relationships/image" Target="../media/image48.tif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tif"/><Relationship Id="rId2" Type="http://schemas.openxmlformats.org/officeDocument/2006/relationships/image" Target="../media/image51.tif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t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55.ti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tif"/><Relationship Id="rId2" Type="http://schemas.openxmlformats.org/officeDocument/2006/relationships/image" Target="../media/image56.ti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58.ti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tif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1.png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Screenshot 2022-10-25 at 11.32.16 PM.png"/>
          <p:cNvGrpSpPr/>
          <p:nvPr/>
        </p:nvGrpSpPr>
        <p:grpSpPr>
          <a:xfrm>
            <a:off x="523429" y="-341818"/>
            <a:ext cx="21890188" cy="14552036"/>
            <a:chOff x="0" y="0"/>
            <a:chExt cx="21890187" cy="14552035"/>
          </a:xfrm>
        </p:grpSpPr>
        <p:pic>
          <p:nvPicPr>
            <p:cNvPr id="120" name="Screenshot 2022-10-25 at 11.32.16 PM.png" descr="Screenshot 2022-10-25 at 11.32.16 PM.png"/>
            <p:cNvPicPr>
              <a:picLocks noChangeAspect="1"/>
            </p:cNvPicPr>
            <p:nvPr/>
          </p:nvPicPr>
          <p:blipFill>
            <a:blip r:embed="rId2">
              <a:alphaModFix amt="30897"/>
            </a:blip>
            <a:stretch>
              <a:fillRect/>
            </a:stretch>
          </p:blipFill>
          <p:spPr>
            <a:xfrm>
              <a:off x="127000" y="88900"/>
              <a:ext cx="21636188" cy="14221836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19" name="Screenshot 2022-10-25 at 11.32.16 PM.png" descr="Screenshot 2022-10-25 at 11.32.16 PM.png"/>
            <p:cNvPicPr>
              <a:picLocks/>
            </p:cNvPicPr>
            <p:nvPr/>
          </p:nvPicPr>
          <p:blipFill>
            <a:blip r:embed="rId3">
              <a:alphaModFix amt="21092"/>
            </a:blip>
            <a:stretch>
              <a:fillRect/>
            </a:stretch>
          </p:blipFill>
          <p:spPr>
            <a:xfrm>
              <a:off x="0" y="0"/>
              <a:ext cx="21890188" cy="14552036"/>
            </a:xfrm>
            <a:prstGeom prst="rect">
              <a:avLst/>
            </a:prstGeom>
            <a:effectLst/>
          </p:spPr>
        </p:pic>
      </p:grpSp>
      <p:sp>
        <p:nvSpPr>
          <p:cNvPr id="122" name="¿Qué Divide a los Bolivianos?"/>
          <p:cNvSpPr txBox="1">
            <a:spLocks noGrp="1"/>
          </p:cNvSpPr>
          <p:nvPr>
            <p:ph type="ctrTitle"/>
          </p:nvPr>
        </p:nvSpPr>
        <p:spPr>
          <a:xfrm>
            <a:off x="1473200" y="4844937"/>
            <a:ext cx="19089299" cy="1873364"/>
          </a:xfrm>
          <a:prstGeom prst="rect">
            <a:avLst/>
          </a:prstGeom>
          <a:blipFill>
            <a:blip r:embed="rId4"/>
          </a:blipFill>
        </p:spPr>
        <p:txBody>
          <a:bodyPr/>
          <a:lstStyle>
            <a:lvl1pPr algn="ctr">
              <a:defRPr sz="7000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¿Qué Divide a los Bolivianos?</a:t>
            </a:r>
          </a:p>
        </p:txBody>
      </p:sp>
      <p:sp>
        <p:nvSpPr>
          <p:cNvPr id="123" name="Efectos de las Identidades Sociales sobre el Afecto y la Confianza"/>
          <p:cNvSpPr txBox="1">
            <a:spLocks noGrp="1"/>
          </p:cNvSpPr>
          <p:nvPr>
            <p:ph type="subTitle" sz="quarter" idx="1"/>
          </p:nvPr>
        </p:nvSpPr>
        <p:spPr>
          <a:xfrm>
            <a:off x="2045638" y="6868997"/>
            <a:ext cx="17944422" cy="1249444"/>
          </a:xfrm>
          <a:prstGeom prst="rect">
            <a:avLst/>
          </a:prstGeom>
          <a:solidFill>
            <a:srgbClr val="94908F">
              <a:alpha val="64999"/>
            </a:srgbClr>
          </a:solidFill>
          <a:effectLst>
            <a:outerShdw blurRad="101600" dist="38100" dir="5400000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algn="ctr" defTabSz="767715">
              <a:defRPr sz="4650">
                <a:solidFill>
                  <a:srgbClr val="FFFFFF"/>
                </a:solidFill>
                <a:effectLst>
                  <a:outerShdw blurRad="47244" dist="35433" dir="5400000" rotWithShape="0">
                    <a:srgbClr val="000000"/>
                  </a:outerShdw>
                </a:effectLst>
              </a:defRPr>
            </a:lvl1pPr>
          </a:lstStyle>
          <a:p>
            <a:r>
              <a:t>Efectos de las Identidades Sociales sobre el Afecto y la Confianza</a:t>
            </a:r>
          </a:p>
        </p:txBody>
      </p:sp>
      <p:sp>
        <p:nvSpPr>
          <p:cNvPr id="124" name="Werner L. Hernani-Limarino(*)…"/>
          <p:cNvSpPr txBox="1"/>
          <p:nvPr/>
        </p:nvSpPr>
        <p:spPr>
          <a:xfrm>
            <a:off x="11655295" y="8787941"/>
            <a:ext cx="8393982" cy="1759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5000"/>
            </a:pPr>
            <a:r>
              <a:t>Werner L. Hernani-Limarino</a:t>
            </a:r>
            <a:r>
              <a:rPr sz="2000"/>
              <a:t>(*)</a:t>
            </a:r>
          </a:p>
          <a:p>
            <a:pPr algn="l">
              <a:defRPr sz="5000"/>
            </a:pPr>
            <a:r>
              <a:t>Pavel Ojeda</a:t>
            </a:r>
            <a:r>
              <a:rPr sz="2000"/>
              <a:t>(**)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820691" y="13109828"/>
            <a:ext cx="269749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1</a:t>
            </a:fld>
            <a:endParaRPr/>
          </a:p>
        </p:txBody>
      </p:sp>
      <p:sp>
        <p:nvSpPr>
          <p:cNvPr id="126" name="Esta investigación fue financiada por la Red de Centros de Investigación del Banco Inter-Americano de Desarrollo (BID) en el marco del proyecto “Increasing Trust in Latin America and the Caribbean”. Las opiniones no necesariamente coinciden con la de los"/>
          <p:cNvSpPr txBox="1"/>
          <p:nvPr/>
        </p:nvSpPr>
        <p:spPr>
          <a:xfrm>
            <a:off x="2443831" y="11216529"/>
            <a:ext cx="18499761" cy="220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500"/>
            </a:pPr>
            <a:r>
              <a:t>Esta investigación fue financiada por la Red de Centros de Investigación del Banco Inter-Americano de Desarrollo (BID) en el marco del proyecto “</a:t>
            </a:r>
            <a:r>
              <a:rPr i="1"/>
              <a:t>Increasing Trust in Latin America and the Caribbean</a:t>
            </a:r>
            <a:r>
              <a:t>”. Las opiniones no necesariamente coinciden con la de los financiadores o las instituciones con las que los autores están afiliados. </a:t>
            </a:r>
            <a:endParaRPr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>
              <a:defRPr sz="2500"/>
            </a:pPr>
            <a:r>
              <a:t> *WB,RIDGE,ABCE</a:t>
            </a:r>
          </a:p>
          <a:p>
            <a:pPr algn="l">
              <a:defRPr sz="2500"/>
            </a:pPr>
            <a:r>
              <a:t>** ARU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c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6000" fill="hold"/>
                                        <p:tgtEl>
                                          <p:spTgt spid="12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1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¿Qué divide a los Bolivianos?"/>
          <p:cNvSpPr txBox="1"/>
          <p:nvPr/>
        </p:nvSpPr>
        <p:spPr>
          <a:xfrm>
            <a:off x="7290119" y="1684648"/>
            <a:ext cx="9992222" cy="1057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¿Qué divide a los Bolivianos?</a:t>
            </a:r>
          </a:p>
        </p:txBody>
      </p:sp>
      <p:sp>
        <p:nvSpPr>
          <p:cNvPr id="129" name="#1 Indígenas vs. No indígenas"/>
          <p:cNvSpPr txBox="1"/>
          <p:nvPr/>
        </p:nvSpPr>
        <p:spPr>
          <a:xfrm>
            <a:off x="3661002" y="4588080"/>
            <a:ext cx="4012367" cy="1032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#1 Indígenas vs. No indígenas</a:t>
            </a:r>
          </a:p>
        </p:txBody>
      </p:sp>
      <p:sp>
        <p:nvSpPr>
          <p:cNvPr id="130" name="#2 Pobres vs. No pobres"/>
          <p:cNvSpPr txBox="1"/>
          <p:nvPr/>
        </p:nvSpPr>
        <p:spPr>
          <a:xfrm>
            <a:off x="10320086" y="3912514"/>
            <a:ext cx="3809475" cy="1032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#2 Pobres vs. No pobres</a:t>
            </a:r>
          </a:p>
        </p:txBody>
      </p:sp>
      <p:sp>
        <p:nvSpPr>
          <p:cNvPr id="131" name="#4 “Masistas” vs. “Pititas”"/>
          <p:cNvSpPr txBox="1"/>
          <p:nvPr/>
        </p:nvSpPr>
        <p:spPr>
          <a:xfrm>
            <a:off x="9913734" y="8979326"/>
            <a:ext cx="4556532" cy="1032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#4 “Masistas” vs. “Pititas”</a:t>
            </a:r>
          </a:p>
        </p:txBody>
      </p:sp>
      <p:sp>
        <p:nvSpPr>
          <p:cNvPr id="132" name="#3 Oriente vs. Occidente"/>
          <p:cNvSpPr txBox="1"/>
          <p:nvPr/>
        </p:nvSpPr>
        <p:spPr>
          <a:xfrm>
            <a:off x="18310043" y="4477911"/>
            <a:ext cx="5373663" cy="1032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#3 Oriente vs. Occidente</a:t>
            </a:r>
          </a:p>
        </p:txBody>
      </p:sp>
      <p:sp>
        <p:nvSpPr>
          <p:cNvPr id="1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820691" y="13109828"/>
            <a:ext cx="269749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2</a:t>
            </a:fld>
            <a:endParaRPr/>
          </a:p>
        </p:txBody>
      </p:sp>
      <p:pic>
        <p:nvPicPr>
          <p:cNvPr id="134" name="Screenshot 2022-10-31 at 9.02.58 PM.png" descr="Screenshot 2022-10-31 at 9.02.58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7340" y="5853115"/>
            <a:ext cx="3441701" cy="394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Screenshot 2022-10-31 at 9.04.59 PM.png" descr="Screenshot 2022-10-31 at 9.04.59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6893" y="7483841"/>
            <a:ext cx="3455221" cy="26169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900000">
            <a:off x="7445872" y="10549554"/>
            <a:ext cx="3962401" cy="2222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900000">
            <a:off x="11872051" y="10422309"/>
            <a:ext cx="4423197" cy="247699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900000">
            <a:off x="9432962" y="11112944"/>
            <a:ext cx="3822701" cy="2120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4368" y="5489599"/>
            <a:ext cx="3104095" cy="218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77339" y="5489599"/>
            <a:ext cx="2899279" cy="23194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_Carola_Tito.jpg" descr="_Carola_Tito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7236" y="6181189"/>
            <a:ext cx="1350663" cy="1796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_julian.jpg" descr="_julian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4795" y="7794031"/>
            <a:ext cx="1295544" cy="17230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_laura_uzquiano.jpg" descr="_laura_uzquiano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2771" y="6181045"/>
            <a:ext cx="1350664" cy="17963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" name="_gary_mena.jpg" descr="_gary_mena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90331" y="7794168"/>
            <a:ext cx="1295544" cy="1722797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Grietas étnicas"/>
          <p:cNvSpPr txBox="1"/>
          <p:nvPr/>
        </p:nvSpPr>
        <p:spPr>
          <a:xfrm rot="16200000">
            <a:off x="730545" y="6618792"/>
            <a:ext cx="4402722" cy="920888"/>
          </a:xfrm>
          <a:prstGeom prst="rect">
            <a:avLst/>
          </a:prstGeom>
          <a:blipFill>
            <a:blip r:embed="rId13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r>
              <a:t>Grietas étnicas</a:t>
            </a:r>
          </a:p>
        </p:txBody>
      </p:sp>
      <p:sp>
        <p:nvSpPr>
          <p:cNvPr id="146" name="Grietas económicas"/>
          <p:cNvSpPr txBox="1"/>
          <p:nvPr/>
        </p:nvSpPr>
        <p:spPr>
          <a:xfrm rot="16200000">
            <a:off x="5672947" y="6397556"/>
            <a:ext cx="5791784" cy="920888"/>
          </a:xfrm>
          <a:prstGeom prst="rect">
            <a:avLst/>
          </a:prstGeom>
          <a:blipFill>
            <a:blip r:embed="rId13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r>
              <a:t>Grietas económicas</a:t>
            </a:r>
          </a:p>
        </p:txBody>
      </p:sp>
      <p:sp>
        <p:nvSpPr>
          <p:cNvPr id="147" name="Grietas regionales"/>
          <p:cNvSpPr txBox="1"/>
          <p:nvPr/>
        </p:nvSpPr>
        <p:spPr>
          <a:xfrm rot="16200000">
            <a:off x="13880684" y="6618792"/>
            <a:ext cx="5425295" cy="920888"/>
          </a:xfrm>
          <a:prstGeom prst="rect">
            <a:avLst/>
          </a:prstGeom>
          <a:blipFill>
            <a:blip r:embed="rId13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r>
              <a:t>Grietas regionales</a:t>
            </a:r>
          </a:p>
        </p:txBody>
      </p:sp>
      <p:sp>
        <p:nvSpPr>
          <p:cNvPr id="148" name="Grietas políticas"/>
          <p:cNvSpPr txBox="1"/>
          <p:nvPr/>
        </p:nvSpPr>
        <p:spPr>
          <a:xfrm>
            <a:off x="11695478" y="12855506"/>
            <a:ext cx="4776342" cy="920888"/>
          </a:xfrm>
          <a:prstGeom prst="rect">
            <a:avLst/>
          </a:prstGeom>
          <a:blipFill>
            <a:blip r:embed="rId13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r>
              <a:t>Grietas políticas</a:t>
            </a:r>
          </a:p>
        </p:txBody>
      </p:sp>
    </p:spTree>
  </p:cSld>
  <p:clrMapOvr>
    <a:masterClrMapping/>
  </p:clrMapOvr>
  <p:transition spd="med" advClick="0" advTm="0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"/>
                            </p:stCondLst>
                            <p:childTnLst>
                              <p:par>
                                <p:cTn id="14" presetID="3" presetClass="entr" presetSubtype="1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00"/>
                            </p:stCondLst>
                            <p:childTnLst>
                              <p:par>
                                <p:cTn id="18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300"/>
                            </p:stCondLst>
                            <p:childTnLst>
                              <p:par>
                                <p:cTn id="22" presetID="9" presetClass="entr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400"/>
                            </p:stCondLst>
                            <p:childTnLst>
                              <p:par>
                                <p:cTn id="26" presetID="9" presetClass="entr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9" presetClass="entr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"/>
                            </p:stCondLst>
                            <p:childTnLst>
                              <p:par>
                                <p:cTn id="40" presetID="3" presetClass="entr" presetSubtype="5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44" presetID="9" presetClass="entr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2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400"/>
                            </p:stCondLst>
                            <p:childTnLst>
                              <p:par>
                                <p:cTn id="48" presetID="9" presetClass="entr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2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"/>
                            </p:stCondLst>
                            <p:childTnLst>
                              <p:par>
                                <p:cTn id="58" presetID="3" presetClass="entr" presetSubtype="5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0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00"/>
                            </p:stCondLst>
                            <p:childTnLst>
                              <p:par>
                                <p:cTn id="62" presetID="9" presetClass="entr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2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400"/>
                            </p:stCondLst>
                            <p:childTnLst>
                              <p:par>
                                <p:cTn id="66" presetID="9" presetClass="entr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2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1" fill="hold" grpId="1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"/>
                            </p:stCondLst>
                            <p:childTnLst>
                              <p:par>
                                <p:cTn id="76" presetID="3" presetClass="entr" presetSubtype="5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8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200"/>
                            </p:stCondLst>
                            <p:childTnLst>
                              <p:par>
                                <p:cTn id="80" presetID="9" presetClass="entr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2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400"/>
                            </p:stCondLst>
                            <p:childTnLst>
                              <p:par>
                                <p:cTn id="84" presetID="9" presetClass="entr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2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600"/>
                            </p:stCondLst>
                            <p:childTnLst>
                              <p:par>
                                <p:cTn id="88" presetID="9" presetClass="entr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2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5" presetClass="emph" presetSubtype="0" repeatCount="400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4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1" animBg="1" advAuto="0"/>
      <p:bldP spid="128" grpId="21" animBg="1" advAuto="0"/>
      <p:bldP spid="129" grpId="3" animBg="1" advAuto="0"/>
      <p:bldP spid="130" grpId="9" animBg="1" advAuto="0"/>
      <p:bldP spid="131" grpId="17" animBg="1" advAuto="0"/>
      <p:bldP spid="132" grpId="13" animBg="1" advAuto="0"/>
      <p:bldP spid="134" grpId="14" animBg="1" advAuto="0"/>
      <p:bldP spid="135" grpId="15" animBg="1" advAuto="0"/>
      <p:bldP spid="136" grpId="19" animBg="1" advAuto="0"/>
      <p:bldP spid="137" grpId="18" animBg="1" advAuto="0"/>
      <p:bldP spid="138" grpId="20" animBg="1" advAuto="0"/>
      <p:bldP spid="139" grpId="10" animBg="1" advAuto="0"/>
      <p:bldP spid="140" grpId="11" animBg="1" advAuto="0"/>
      <p:bldP spid="141" grpId="5" animBg="1" advAuto="0"/>
      <p:bldP spid="142" grpId="6" animBg="1" advAuto="0"/>
      <p:bldP spid="143" grpId="4" animBg="1" advAuto="0"/>
      <p:bldP spid="144" grpId="7" animBg="1" advAuto="0"/>
      <p:bldP spid="145" grpId="2" animBg="1" advAuto="0"/>
      <p:bldP spid="146" grpId="8" animBg="1" advAuto="0"/>
      <p:bldP spid="147" grpId="12" animBg="1" advAuto="0"/>
      <p:bldP spid="148" grpId="16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ontenido"/>
          <p:cNvSpPr txBox="1"/>
          <p:nvPr/>
        </p:nvSpPr>
        <p:spPr>
          <a:xfrm>
            <a:off x="10504112" y="1684648"/>
            <a:ext cx="3564236" cy="1057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Contenido</a:t>
            </a:r>
          </a:p>
        </p:txBody>
      </p:sp>
      <p:sp>
        <p:nvSpPr>
          <p:cNvPr id="151" name="#1 Marco Conceptual"/>
          <p:cNvSpPr txBox="1"/>
          <p:nvPr/>
        </p:nvSpPr>
        <p:spPr>
          <a:xfrm>
            <a:off x="3661002" y="4588080"/>
            <a:ext cx="3455221" cy="1032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#1 Marco Conceptual</a:t>
            </a:r>
          </a:p>
        </p:txBody>
      </p:sp>
      <p:sp>
        <p:nvSpPr>
          <p:cNvPr id="152" name="#2 Objetivos"/>
          <p:cNvSpPr txBox="1"/>
          <p:nvPr/>
        </p:nvSpPr>
        <p:spPr>
          <a:xfrm>
            <a:off x="10007964" y="4823030"/>
            <a:ext cx="4556532" cy="56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#2 Objetivos</a:t>
            </a:r>
          </a:p>
        </p:txBody>
      </p:sp>
      <p:sp>
        <p:nvSpPr>
          <p:cNvPr id="153" name="#4 Resultados"/>
          <p:cNvSpPr txBox="1"/>
          <p:nvPr/>
        </p:nvSpPr>
        <p:spPr>
          <a:xfrm>
            <a:off x="6183228" y="9152878"/>
            <a:ext cx="4556533" cy="56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#4 Resultados</a:t>
            </a:r>
          </a:p>
        </p:txBody>
      </p:sp>
      <p:sp>
        <p:nvSpPr>
          <p:cNvPr id="154" name="#5 Conclusiones"/>
          <p:cNvSpPr txBox="1"/>
          <p:nvPr/>
        </p:nvSpPr>
        <p:spPr>
          <a:xfrm>
            <a:off x="13608840" y="9152878"/>
            <a:ext cx="4556533" cy="56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#5 Conclusiones</a:t>
            </a:r>
          </a:p>
        </p:txBody>
      </p:sp>
      <p:sp>
        <p:nvSpPr>
          <p:cNvPr id="155" name="#3 Mediciones"/>
          <p:cNvSpPr txBox="1"/>
          <p:nvPr/>
        </p:nvSpPr>
        <p:spPr>
          <a:xfrm>
            <a:off x="17456236" y="4823030"/>
            <a:ext cx="4556533" cy="56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#3 Mediciones</a:t>
            </a:r>
          </a:p>
        </p:txBody>
      </p:sp>
      <p:sp>
        <p:nvSpPr>
          <p:cNvPr id="156" name="Auto-declaraddas [Observacionales]…"/>
          <p:cNvSpPr txBox="1"/>
          <p:nvPr/>
        </p:nvSpPr>
        <p:spPr>
          <a:xfrm>
            <a:off x="18609891" y="5562768"/>
            <a:ext cx="4273303" cy="742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42900" indent="-342900" algn="l">
              <a:buSzPct val="100000"/>
              <a:buAutoNum type="alphaUcPeriod"/>
              <a:defRPr sz="1800"/>
            </a:pPr>
            <a:r>
              <a:t>Auto-declaraddas </a:t>
            </a:r>
            <a:r>
              <a:rPr>
                <a:solidFill>
                  <a:schemeClr val="accent5"/>
                </a:solidFill>
              </a:rPr>
              <a:t>[Observacionales</a:t>
            </a:r>
            <a:r>
              <a:t>]</a:t>
            </a:r>
          </a:p>
          <a:p>
            <a:pPr marL="342900" indent="-342900" algn="l">
              <a:buSzPct val="100000"/>
              <a:buAutoNum type="alphaUcPeriod"/>
              <a:defRPr sz="1800"/>
            </a:pPr>
            <a:r>
              <a:t>Conductuales [</a:t>
            </a:r>
            <a:r>
              <a:rPr sz="1900">
                <a:solidFill>
                  <a:schemeClr val="accent5"/>
                </a:solidFill>
              </a:rPr>
              <a:t>Experimentales</a:t>
            </a:r>
            <a:r>
              <a:t>]</a:t>
            </a:r>
          </a:p>
        </p:txBody>
      </p:sp>
      <p:sp>
        <p:nvSpPr>
          <p:cNvPr id="157" name="Grietas de afecto [Observacionales]…"/>
          <p:cNvSpPr txBox="1"/>
          <p:nvPr/>
        </p:nvSpPr>
        <p:spPr>
          <a:xfrm>
            <a:off x="7078069" y="9790091"/>
            <a:ext cx="4538037" cy="107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42900" indent="-342900" algn="l">
              <a:buSzPct val="100000"/>
              <a:buAutoNum type="alphaUcPeriod"/>
              <a:defRPr sz="1800"/>
            </a:pPr>
            <a:r>
              <a:t>Grietas de afecto </a:t>
            </a:r>
            <a:r>
              <a:rPr>
                <a:solidFill>
                  <a:schemeClr val="accent5"/>
                </a:solidFill>
              </a:rPr>
              <a:t>[Observacionales</a:t>
            </a:r>
            <a:r>
              <a:t>]</a:t>
            </a:r>
          </a:p>
          <a:p>
            <a:pPr marL="342900" indent="-342900" algn="l">
              <a:buSzPct val="100000"/>
              <a:buAutoNum type="alphaUcPeriod"/>
              <a:defRPr sz="1800"/>
            </a:pPr>
            <a:r>
              <a:t>Grietas de confianza [</a:t>
            </a:r>
            <a:r>
              <a:rPr sz="1900">
                <a:solidFill>
                  <a:schemeClr val="accent5"/>
                </a:solidFill>
              </a:rPr>
              <a:t>Experimentales</a:t>
            </a:r>
            <a:r>
              <a:t>]</a:t>
            </a:r>
          </a:p>
          <a:p>
            <a:pPr marL="342900" indent="-342900" algn="l">
              <a:buSzPct val="100000"/>
              <a:buAutoNum type="alphaUcPeriod"/>
              <a:defRPr sz="1800"/>
            </a:pPr>
            <a:r>
              <a:t>Grietas ideológicas [</a:t>
            </a:r>
            <a:r>
              <a:rPr sz="1900">
                <a:solidFill>
                  <a:schemeClr val="accent5"/>
                </a:solidFill>
              </a:rPr>
              <a:t>Experimentales</a:t>
            </a:r>
            <a:r>
              <a:t>]</a:t>
            </a:r>
          </a:p>
        </p:txBody>
      </p:sp>
      <p:sp>
        <p:nvSpPr>
          <p:cNvPr id="1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820691" y="13109828"/>
            <a:ext cx="269749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#1 Marco Conceptua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#1 Marco Conceptual</a:t>
            </a:r>
          </a:p>
        </p:txBody>
      </p:sp>
      <p:sp>
        <p:nvSpPr>
          <p:cNvPr id="1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820691" y="13109828"/>
            <a:ext cx="269749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4</a:t>
            </a:fld>
            <a:endParaRPr/>
          </a:p>
        </p:txBody>
      </p:sp>
      <p:grpSp>
        <p:nvGrpSpPr>
          <p:cNvPr id="164" name="Screenshot 2022-10-25 at 11.32.16 PM.png"/>
          <p:cNvGrpSpPr/>
          <p:nvPr/>
        </p:nvGrpSpPr>
        <p:grpSpPr>
          <a:xfrm>
            <a:off x="523429" y="-341818"/>
            <a:ext cx="21890188" cy="14552036"/>
            <a:chOff x="0" y="0"/>
            <a:chExt cx="21890187" cy="14552035"/>
          </a:xfrm>
        </p:grpSpPr>
        <p:pic>
          <p:nvPicPr>
            <p:cNvPr id="163" name="Screenshot 2022-10-25 at 11.32.16 PM.png" descr="Screenshot 2022-10-25 at 11.32.16 PM.png"/>
            <p:cNvPicPr>
              <a:picLocks noChangeAspect="1"/>
            </p:cNvPicPr>
            <p:nvPr/>
          </p:nvPicPr>
          <p:blipFill>
            <a:blip r:embed="rId2">
              <a:alphaModFix amt="19698"/>
            </a:blip>
            <a:stretch>
              <a:fillRect/>
            </a:stretch>
          </p:blipFill>
          <p:spPr>
            <a:xfrm>
              <a:off x="127000" y="88900"/>
              <a:ext cx="21636188" cy="14221836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62" name="Screenshot 2022-10-25 at 11.32.16 PM.png" descr="Screenshot 2022-10-25 at 11.32.16 PM.png"/>
            <p:cNvPicPr>
              <a:picLocks/>
            </p:cNvPicPr>
            <p:nvPr/>
          </p:nvPicPr>
          <p:blipFill>
            <a:blip r:embed="rId3">
              <a:alphaModFix amt="21092"/>
            </a:blip>
            <a:stretch>
              <a:fillRect/>
            </a:stretch>
          </p:blipFill>
          <p:spPr>
            <a:xfrm>
              <a:off x="0" y="0"/>
              <a:ext cx="21890188" cy="14552036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Marco Conceptual"/>
          <p:cNvSpPr txBox="1">
            <a:spLocks noGrp="1"/>
          </p:cNvSpPr>
          <p:nvPr>
            <p:ph type="title"/>
          </p:nvPr>
        </p:nvSpPr>
        <p:spPr>
          <a:xfrm>
            <a:off x="9729200" y="948019"/>
            <a:ext cx="4925601" cy="1212251"/>
          </a:xfrm>
          <a:prstGeom prst="rect">
            <a:avLst/>
          </a:prstGeom>
        </p:spPr>
        <p:txBody>
          <a:bodyPr/>
          <a:lstStyle>
            <a:lvl1pPr>
              <a:defRPr sz="3600" u="sng"/>
            </a:lvl1pPr>
          </a:lstStyle>
          <a:p>
            <a:r>
              <a:t>Marco Conceptual</a:t>
            </a:r>
          </a:p>
        </p:txBody>
      </p:sp>
      <p:sp>
        <p:nvSpPr>
          <p:cNvPr id="167" name="Trapezoid"/>
          <p:cNvSpPr/>
          <p:nvPr/>
        </p:nvSpPr>
        <p:spPr>
          <a:xfrm>
            <a:off x="1762851" y="9635873"/>
            <a:ext cx="6635090" cy="28199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972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8627" y="0"/>
                </a:lnTo>
                <a:lnTo>
                  <a:pt x="2972" y="0"/>
                </a:ln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168" name="Trapezoid"/>
          <p:cNvSpPr/>
          <p:nvPr/>
        </p:nvSpPr>
        <p:spPr>
          <a:xfrm>
            <a:off x="2751880" y="7307997"/>
            <a:ext cx="4657031" cy="19792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972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8627" y="0"/>
                </a:lnTo>
                <a:lnTo>
                  <a:pt x="2972" y="0"/>
                </a:lnTo>
                <a:close/>
              </a:path>
            </a:pathLst>
          </a:custGeom>
          <a:blipFill>
            <a:blip r:embed="rId3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169" name="Trapezoid"/>
          <p:cNvSpPr/>
          <p:nvPr/>
        </p:nvSpPr>
        <p:spPr>
          <a:xfrm>
            <a:off x="3504290" y="5619669"/>
            <a:ext cx="3152211" cy="1339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972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8627" y="0"/>
                </a:lnTo>
                <a:lnTo>
                  <a:pt x="2972" y="0"/>
                </a:lnTo>
                <a:close/>
              </a:path>
            </a:pathLst>
          </a:cu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170" name="Trapezoid"/>
          <p:cNvSpPr/>
          <p:nvPr/>
        </p:nvSpPr>
        <p:spPr>
          <a:xfrm>
            <a:off x="4006488" y="4358209"/>
            <a:ext cx="2147816" cy="9128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972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8627" y="0"/>
                </a:lnTo>
                <a:lnTo>
                  <a:pt x="2972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171" name="Trapezoid"/>
          <p:cNvSpPr/>
          <p:nvPr/>
        </p:nvSpPr>
        <p:spPr>
          <a:xfrm>
            <a:off x="4369549" y="3405351"/>
            <a:ext cx="1421693" cy="604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972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8627" y="0"/>
                </a:lnTo>
                <a:lnTo>
                  <a:pt x="2972" y="0"/>
                </a:lnTo>
                <a:close/>
              </a:path>
            </a:pathLst>
          </a:cu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172" name="Identidades Sociales"/>
          <p:cNvSpPr txBox="1"/>
          <p:nvPr/>
        </p:nvSpPr>
        <p:spPr>
          <a:xfrm>
            <a:off x="7139317" y="2807323"/>
            <a:ext cx="3185903" cy="536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Identidades Sociales</a:t>
            </a:r>
          </a:p>
        </p:txBody>
      </p:sp>
      <p:sp>
        <p:nvSpPr>
          <p:cNvPr id="173" name="Sesgos hacia Identidades Sociales Diferentes (GRIETAS)"/>
          <p:cNvSpPr txBox="1"/>
          <p:nvPr/>
        </p:nvSpPr>
        <p:spPr>
          <a:xfrm>
            <a:off x="7923187" y="4547654"/>
            <a:ext cx="8537626" cy="536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600">
                <a:solidFill>
                  <a:schemeClr val="accent3">
                    <a:satOff val="18648"/>
                    <a:lumOff val="5971"/>
                  </a:schemeClr>
                </a:solidFill>
              </a:defRPr>
            </a:pPr>
            <a:r>
              <a:t>Sesgos hacia Identidades Sociales Diferentes (</a:t>
            </a:r>
            <a:r>
              <a:rPr>
                <a:solidFill>
                  <a:schemeClr val="accent5"/>
                </a:solidFill>
              </a:rPr>
              <a:t>GRIETAS</a:t>
            </a:r>
            <a:r>
              <a:t>)</a:t>
            </a:r>
          </a:p>
        </p:txBody>
      </p:sp>
      <p:sp>
        <p:nvSpPr>
          <p:cNvPr id="174" name="Tipos de Identidades Sociales"/>
          <p:cNvSpPr txBox="1"/>
          <p:nvPr/>
        </p:nvSpPr>
        <p:spPr>
          <a:xfrm>
            <a:off x="8670288" y="6464823"/>
            <a:ext cx="4548300" cy="536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Tipos de Identidades Sociales</a:t>
            </a:r>
          </a:p>
        </p:txBody>
      </p:sp>
      <p:sp>
        <p:nvSpPr>
          <p:cNvPr id="175" name="Polarización Política Afectiva"/>
          <p:cNvSpPr txBox="1"/>
          <p:nvPr/>
        </p:nvSpPr>
        <p:spPr>
          <a:xfrm>
            <a:off x="8718980" y="8029483"/>
            <a:ext cx="4450917" cy="536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Polarización Política Afectiva</a:t>
            </a:r>
          </a:p>
        </p:txBody>
      </p:sp>
      <p:sp>
        <p:nvSpPr>
          <p:cNvPr id="176" name="Polarización Política Ideológica"/>
          <p:cNvSpPr txBox="1"/>
          <p:nvPr/>
        </p:nvSpPr>
        <p:spPr>
          <a:xfrm>
            <a:off x="9779514" y="10418314"/>
            <a:ext cx="4824972" cy="536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Polarización Política Ideológica</a:t>
            </a:r>
          </a:p>
        </p:txBody>
      </p:sp>
      <p:sp>
        <p:nvSpPr>
          <p:cNvPr id="177" name="Cómo una persona se ve.a sí misma y su lugar en la sociedad.…"/>
          <p:cNvSpPr txBox="1"/>
          <p:nvPr/>
        </p:nvSpPr>
        <p:spPr>
          <a:xfrm>
            <a:off x="7155822" y="3453489"/>
            <a:ext cx="14001572" cy="980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600"/>
            </a:pPr>
            <a:r>
              <a:t>Cómo una persona se ve.a sí misma y su lugar en la sociedad.</a:t>
            </a:r>
          </a:p>
          <a:p>
            <a:pPr algn="l">
              <a:defRPr sz="2600"/>
            </a:pPr>
            <a:r>
              <a:t>Conjunto de caracteristicas que lo cohesionan con UNOS y lo separan de OTROS.</a:t>
            </a:r>
          </a:p>
        </p:txBody>
      </p:sp>
      <p:sp>
        <p:nvSpPr>
          <p:cNvPr id="178" name="Las personas naturalmente favorecen a su propio grupo, y discriminan contra el otro grupo.…"/>
          <p:cNvSpPr txBox="1"/>
          <p:nvPr/>
        </p:nvSpPr>
        <p:spPr>
          <a:xfrm>
            <a:off x="7924901" y="5196153"/>
            <a:ext cx="14001571" cy="980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600"/>
            </a:pPr>
            <a:r>
              <a:t>Las personas </a:t>
            </a:r>
            <a:r>
              <a:rPr u="sng"/>
              <a:t>naturalmente</a:t>
            </a:r>
            <a:r>
              <a:t> favorecen a su propio grupo, y discriminan contra el otro grupo.</a:t>
            </a:r>
          </a:p>
          <a:p>
            <a:pPr algn="l">
              <a:defRPr sz="2600"/>
            </a:pPr>
            <a:r>
              <a:t>[Tajfel,1970,1974.]</a:t>
            </a:r>
          </a:p>
        </p:txBody>
      </p:sp>
      <p:sp>
        <p:nvSpPr>
          <p:cNvPr id="179" name="Adscriptivas o no; historicas o recientes, detonantes (reinforcing) o atenuantes (cross-cutting)"/>
          <p:cNvSpPr txBox="1"/>
          <p:nvPr/>
        </p:nvSpPr>
        <p:spPr>
          <a:xfrm>
            <a:off x="8704630" y="7091199"/>
            <a:ext cx="14001571" cy="537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600"/>
            </a:pPr>
            <a:r>
              <a:t>Adscriptivas o no; historicas o recientes, detonantes (</a:t>
            </a:r>
            <a:r>
              <a:rPr i="1"/>
              <a:t>reinforcing</a:t>
            </a:r>
            <a:r>
              <a:t>) o atenuantes (</a:t>
            </a:r>
            <a:r>
              <a:rPr i="1"/>
              <a:t>cross-cutting</a:t>
            </a:r>
            <a:r>
              <a:t>)</a:t>
            </a:r>
          </a:p>
        </p:txBody>
      </p:sp>
      <p:sp>
        <p:nvSpPr>
          <p:cNvPr id="180" name="Identidad política agrupa las grietas de identidades sociales detonantes en una Super-identidad (POLITICS)."/>
          <p:cNvSpPr txBox="1"/>
          <p:nvPr/>
        </p:nvSpPr>
        <p:spPr>
          <a:xfrm>
            <a:off x="8728326" y="8662945"/>
            <a:ext cx="13098985" cy="980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600"/>
            </a:pPr>
            <a:r>
              <a:t>Identidad política agrupa las grietas de identidades sociales detonantes en una </a:t>
            </a:r>
            <a:r>
              <a:rPr>
                <a:latin typeface="Futura Bold"/>
                <a:ea typeface="Futura Bold"/>
                <a:cs typeface="Futura Bold"/>
                <a:sym typeface="Futura Bold"/>
              </a:rPr>
              <a:t>Super-identidad</a:t>
            </a:r>
            <a:r>
              <a:t> (</a:t>
            </a:r>
            <a:r>
              <a:rPr>
                <a:solidFill>
                  <a:schemeClr val="accent5"/>
                </a:solidFill>
              </a:rPr>
              <a:t>POLITICS</a:t>
            </a:r>
            <a:r>
              <a:t>).</a:t>
            </a:r>
          </a:p>
        </p:txBody>
      </p:sp>
      <p:sp>
        <p:nvSpPr>
          <p:cNvPr id="181" name="Grietas en aspectos específicos relacionados con políticas (POLICIES)"/>
          <p:cNvSpPr txBox="1"/>
          <p:nvPr/>
        </p:nvSpPr>
        <p:spPr>
          <a:xfrm>
            <a:off x="9865772" y="11139766"/>
            <a:ext cx="14001572" cy="536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600"/>
            </a:pPr>
            <a:r>
              <a:t>Grietas en aspectos específicos relacionados con políticas (</a:t>
            </a:r>
            <a:r>
              <a:rPr>
                <a:solidFill>
                  <a:schemeClr val="accent5"/>
                </a:solidFill>
              </a:rPr>
              <a:t>POLICIES</a:t>
            </a:r>
            <a:r>
              <a:t>)</a:t>
            </a:r>
          </a:p>
        </p:txBody>
      </p:sp>
      <p:sp>
        <p:nvSpPr>
          <p:cNvPr id="1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820691" y="13109828"/>
            <a:ext cx="269749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5</a:t>
            </a:fld>
            <a:endParaRPr/>
          </a:p>
        </p:txBody>
      </p:sp>
      <p:sp>
        <p:nvSpPr>
          <p:cNvPr id="183" name="Woman"/>
          <p:cNvSpPr/>
          <p:nvPr/>
        </p:nvSpPr>
        <p:spPr>
          <a:xfrm>
            <a:off x="3447244" y="1873942"/>
            <a:ext cx="3740653" cy="93643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rietas entre Identidades Sociales"/>
          <p:cNvSpPr txBox="1">
            <a:spLocks noGrp="1"/>
          </p:cNvSpPr>
          <p:nvPr>
            <p:ph type="title" idx="4294967295"/>
          </p:nvPr>
        </p:nvSpPr>
        <p:spPr>
          <a:xfrm>
            <a:off x="9729200" y="1028290"/>
            <a:ext cx="6384565" cy="1131980"/>
          </a:xfrm>
          <a:prstGeom prst="rect">
            <a:avLst/>
          </a:prstGeom>
        </p:spPr>
        <p:txBody>
          <a:bodyPr/>
          <a:lstStyle>
            <a:lvl1pPr defTabSz="726440">
              <a:defRPr sz="3168" u="sng">
                <a:effectLst>
                  <a:outerShdw blurRad="44704" dist="33528" dir="5400000" rotWithShape="0">
                    <a:srgbClr val="000000"/>
                  </a:outerShdw>
                </a:effectLst>
              </a:defRPr>
            </a:lvl1pPr>
          </a:lstStyle>
          <a:p>
            <a:r>
              <a:t>Grietas entre Identidades Sociales</a:t>
            </a:r>
          </a:p>
        </p:txBody>
      </p:sp>
      <p:sp>
        <p:nvSpPr>
          <p:cNvPr id="186" name="Woman"/>
          <p:cNvSpPr/>
          <p:nvPr/>
        </p:nvSpPr>
        <p:spPr>
          <a:xfrm>
            <a:off x="10459839" y="11161362"/>
            <a:ext cx="612264" cy="15327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187" name="Shape"/>
          <p:cNvSpPr/>
          <p:nvPr/>
        </p:nvSpPr>
        <p:spPr>
          <a:xfrm>
            <a:off x="14744442" y="1760168"/>
            <a:ext cx="612263" cy="1532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4" h="21451" extrusionOk="0">
                <a:moveTo>
                  <a:pt x="10830" y="3"/>
                </a:moveTo>
                <a:cubicBezTo>
                  <a:pt x="10223" y="-15"/>
                  <a:pt x="9227" y="50"/>
                  <a:pt x="8428" y="485"/>
                </a:cubicBezTo>
                <a:cubicBezTo>
                  <a:pt x="7915" y="770"/>
                  <a:pt x="8038" y="989"/>
                  <a:pt x="7189" y="1709"/>
                </a:cubicBezTo>
                <a:cubicBezTo>
                  <a:pt x="6083" y="2649"/>
                  <a:pt x="7956" y="2821"/>
                  <a:pt x="6674" y="3320"/>
                </a:cubicBezTo>
                <a:cubicBezTo>
                  <a:pt x="6148" y="3525"/>
                  <a:pt x="6540" y="3869"/>
                  <a:pt x="6540" y="3869"/>
                </a:cubicBezTo>
                <a:cubicBezTo>
                  <a:pt x="6486" y="3877"/>
                  <a:pt x="6411" y="3880"/>
                  <a:pt x="6337" y="3883"/>
                </a:cubicBezTo>
                <a:cubicBezTo>
                  <a:pt x="6263" y="3885"/>
                  <a:pt x="6189" y="3888"/>
                  <a:pt x="6135" y="3896"/>
                </a:cubicBezTo>
                <a:cubicBezTo>
                  <a:pt x="5582" y="3950"/>
                  <a:pt x="4892" y="4024"/>
                  <a:pt x="4339" y="4395"/>
                </a:cubicBezTo>
                <a:cubicBezTo>
                  <a:pt x="3557" y="4916"/>
                  <a:pt x="1671" y="6006"/>
                  <a:pt x="255" y="6893"/>
                </a:cubicBezTo>
                <a:cubicBezTo>
                  <a:pt x="248" y="6898"/>
                  <a:pt x="241" y="6904"/>
                  <a:pt x="234" y="6908"/>
                </a:cubicBezTo>
                <a:cubicBezTo>
                  <a:pt x="227" y="6913"/>
                  <a:pt x="220" y="6917"/>
                  <a:pt x="213" y="6920"/>
                </a:cubicBezTo>
                <a:cubicBezTo>
                  <a:pt x="200" y="6930"/>
                  <a:pt x="186" y="6941"/>
                  <a:pt x="173" y="6951"/>
                </a:cubicBezTo>
                <a:cubicBezTo>
                  <a:pt x="160" y="6961"/>
                  <a:pt x="146" y="6970"/>
                  <a:pt x="133" y="6978"/>
                </a:cubicBezTo>
                <a:cubicBezTo>
                  <a:pt x="-29" y="7113"/>
                  <a:pt x="-55" y="7253"/>
                  <a:pt x="120" y="7398"/>
                </a:cubicBezTo>
                <a:cubicBezTo>
                  <a:pt x="404" y="7629"/>
                  <a:pt x="496" y="7843"/>
                  <a:pt x="887" y="8241"/>
                </a:cubicBezTo>
                <a:cubicBezTo>
                  <a:pt x="1265" y="8633"/>
                  <a:pt x="2144" y="9064"/>
                  <a:pt x="2805" y="9483"/>
                </a:cubicBezTo>
                <a:cubicBezTo>
                  <a:pt x="2967" y="9591"/>
                  <a:pt x="2952" y="9681"/>
                  <a:pt x="3370" y="9923"/>
                </a:cubicBezTo>
                <a:cubicBezTo>
                  <a:pt x="3599" y="10057"/>
                  <a:pt x="3990" y="10040"/>
                  <a:pt x="3842" y="10040"/>
                </a:cubicBezTo>
                <a:cubicBezTo>
                  <a:pt x="4024" y="10046"/>
                  <a:pt x="4207" y="10037"/>
                  <a:pt x="4342" y="10029"/>
                </a:cubicBezTo>
                <a:cubicBezTo>
                  <a:pt x="4477" y="10021"/>
                  <a:pt x="4565" y="10015"/>
                  <a:pt x="4559" y="10025"/>
                </a:cubicBezTo>
                <a:cubicBezTo>
                  <a:pt x="4356" y="10627"/>
                  <a:pt x="4462" y="11347"/>
                  <a:pt x="4719" y="12094"/>
                </a:cubicBezTo>
                <a:cubicBezTo>
                  <a:pt x="4867" y="12561"/>
                  <a:pt x="6511" y="15069"/>
                  <a:pt x="6565" y="15493"/>
                </a:cubicBezTo>
                <a:cubicBezTo>
                  <a:pt x="6646" y="16425"/>
                  <a:pt x="6835" y="17247"/>
                  <a:pt x="7050" y="17939"/>
                </a:cubicBezTo>
                <a:cubicBezTo>
                  <a:pt x="7264" y="18630"/>
                  <a:pt x="7504" y="19192"/>
                  <a:pt x="7686" y="19603"/>
                </a:cubicBezTo>
                <a:cubicBezTo>
                  <a:pt x="7713" y="19651"/>
                  <a:pt x="7768" y="19673"/>
                  <a:pt x="7808" y="19673"/>
                </a:cubicBezTo>
                <a:cubicBezTo>
                  <a:pt x="7835" y="19673"/>
                  <a:pt x="7903" y="19684"/>
                  <a:pt x="7998" y="19700"/>
                </a:cubicBezTo>
                <a:cubicBezTo>
                  <a:pt x="8011" y="20098"/>
                  <a:pt x="8306" y="20001"/>
                  <a:pt x="7821" y="20313"/>
                </a:cubicBezTo>
                <a:cubicBezTo>
                  <a:pt x="7538" y="20495"/>
                  <a:pt x="6878" y="20688"/>
                  <a:pt x="6932" y="21026"/>
                </a:cubicBezTo>
                <a:cubicBezTo>
                  <a:pt x="6938" y="21088"/>
                  <a:pt x="6959" y="21135"/>
                  <a:pt x="7008" y="21179"/>
                </a:cubicBezTo>
                <a:cubicBezTo>
                  <a:pt x="7057" y="21222"/>
                  <a:pt x="7135" y="21261"/>
                  <a:pt x="7256" y="21307"/>
                </a:cubicBezTo>
                <a:cubicBezTo>
                  <a:pt x="7580" y="21419"/>
                  <a:pt x="8699" y="21585"/>
                  <a:pt x="9751" y="21268"/>
                </a:cubicBezTo>
                <a:cubicBezTo>
                  <a:pt x="10291" y="21107"/>
                  <a:pt x="9951" y="20801"/>
                  <a:pt x="10059" y="20672"/>
                </a:cubicBezTo>
                <a:cubicBezTo>
                  <a:pt x="10207" y="20511"/>
                  <a:pt x="10409" y="20420"/>
                  <a:pt x="10274" y="20027"/>
                </a:cubicBezTo>
                <a:cubicBezTo>
                  <a:pt x="10247" y="19947"/>
                  <a:pt x="10155" y="19803"/>
                  <a:pt x="10101" y="19690"/>
                </a:cubicBezTo>
                <a:cubicBezTo>
                  <a:pt x="10169" y="19679"/>
                  <a:pt x="10229" y="19667"/>
                  <a:pt x="10272" y="19654"/>
                </a:cubicBezTo>
                <a:cubicBezTo>
                  <a:pt x="10315" y="19640"/>
                  <a:pt x="10341" y="19626"/>
                  <a:pt x="10341" y="19609"/>
                </a:cubicBezTo>
                <a:cubicBezTo>
                  <a:pt x="10355" y="19174"/>
                  <a:pt x="10369" y="18942"/>
                  <a:pt x="10329" y="18287"/>
                </a:cubicBezTo>
                <a:cubicBezTo>
                  <a:pt x="10288" y="17798"/>
                  <a:pt x="10303" y="17454"/>
                  <a:pt x="10236" y="16944"/>
                </a:cubicBezTo>
                <a:cubicBezTo>
                  <a:pt x="10169" y="16390"/>
                  <a:pt x="10074" y="16449"/>
                  <a:pt x="9966" y="15896"/>
                </a:cubicBezTo>
                <a:cubicBezTo>
                  <a:pt x="9926" y="15660"/>
                  <a:pt x="9883" y="15434"/>
                  <a:pt x="9937" y="15193"/>
                </a:cubicBezTo>
                <a:cubicBezTo>
                  <a:pt x="9943" y="15147"/>
                  <a:pt x="9971" y="14963"/>
                  <a:pt x="9998" y="14779"/>
                </a:cubicBezTo>
                <a:cubicBezTo>
                  <a:pt x="10025" y="14595"/>
                  <a:pt x="10052" y="14411"/>
                  <a:pt x="10059" y="14365"/>
                </a:cubicBezTo>
                <a:cubicBezTo>
                  <a:pt x="10072" y="13839"/>
                  <a:pt x="10097" y="13472"/>
                  <a:pt x="10134" y="13106"/>
                </a:cubicBezTo>
                <a:cubicBezTo>
                  <a:pt x="10172" y="12741"/>
                  <a:pt x="10223" y="12376"/>
                  <a:pt x="10291" y="11852"/>
                </a:cubicBezTo>
                <a:cubicBezTo>
                  <a:pt x="10318" y="11766"/>
                  <a:pt x="10437" y="11717"/>
                  <a:pt x="10531" y="11803"/>
                </a:cubicBezTo>
                <a:cubicBezTo>
                  <a:pt x="11273" y="12464"/>
                  <a:pt x="11623" y="12812"/>
                  <a:pt x="12217" y="13452"/>
                </a:cubicBezTo>
                <a:cubicBezTo>
                  <a:pt x="12689" y="13962"/>
                  <a:pt x="13851" y="15290"/>
                  <a:pt x="13932" y="15532"/>
                </a:cubicBezTo>
                <a:cubicBezTo>
                  <a:pt x="14067" y="15978"/>
                  <a:pt x="14268" y="16417"/>
                  <a:pt x="14430" y="16965"/>
                </a:cubicBezTo>
                <a:cubicBezTo>
                  <a:pt x="14726" y="17948"/>
                  <a:pt x="15753" y="19270"/>
                  <a:pt x="15888" y="19517"/>
                </a:cubicBezTo>
                <a:cubicBezTo>
                  <a:pt x="15915" y="19565"/>
                  <a:pt x="15928" y="19592"/>
                  <a:pt x="15968" y="19630"/>
                </a:cubicBezTo>
                <a:cubicBezTo>
                  <a:pt x="15975" y="19635"/>
                  <a:pt x="16008" y="19642"/>
                  <a:pt x="16060" y="19648"/>
                </a:cubicBezTo>
                <a:cubicBezTo>
                  <a:pt x="16112" y="19655"/>
                  <a:pt x="16182" y="19660"/>
                  <a:pt x="16263" y="19663"/>
                </a:cubicBezTo>
                <a:cubicBezTo>
                  <a:pt x="16317" y="19851"/>
                  <a:pt x="16330" y="20173"/>
                  <a:pt x="16006" y="20420"/>
                </a:cubicBezTo>
                <a:cubicBezTo>
                  <a:pt x="15723" y="20641"/>
                  <a:pt x="16208" y="20946"/>
                  <a:pt x="16208" y="20946"/>
                </a:cubicBezTo>
                <a:cubicBezTo>
                  <a:pt x="16357" y="20994"/>
                  <a:pt x="16515" y="21030"/>
                  <a:pt x="16692" y="21053"/>
                </a:cubicBezTo>
                <a:cubicBezTo>
                  <a:pt x="16869" y="21076"/>
                  <a:pt x="17065" y="21085"/>
                  <a:pt x="17287" y="21080"/>
                </a:cubicBezTo>
                <a:cubicBezTo>
                  <a:pt x="17503" y="21077"/>
                  <a:pt x="17679" y="21097"/>
                  <a:pt x="17812" y="21122"/>
                </a:cubicBezTo>
                <a:cubicBezTo>
                  <a:pt x="17946" y="21146"/>
                  <a:pt x="18037" y="21174"/>
                  <a:pt x="18084" y="21187"/>
                </a:cubicBezTo>
                <a:cubicBezTo>
                  <a:pt x="18111" y="21196"/>
                  <a:pt x="18131" y="21201"/>
                  <a:pt x="18144" y="21204"/>
                </a:cubicBezTo>
                <a:cubicBezTo>
                  <a:pt x="18158" y="21208"/>
                  <a:pt x="18164" y="21209"/>
                  <a:pt x="18164" y="21209"/>
                </a:cubicBezTo>
                <a:cubicBezTo>
                  <a:pt x="18164" y="21209"/>
                  <a:pt x="18495" y="21267"/>
                  <a:pt x="19011" y="21313"/>
                </a:cubicBezTo>
                <a:cubicBezTo>
                  <a:pt x="19528" y="21358"/>
                  <a:pt x="20229" y="21392"/>
                  <a:pt x="20971" y="21344"/>
                </a:cubicBezTo>
                <a:cubicBezTo>
                  <a:pt x="21288" y="21330"/>
                  <a:pt x="21464" y="21284"/>
                  <a:pt x="21504" y="21215"/>
                </a:cubicBezTo>
                <a:cubicBezTo>
                  <a:pt x="21545" y="21146"/>
                  <a:pt x="21451" y="21053"/>
                  <a:pt x="21228" y="20946"/>
                </a:cubicBezTo>
                <a:cubicBezTo>
                  <a:pt x="20567" y="20618"/>
                  <a:pt x="19799" y="20571"/>
                  <a:pt x="19475" y="20367"/>
                </a:cubicBezTo>
                <a:cubicBezTo>
                  <a:pt x="18881" y="19991"/>
                  <a:pt x="18517" y="19910"/>
                  <a:pt x="18396" y="19620"/>
                </a:cubicBezTo>
                <a:cubicBezTo>
                  <a:pt x="18477" y="19609"/>
                  <a:pt x="18541" y="19600"/>
                  <a:pt x="18585" y="19593"/>
                </a:cubicBezTo>
                <a:cubicBezTo>
                  <a:pt x="18629" y="19586"/>
                  <a:pt x="18653" y="19583"/>
                  <a:pt x="18653" y="19583"/>
                </a:cubicBezTo>
                <a:cubicBezTo>
                  <a:pt x="18653" y="19583"/>
                  <a:pt x="18570" y="19087"/>
                  <a:pt x="18476" y="18765"/>
                </a:cubicBezTo>
                <a:cubicBezTo>
                  <a:pt x="18233" y="17922"/>
                  <a:pt x="18152" y="17332"/>
                  <a:pt x="18071" y="16870"/>
                </a:cubicBezTo>
                <a:cubicBezTo>
                  <a:pt x="17936" y="16053"/>
                  <a:pt x="17463" y="15671"/>
                  <a:pt x="17355" y="15402"/>
                </a:cubicBezTo>
                <a:cubicBezTo>
                  <a:pt x="16950" y="14452"/>
                  <a:pt x="16788" y="14372"/>
                  <a:pt x="16546" y="13378"/>
                </a:cubicBezTo>
                <a:cubicBezTo>
                  <a:pt x="16505" y="13195"/>
                  <a:pt x="16316" y="11911"/>
                  <a:pt x="16006" y="11159"/>
                </a:cubicBezTo>
                <a:cubicBezTo>
                  <a:pt x="15831" y="10734"/>
                  <a:pt x="15496" y="10370"/>
                  <a:pt x="15226" y="9967"/>
                </a:cubicBezTo>
                <a:cubicBezTo>
                  <a:pt x="15267" y="10031"/>
                  <a:pt x="15300" y="10018"/>
                  <a:pt x="15360" y="9985"/>
                </a:cubicBezTo>
                <a:cubicBezTo>
                  <a:pt x="15421" y="9952"/>
                  <a:pt x="15508" y="9899"/>
                  <a:pt x="15656" y="9886"/>
                </a:cubicBezTo>
                <a:cubicBezTo>
                  <a:pt x="15980" y="9859"/>
                  <a:pt x="16209" y="9809"/>
                  <a:pt x="16403" y="9742"/>
                </a:cubicBezTo>
                <a:cubicBezTo>
                  <a:pt x="16597" y="9676"/>
                  <a:pt x="16755" y="9592"/>
                  <a:pt x="16938" y="9498"/>
                </a:cubicBezTo>
                <a:cubicBezTo>
                  <a:pt x="17828" y="9020"/>
                  <a:pt x="20432" y="7812"/>
                  <a:pt x="20836" y="7469"/>
                </a:cubicBezTo>
                <a:cubicBezTo>
                  <a:pt x="21012" y="7318"/>
                  <a:pt x="21320" y="7000"/>
                  <a:pt x="21334" y="6839"/>
                </a:cubicBezTo>
                <a:cubicBezTo>
                  <a:pt x="21347" y="6646"/>
                  <a:pt x="20850" y="6421"/>
                  <a:pt x="20701" y="6292"/>
                </a:cubicBezTo>
                <a:cubicBezTo>
                  <a:pt x="20499" y="6120"/>
                  <a:pt x="19998" y="5825"/>
                  <a:pt x="19715" y="5669"/>
                </a:cubicBezTo>
                <a:cubicBezTo>
                  <a:pt x="19000" y="5277"/>
                  <a:pt x="18638" y="5179"/>
                  <a:pt x="17599" y="4690"/>
                </a:cubicBezTo>
                <a:cubicBezTo>
                  <a:pt x="17437" y="4615"/>
                  <a:pt x="16684" y="4008"/>
                  <a:pt x="15955" y="3884"/>
                </a:cubicBezTo>
                <a:cubicBezTo>
                  <a:pt x="15618" y="3825"/>
                  <a:pt x="15142" y="3796"/>
                  <a:pt x="14750" y="3781"/>
                </a:cubicBezTo>
                <a:cubicBezTo>
                  <a:pt x="14358" y="3767"/>
                  <a:pt x="14050" y="3767"/>
                  <a:pt x="14050" y="3767"/>
                </a:cubicBezTo>
                <a:cubicBezTo>
                  <a:pt x="14199" y="3536"/>
                  <a:pt x="13701" y="3418"/>
                  <a:pt x="13701" y="3149"/>
                </a:cubicBezTo>
                <a:cubicBezTo>
                  <a:pt x="13701" y="2607"/>
                  <a:pt x="15145" y="2853"/>
                  <a:pt x="13810" y="1365"/>
                </a:cubicBezTo>
                <a:cubicBezTo>
                  <a:pt x="13743" y="1292"/>
                  <a:pt x="13641" y="1089"/>
                  <a:pt x="13443" y="877"/>
                </a:cubicBezTo>
                <a:cubicBezTo>
                  <a:pt x="13245" y="665"/>
                  <a:pt x="12951" y="444"/>
                  <a:pt x="12499" y="334"/>
                </a:cubicBezTo>
                <a:cubicBezTo>
                  <a:pt x="12439" y="318"/>
                  <a:pt x="12344" y="304"/>
                  <a:pt x="12253" y="289"/>
                </a:cubicBezTo>
                <a:cubicBezTo>
                  <a:pt x="12162" y="274"/>
                  <a:pt x="12074" y="258"/>
                  <a:pt x="12027" y="236"/>
                </a:cubicBezTo>
                <a:cubicBezTo>
                  <a:pt x="11865" y="172"/>
                  <a:pt x="11623" y="87"/>
                  <a:pt x="11285" y="38"/>
                </a:cubicBezTo>
                <a:cubicBezTo>
                  <a:pt x="11191" y="25"/>
                  <a:pt x="11033" y="9"/>
                  <a:pt x="10830" y="3"/>
                </a:cubicBezTo>
                <a:close/>
                <a:moveTo>
                  <a:pt x="15606" y="5645"/>
                </a:moveTo>
                <a:cubicBezTo>
                  <a:pt x="15739" y="5640"/>
                  <a:pt x="15889" y="5665"/>
                  <a:pt x="16061" y="5723"/>
                </a:cubicBezTo>
                <a:cubicBezTo>
                  <a:pt x="16830" y="5981"/>
                  <a:pt x="18923" y="6904"/>
                  <a:pt x="18923" y="7022"/>
                </a:cubicBezTo>
                <a:cubicBezTo>
                  <a:pt x="18923" y="7113"/>
                  <a:pt x="18599" y="7365"/>
                  <a:pt x="17911" y="7838"/>
                </a:cubicBezTo>
                <a:cubicBezTo>
                  <a:pt x="17453" y="8155"/>
                  <a:pt x="16994" y="8365"/>
                  <a:pt x="16360" y="8763"/>
                </a:cubicBezTo>
                <a:cubicBezTo>
                  <a:pt x="16340" y="8776"/>
                  <a:pt x="16265" y="8829"/>
                  <a:pt x="16160" y="8876"/>
                </a:cubicBezTo>
                <a:cubicBezTo>
                  <a:pt x="16055" y="8924"/>
                  <a:pt x="15920" y="8966"/>
                  <a:pt x="15778" y="8961"/>
                </a:cubicBezTo>
                <a:cubicBezTo>
                  <a:pt x="15778" y="8961"/>
                  <a:pt x="15389" y="8919"/>
                  <a:pt x="15011" y="8817"/>
                </a:cubicBezTo>
                <a:cubicBezTo>
                  <a:pt x="14661" y="8720"/>
                  <a:pt x="14270" y="8736"/>
                  <a:pt x="14270" y="8758"/>
                </a:cubicBezTo>
                <a:cubicBezTo>
                  <a:pt x="14270" y="8763"/>
                  <a:pt x="13905" y="8521"/>
                  <a:pt x="13932" y="8021"/>
                </a:cubicBezTo>
                <a:cubicBezTo>
                  <a:pt x="13973" y="7054"/>
                  <a:pt x="14361" y="6722"/>
                  <a:pt x="14645" y="6340"/>
                </a:cubicBezTo>
                <a:cubicBezTo>
                  <a:pt x="14948" y="5938"/>
                  <a:pt x="15205" y="5661"/>
                  <a:pt x="15606" y="5645"/>
                </a:cubicBezTo>
                <a:close/>
                <a:moveTo>
                  <a:pt x="5427" y="5887"/>
                </a:moveTo>
                <a:cubicBezTo>
                  <a:pt x="5577" y="5876"/>
                  <a:pt x="5722" y="5902"/>
                  <a:pt x="5756" y="6028"/>
                </a:cubicBezTo>
                <a:cubicBezTo>
                  <a:pt x="5783" y="6120"/>
                  <a:pt x="5866" y="6280"/>
                  <a:pt x="5920" y="6414"/>
                </a:cubicBezTo>
                <a:cubicBezTo>
                  <a:pt x="6095" y="6844"/>
                  <a:pt x="6403" y="6931"/>
                  <a:pt x="6430" y="7210"/>
                </a:cubicBezTo>
                <a:cubicBezTo>
                  <a:pt x="6565" y="8430"/>
                  <a:pt x="5840" y="8382"/>
                  <a:pt x="5435" y="8919"/>
                </a:cubicBezTo>
                <a:cubicBezTo>
                  <a:pt x="5402" y="8911"/>
                  <a:pt x="5226" y="8928"/>
                  <a:pt x="4987" y="8961"/>
                </a:cubicBezTo>
                <a:cubicBezTo>
                  <a:pt x="4747" y="8994"/>
                  <a:pt x="4444" y="9042"/>
                  <a:pt x="4154" y="9095"/>
                </a:cubicBezTo>
                <a:cubicBezTo>
                  <a:pt x="3439" y="8778"/>
                  <a:pt x="3086" y="7651"/>
                  <a:pt x="2573" y="7281"/>
                </a:cubicBezTo>
                <a:cubicBezTo>
                  <a:pt x="2304" y="7082"/>
                  <a:pt x="3182" y="6834"/>
                  <a:pt x="3829" y="6544"/>
                </a:cubicBezTo>
                <a:cubicBezTo>
                  <a:pt x="4328" y="6323"/>
                  <a:pt x="4542" y="6228"/>
                  <a:pt x="5081" y="5964"/>
                </a:cubicBezTo>
                <a:cubicBezTo>
                  <a:pt x="5122" y="5946"/>
                  <a:pt x="5277" y="5898"/>
                  <a:pt x="5427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188" name="Line"/>
          <p:cNvSpPr/>
          <p:nvPr/>
        </p:nvSpPr>
        <p:spPr>
          <a:xfrm flipV="1">
            <a:off x="12338628" y="2532894"/>
            <a:ext cx="1" cy="9872818"/>
          </a:xfrm>
          <a:prstGeom prst="line">
            <a:avLst/>
          </a:prstGeom>
          <a:ln w="38100">
            <a:solidFill>
              <a:srgbClr val="FFFFFF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189" name="Identidad Regional"/>
          <p:cNvSpPr txBox="1"/>
          <p:nvPr/>
        </p:nvSpPr>
        <p:spPr>
          <a:xfrm rot="16200000">
            <a:off x="10348621" y="9926090"/>
            <a:ext cx="2738885" cy="498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Identidad Regional</a:t>
            </a:r>
          </a:p>
        </p:txBody>
      </p:sp>
      <p:sp>
        <p:nvSpPr>
          <p:cNvPr id="190" name="Norte"/>
          <p:cNvSpPr txBox="1"/>
          <p:nvPr/>
        </p:nvSpPr>
        <p:spPr>
          <a:xfrm>
            <a:off x="13115157" y="2277076"/>
            <a:ext cx="936577" cy="498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Norte</a:t>
            </a:r>
          </a:p>
        </p:txBody>
      </p:sp>
      <p:sp>
        <p:nvSpPr>
          <p:cNvPr id="191" name="Sud"/>
          <p:cNvSpPr txBox="1"/>
          <p:nvPr/>
        </p:nvSpPr>
        <p:spPr>
          <a:xfrm>
            <a:off x="13263018" y="12333033"/>
            <a:ext cx="640855" cy="498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Sud</a:t>
            </a:r>
          </a:p>
        </p:txBody>
      </p:sp>
      <p:sp>
        <p:nvSpPr>
          <p:cNvPr id="192" name="Shape"/>
          <p:cNvSpPr/>
          <p:nvPr/>
        </p:nvSpPr>
        <p:spPr>
          <a:xfrm>
            <a:off x="14060078" y="1760168"/>
            <a:ext cx="612263" cy="1532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4" h="21451" extrusionOk="0">
                <a:moveTo>
                  <a:pt x="10830" y="3"/>
                </a:moveTo>
                <a:cubicBezTo>
                  <a:pt x="10223" y="-15"/>
                  <a:pt x="9227" y="50"/>
                  <a:pt x="8428" y="485"/>
                </a:cubicBezTo>
                <a:cubicBezTo>
                  <a:pt x="7915" y="770"/>
                  <a:pt x="8038" y="989"/>
                  <a:pt x="7189" y="1709"/>
                </a:cubicBezTo>
                <a:cubicBezTo>
                  <a:pt x="6083" y="2649"/>
                  <a:pt x="7956" y="2821"/>
                  <a:pt x="6674" y="3320"/>
                </a:cubicBezTo>
                <a:cubicBezTo>
                  <a:pt x="6148" y="3525"/>
                  <a:pt x="6540" y="3869"/>
                  <a:pt x="6540" y="3869"/>
                </a:cubicBezTo>
                <a:cubicBezTo>
                  <a:pt x="6486" y="3877"/>
                  <a:pt x="6411" y="3880"/>
                  <a:pt x="6337" y="3883"/>
                </a:cubicBezTo>
                <a:cubicBezTo>
                  <a:pt x="6263" y="3885"/>
                  <a:pt x="6189" y="3888"/>
                  <a:pt x="6135" y="3896"/>
                </a:cubicBezTo>
                <a:cubicBezTo>
                  <a:pt x="5582" y="3950"/>
                  <a:pt x="4892" y="4024"/>
                  <a:pt x="4339" y="4395"/>
                </a:cubicBezTo>
                <a:cubicBezTo>
                  <a:pt x="3557" y="4916"/>
                  <a:pt x="1671" y="6006"/>
                  <a:pt x="255" y="6893"/>
                </a:cubicBezTo>
                <a:cubicBezTo>
                  <a:pt x="248" y="6898"/>
                  <a:pt x="241" y="6904"/>
                  <a:pt x="234" y="6908"/>
                </a:cubicBezTo>
                <a:cubicBezTo>
                  <a:pt x="227" y="6913"/>
                  <a:pt x="220" y="6917"/>
                  <a:pt x="213" y="6920"/>
                </a:cubicBezTo>
                <a:cubicBezTo>
                  <a:pt x="200" y="6930"/>
                  <a:pt x="186" y="6941"/>
                  <a:pt x="173" y="6951"/>
                </a:cubicBezTo>
                <a:cubicBezTo>
                  <a:pt x="160" y="6961"/>
                  <a:pt x="146" y="6970"/>
                  <a:pt x="133" y="6978"/>
                </a:cubicBezTo>
                <a:cubicBezTo>
                  <a:pt x="-29" y="7113"/>
                  <a:pt x="-55" y="7253"/>
                  <a:pt x="120" y="7398"/>
                </a:cubicBezTo>
                <a:cubicBezTo>
                  <a:pt x="404" y="7629"/>
                  <a:pt x="496" y="7843"/>
                  <a:pt x="887" y="8241"/>
                </a:cubicBezTo>
                <a:cubicBezTo>
                  <a:pt x="1265" y="8633"/>
                  <a:pt x="2144" y="9064"/>
                  <a:pt x="2805" y="9483"/>
                </a:cubicBezTo>
                <a:cubicBezTo>
                  <a:pt x="2967" y="9591"/>
                  <a:pt x="2952" y="9681"/>
                  <a:pt x="3370" y="9923"/>
                </a:cubicBezTo>
                <a:cubicBezTo>
                  <a:pt x="3599" y="10057"/>
                  <a:pt x="3990" y="10040"/>
                  <a:pt x="3842" y="10040"/>
                </a:cubicBezTo>
                <a:cubicBezTo>
                  <a:pt x="4024" y="10046"/>
                  <a:pt x="4207" y="10037"/>
                  <a:pt x="4342" y="10029"/>
                </a:cubicBezTo>
                <a:cubicBezTo>
                  <a:pt x="4477" y="10021"/>
                  <a:pt x="4565" y="10015"/>
                  <a:pt x="4559" y="10025"/>
                </a:cubicBezTo>
                <a:cubicBezTo>
                  <a:pt x="4356" y="10627"/>
                  <a:pt x="4462" y="11347"/>
                  <a:pt x="4719" y="12094"/>
                </a:cubicBezTo>
                <a:cubicBezTo>
                  <a:pt x="4867" y="12561"/>
                  <a:pt x="6511" y="15069"/>
                  <a:pt x="6565" y="15493"/>
                </a:cubicBezTo>
                <a:cubicBezTo>
                  <a:pt x="6646" y="16425"/>
                  <a:pt x="6835" y="17247"/>
                  <a:pt x="7050" y="17939"/>
                </a:cubicBezTo>
                <a:cubicBezTo>
                  <a:pt x="7264" y="18630"/>
                  <a:pt x="7504" y="19192"/>
                  <a:pt x="7686" y="19603"/>
                </a:cubicBezTo>
                <a:cubicBezTo>
                  <a:pt x="7713" y="19651"/>
                  <a:pt x="7768" y="19673"/>
                  <a:pt x="7808" y="19673"/>
                </a:cubicBezTo>
                <a:cubicBezTo>
                  <a:pt x="7835" y="19673"/>
                  <a:pt x="7903" y="19684"/>
                  <a:pt x="7998" y="19700"/>
                </a:cubicBezTo>
                <a:cubicBezTo>
                  <a:pt x="8011" y="20098"/>
                  <a:pt x="8306" y="20001"/>
                  <a:pt x="7821" y="20313"/>
                </a:cubicBezTo>
                <a:cubicBezTo>
                  <a:pt x="7538" y="20495"/>
                  <a:pt x="6878" y="20688"/>
                  <a:pt x="6932" y="21026"/>
                </a:cubicBezTo>
                <a:cubicBezTo>
                  <a:pt x="6938" y="21088"/>
                  <a:pt x="6959" y="21135"/>
                  <a:pt x="7008" y="21179"/>
                </a:cubicBezTo>
                <a:cubicBezTo>
                  <a:pt x="7057" y="21222"/>
                  <a:pt x="7135" y="21261"/>
                  <a:pt x="7256" y="21307"/>
                </a:cubicBezTo>
                <a:cubicBezTo>
                  <a:pt x="7580" y="21419"/>
                  <a:pt x="8699" y="21585"/>
                  <a:pt x="9751" y="21268"/>
                </a:cubicBezTo>
                <a:cubicBezTo>
                  <a:pt x="10291" y="21107"/>
                  <a:pt x="9951" y="20801"/>
                  <a:pt x="10059" y="20672"/>
                </a:cubicBezTo>
                <a:cubicBezTo>
                  <a:pt x="10207" y="20511"/>
                  <a:pt x="10409" y="20420"/>
                  <a:pt x="10274" y="20027"/>
                </a:cubicBezTo>
                <a:cubicBezTo>
                  <a:pt x="10247" y="19947"/>
                  <a:pt x="10155" y="19803"/>
                  <a:pt x="10101" y="19690"/>
                </a:cubicBezTo>
                <a:cubicBezTo>
                  <a:pt x="10169" y="19679"/>
                  <a:pt x="10229" y="19667"/>
                  <a:pt x="10272" y="19654"/>
                </a:cubicBezTo>
                <a:cubicBezTo>
                  <a:pt x="10315" y="19640"/>
                  <a:pt x="10341" y="19626"/>
                  <a:pt x="10341" y="19609"/>
                </a:cubicBezTo>
                <a:cubicBezTo>
                  <a:pt x="10355" y="19174"/>
                  <a:pt x="10369" y="18942"/>
                  <a:pt x="10329" y="18287"/>
                </a:cubicBezTo>
                <a:cubicBezTo>
                  <a:pt x="10288" y="17798"/>
                  <a:pt x="10303" y="17454"/>
                  <a:pt x="10236" y="16944"/>
                </a:cubicBezTo>
                <a:cubicBezTo>
                  <a:pt x="10169" y="16390"/>
                  <a:pt x="10074" y="16449"/>
                  <a:pt x="9966" y="15896"/>
                </a:cubicBezTo>
                <a:cubicBezTo>
                  <a:pt x="9926" y="15660"/>
                  <a:pt x="9883" y="15434"/>
                  <a:pt x="9937" y="15193"/>
                </a:cubicBezTo>
                <a:cubicBezTo>
                  <a:pt x="9943" y="15147"/>
                  <a:pt x="9971" y="14963"/>
                  <a:pt x="9998" y="14779"/>
                </a:cubicBezTo>
                <a:cubicBezTo>
                  <a:pt x="10025" y="14595"/>
                  <a:pt x="10052" y="14411"/>
                  <a:pt x="10059" y="14365"/>
                </a:cubicBezTo>
                <a:cubicBezTo>
                  <a:pt x="10072" y="13839"/>
                  <a:pt x="10097" y="13472"/>
                  <a:pt x="10134" y="13106"/>
                </a:cubicBezTo>
                <a:cubicBezTo>
                  <a:pt x="10172" y="12741"/>
                  <a:pt x="10223" y="12376"/>
                  <a:pt x="10291" y="11852"/>
                </a:cubicBezTo>
                <a:cubicBezTo>
                  <a:pt x="10318" y="11766"/>
                  <a:pt x="10437" y="11717"/>
                  <a:pt x="10531" y="11803"/>
                </a:cubicBezTo>
                <a:cubicBezTo>
                  <a:pt x="11273" y="12464"/>
                  <a:pt x="11623" y="12812"/>
                  <a:pt x="12217" y="13452"/>
                </a:cubicBezTo>
                <a:cubicBezTo>
                  <a:pt x="12689" y="13962"/>
                  <a:pt x="13851" y="15290"/>
                  <a:pt x="13932" y="15532"/>
                </a:cubicBezTo>
                <a:cubicBezTo>
                  <a:pt x="14067" y="15978"/>
                  <a:pt x="14268" y="16417"/>
                  <a:pt x="14430" y="16965"/>
                </a:cubicBezTo>
                <a:cubicBezTo>
                  <a:pt x="14726" y="17948"/>
                  <a:pt x="15753" y="19270"/>
                  <a:pt x="15888" y="19517"/>
                </a:cubicBezTo>
                <a:cubicBezTo>
                  <a:pt x="15915" y="19565"/>
                  <a:pt x="15928" y="19592"/>
                  <a:pt x="15968" y="19630"/>
                </a:cubicBezTo>
                <a:cubicBezTo>
                  <a:pt x="15975" y="19635"/>
                  <a:pt x="16008" y="19642"/>
                  <a:pt x="16060" y="19648"/>
                </a:cubicBezTo>
                <a:cubicBezTo>
                  <a:pt x="16112" y="19655"/>
                  <a:pt x="16182" y="19660"/>
                  <a:pt x="16263" y="19663"/>
                </a:cubicBezTo>
                <a:cubicBezTo>
                  <a:pt x="16317" y="19851"/>
                  <a:pt x="16330" y="20173"/>
                  <a:pt x="16006" y="20420"/>
                </a:cubicBezTo>
                <a:cubicBezTo>
                  <a:pt x="15723" y="20641"/>
                  <a:pt x="16208" y="20946"/>
                  <a:pt x="16208" y="20946"/>
                </a:cubicBezTo>
                <a:cubicBezTo>
                  <a:pt x="16357" y="20994"/>
                  <a:pt x="16515" y="21030"/>
                  <a:pt x="16692" y="21053"/>
                </a:cubicBezTo>
                <a:cubicBezTo>
                  <a:pt x="16869" y="21076"/>
                  <a:pt x="17065" y="21085"/>
                  <a:pt x="17287" y="21080"/>
                </a:cubicBezTo>
                <a:cubicBezTo>
                  <a:pt x="17503" y="21077"/>
                  <a:pt x="17679" y="21097"/>
                  <a:pt x="17812" y="21122"/>
                </a:cubicBezTo>
                <a:cubicBezTo>
                  <a:pt x="17946" y="21146"/>
                  <a:pt x="18037" y="21174"/>
                  <a:pt x="18084" y="21187"/>
                </a:cubicBezTo>
                <a:cubicBezTo>
                  <a:pt x="18111" y="21196"/>
                  <a:pt x="18131" y="21201"/>
                  <a:pt x="18144" y="21204"/>
                </a:cubicBezTo>
                <a:cubicBezTo>
                  <a:pt x="18158" y="21208"/>
                  <a:pt x="18164" y="21209"/>
                  <a:pt x="18164" y="21209"/>
                </a:cubicBezTo>
                <a:cubicBezTo>
                  <a:pt x="18164" y="21209"/>
                  <a:pt x="18495" y="21267"/>
                  <a:pt x="19011" y="21313"/>
                </a:cubicBezTo>
                <a:cubicBezTo>
                  <a:pt x="19528" y="21358"/>
                  <a:pt x="20229" y="21392"/>
                  <a:pt x="20971" y="21344"/>
                </a:cubicBezTo>
                <a:cubicBezTo>
                  <a:pt x="21288" y="21330"/>
                  <a:pt x="21464" y="21284"/>
                  <a:pt x="21504" y="21215"/>
                </a:cubicBezTo>
                <a:cubicBezTo>
                  <a:pt x="21545" y="21146"/>
                  <a:pt x="21451" y="21053"/>
                  <a:pt x="21228" y="20946"/>
                </a:cubicBezTo>
                <a:cubicBezTo>
                  <a:pt x="20567" y="20618"/>
                  <a:pt x="19799" y="20571"/>
                  <a:pt x="19475" y="20367"/>
                </a:cubicBezTo>
                <a:cubicBezTo>
                  <a:pt x="18881" y="19991"/>
                  <a:pt x="18517" y="19910"/>
                  <a:pt x="18396" y="19620"/>
                </a:cubicBezTo>
                <a:cubicBezTo>
                  <a:pt x="18477" y="19609"/>
                  <a:pt x="18541" y="19600"/>
                  <a:pt x="18585" y="19593"/>
                </a:cubicBezTo>
                <a:cubicBezTo>
                  <a:pt x="18629" y="19586"/>
                  <a:pt x="18653" y="19583"/>
                  <a:pt x="18653" y="19583"/>
                </a:cubicBezTo>
                <a:cubicBezTo>
                  <a:pt x="18653" y="19583"/>
                  <a:pt x="18570" y="19087"/>
                  <a:pt x="18476" y="18765"/>
                </a:cubicBezTo>
                <a:cubicBezTo>
                  <a:pt x="18233" y="17922"/>
                  <a:pt x="18152" y="17332"/>
                  <a:pt x="18071" y="16870"/>
                </a:cubicBezTo>
                <a:cubicBezTo>
                  <a:pt x="17936" y="16053"/>
                  <a:pt x="17463" y="15671"/>
                  <a:pt x="17355" y="15402"/>
                </a:cubicBezTo>
                <a:cubicBezTo>
                  <a:pt x="16950" y="14452"/>
                  <a:pt x="16788" y="14372"/>
                  <a:pt x="16546" y="13378"/>
                </a:cubicBezTo>
                <a:cubicBezTo>
                  <a:pt x="16505" y="13195"/>
                  <a:pt x="16316" y="11911"/>
                  <a:pt x="16006" y="11159"/>
                </a:cubicBezTo>
                <a:cubicBezTo>
                  <a:pt x="15831" y="10734"/>
                  <a:pt x="15496" y="10370"/>
                  <a:pt x="15226" y="9967"/>
                </a:cubicBezTo>
                <a:cubicBezTo>
                  <a:pt x="15267" y="10031"/>
                  <a:pt x="15300" y="10018"/>
                  <a:pt x="15360" y="9985"/>
                </a:cubicBezTo>
                <a:cubicBezTo>
                  <a:pt x="15421" y="9952"/>
                  <a:pt x="15508" y="9899"/>
                  <a:pt x="15656" y="9886"/>
                </a:cubicBezTo>
                <a:cubicBezTo>
                  <a:pt x="15980" y="9859"/>
                  <a:pt x="16209" y="9809"/>
                  <a:pt x="16403" y="9742"/>
                </a:cubicBezTo>
                <a:cubicBezTo>
                  <a:pt x="16597" y="9676"/>
                  <a:pt x="16755" y="9592"/>
                  <a:pt x="16938" y="9498"/>
                </a:cubicBezTo>
                <a:cubicBezTo>
                  <a:pt x="17828" y="9020"/>
                  <a:pt x="20432" y="7812"/>
                  <a:pt x="20836" y="7469"/>
                </a:cubicBezTo>
                <a:cubicBezTo>
                  <a:pt x="21012" y="7318"/>
                  <a:pt x="21320" y="7000"/>
                  <a:pt x="21334" y="6839"/>
                </a:cubicBezTo>
                <a:cubicBezTo>
                  <a:pt x="21347" y="6646"/>
                  <a:pt x="20850" y="6421"/>
                  <a:pt x="20701" y="6292"/>
                </a:cubicBezTo>
                <a:cubicBezTo>
                  <a:pt x="20499" y="6120"/>
                  <a:pt x="19998" y="5825"/>
                  <a:pt x="19715" y="5669"/>
                </a:cubicBezTo>
                <a:cubicBezTo>
                  <a:pt x="19000" y="5277"/>
                  <a:pt x="18638" y="5179"/>
                  <a:pt x="17599" y="4690"/>
                </a:cubicBezTo>
                <a:cubicBezTo>
                  <a:pt x="17437" y="4615"/>
                  <a:pt x="16684" y="4008"/>
                  <a:pt x="15955" y="3884"/>
                </a:cubicBezTo>
                <a:cubicBezTo>
                  <a:pt x="15618" y="3825"/>
                  <a:pt x="15142" y="3796"/>
                  <a:pt x="14750" y="3781"/>
                </a:cubicBezTo>
                <a:cubicBezTo>
                  <a:pt x="14358" y="3767"/>
                  <a:pt x="14050" y="3767"/>
                  <a:pt x="14050" y="3767"/>
                </a:cubicBezTo>
                <a:cubicBezTo>
                  <a:pt x="14199" y="3536"/>
                  <a:pt x="13701" y="3418"/>
                  <a:pt x="13701" y="3149"/>
                </a:cubicBezTo>
                <a:cubicBezTo>
                  <a:pt x="13701" y="2607"/>
                  <a:pt x="15145" y="2853"/>
                  <a:pt x="13810" y="1365"/>
                </a:cubicBezTo>
                <a:cubicBezTo>
                  <a:pt x="13743" y="1292"/>
                  <a:pt x="13641" y="1089"/>
                  <a:pt x="13443" y="877"/>
                </a:cubicBezTo>
                <a:cubicBezTo>
                  <a:pt x="13245" y="665"/>
                  <a:pt x="12951" y="444"/>
                  <a:pt x="12499" y="334"/>
                </a:cubicBezTo>
                <a:cubicBezTo>
                  <a:pt x="12439" y="318"/>
                  <a:pt x="12344" y="304"/>
                  <a:pt x="12253" y="289"/>
                </a:cubicBezTo>
                <a:cubicBezTo>
                  <a:pt x="12162" y="274"/>
                  <a:pt x="12074" y="258"/>
                  <a:pt x="12027" y="236"/>
                </a:cubicBezTo>
                <a:cubicBezTo>
                  <a:pt x="11865" y="172"/>
                  <a:pt x="11623" y="87"/>
                  <a:pt x="11285" y="38"/>
                </a:cubicBezTo>
                <a:cubicBezTo>
                  <a:pt x="11191" y="25"/>
                  <a:pt x="11033" y="9"/>
                  <a:pt x="10830" y="3"/>
                </a:cubicBezTo>
                <a:close/>
                <a:moveTo>
                  <a:pt x="15606" y="5645"/>
                </a:moveTo>
                <a:cubicBezTo>
                  <a:pt x="15739" y="5640"/>
                  <a:pt x="15889" y="5665"/>
                  <a:pt x="16061" y="5723"/>
                </a:cubicBezTo>
                <a:cubicBezTo>
                  <a:pt x="16830" y="5981"/>
                  <a:pt x="18923" y="6904"/>
                  <a:pt x="18923" y="7022"/>
                </a:cubicBezTo>
                <a:cubicBezTo>
                  <a:pt x="18923" y="7113"/>
                  <a:pt x="18599" y="7365"/>
                  <a:pt x="17911" y="7838"/>
                </a:cubicBezTo>
                <a:cubicBezTo>
                  <a:pt x="17453" y="8155"/>
                  <a:pt x="16994" y="8365"/>
                  <a:pt x="16360" y="8763"/>
                </a:cubicBezTo>
                <a:cubicBezTo>
                  <a:pt x="16340" y="8776"/>
                  <a:pt x="16265" y="8829"/>
                  <a:pt x="16160" y="8876"/>
                </a:cubicBezTo>
                <a:cubicBezTo>
                  <a:pt x="16055" y="8924"/>
                  <a:pt x="15920" y="8966"/>
                  <a:pt x="15778" y="8961"/>
                </a:cubicBezTo>
                <a:cubicBezTo>
                  <a:pt x="15778" y="8961"/>
                  <a:pt x="15389" y="8919"/>
                  <a:pt x="15011" y="8817"/>
                </a:cubicBezTo>
                <a:cubicBezTo>
                  <a:pt x="14661" y="8720"/>
                  <a:pt x="14270" y="8736"/>
                  <a:pt x="14270" y="8758"/>
                </a:cubicBezTo>
                <a:cubicBezTo>
                  <a:pt x="14270" y="8763"/>
                  <a:pt x="13905" y="8521"/>
                  <a:pt x="13932" y="8021"/>
                </a:cubicBezTo>
                <a:cubicBezTo>
                  <a:pt x="13973" y="7054"/>
                  <a:pt x="14361" y="6722"/>
                  <a:pt x="14645" y="6340"/>
                </a:cubicBezTo>
                <a:cubicBezTo>
                  <a:pt x="14948" y="5938"/>
                  <a:pt x="15205" y="5661"/>
                  <a:pt x="15606" y="5645"/>
                </a:cubicBezTo>
                <a:close/>
                <a:moveTo>
                  <a:pt x="5427" y="5887"/>
                </a:moveTo>
                <a:cubicBezTo>
                  <a:pt x="5577" y="5876"/>
                  <a:pt x="5722" y="5902"/>
                  <a:pt x="5756" y="6028"/>
                </a:cubicBezTo>
                <a:cubicBezTo>
                  <a:pt x="5783" y="6120"/>
                  <a:pt x="5866" y="6280"/>
                  <a:pt x="5920" y="6414"/>
                </a:cubicBezTo>
                <a:cubicBezTo>
                  <a:pt x="6095" y="6844"/>
                  <a:pt x="6403" y="6931"/>
                  <a:pt x="6430" y="7210"/>
                </a:cubicBezTo>
                <a:cubicBezTo>
                  <a:pt x="6565" y="8430"/>
                  <a:pt x="5840" y="8382"/>
                  <a:pt x="5435" y="8919"/>
                </a:cubicBezTo>
                <a:cubicBezTo>
                  <a:pt x="5402" y="8911"/>
                  <a:pt x="5226" y="8928"/>
                  <a:pt x="4987" y="8961"/>
                </a:cubicBezTo>
                <a:cubicBezTo>
                  <a:pt x="4747" y="8994"/>
                  <a:pt x="4444" y="9042"/>
                  <a:pt x="4154" y="9095"/>
                </a:cubicBezTo>
                <a:cubicBezTo>
                  <a:pt x="3439" y="8778"/>
                  <a:pt x="3086" y="7651"/>
                  <a:pt x="2573" y="7281"/>
                </a:cubicBezTo>
                <a:cubicBezTo>
                  <a:pt x="2304" y="7082"/>
                  <a:pt x="3182" y="6834"/>
                  <a:pt x="3829" y="6544"/>
                </a:cubicBezTo>
                <a:cubicBezTo>
                  <a:pt x="4328" y="6323"/>
                  <a:pt x="4542" y="6228"/>
                  <a:pt x="5081" y="5964"/>
                </a:cubicBezTo>
                <a:cubicBezTo>
                  <a:pt x="5122" y="5946"/>
                  <a:pt x="5277" y="5898"/>
                  <a:pt x="5427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193" name="Woman"/>
          <p:cNvSpPr/>
          <p:nvPr/>
        </p:nvSpPr>
        <p:spPr>
          <a:xfrm>
            <a:off x="9762869" y="11161362"/>
            <a:ext cx="612263" cy="15327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197" name="Connection Line"/>
          <p:cNvSpPr/>
          <p:nvPr/>
        </p:nvSpPr>
        <p:spPr>
          <a:xfrm>
            <a:off x="12715937" y="3103023"/>
            <a:ext cx="595294" cy="8902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653" h="21600" extrusionOk="0">
                <a:moveTo>
                  <a:pt x="0" y="21600"/>
                </a:moveTo>
                <a:cubicBezTo>
                  <a:pt x="18542" y="14207"/>
                  <a:pt x="21600" y="7007"/>
                  <a:pt x="9174" y="0"/>
                </a:cubicBezTo>
              </a:path>
            </a:pathLst>
          </a:custGeom>
          <a:ln w="38100">
            <a:solidFill>
              <a:srgbClr val="FF2600"/>
            </a:solidFill>
            <a:miter lim="400000"/>
          </a:ln>
        </p:spPr>
        <p:txBody>
          <a:bodyPr/>
          <a:lstStyle/>
          <a:p>
            <a:endParaRPr/>
          </a:p>
        </p:txBody>
      </p:sp>
      <p:sp>
        <p:nvSpPr>
          <p:cNvPr id="195" name="Grieta Regional"/>
          <p:cNvSpPr txBox="1"/>
          <p:nvPr/>
        </p:nvSpPr>
        <p:spPr>
          <a:xfrm rot="16200000">
            <a:off x="12319806" y="8175708"/>
            <a:ext cx="3230935" cy="66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Grieta Regional</a:t>
            </a:r>
          </a:p>
        </p:txBody>
      </p:sp>
      <p:sp>
        <p:nvSpPr>
          <p:cNvPr id="1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820691" y="13109828"/>
            <a:ext cx="269749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6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1" animBg="1" advAuto="0"/>
      <p:bldP spid="195" grpId="2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rietas entre Identidades Sociales"/>
          <p:cNvSpPr txBox="1">
            <a:spLocks noGrp="1"/>
          </p:cNvSpPr>
          <p:nvPr>
            <p:ph type="title" idx="4294967295"/>
          </p:nvPr>
        </p:nvSpPr>
        <p:spPr>
          <a:xfrm>
            <a:off x="9729200" y="1028290"/>
            <a:ext cx="6384565" cy="1131980"/>
          </a:xfrm>
          <a:prstGeom prst="rect">
            <a:avLst/>
          </a:prstGeom>
        </p:spPr>
        <p:txBody>
          <a:bodyPr/>
          <a:lstStyle>
            <a:lvl1pPr defTabSz="726440">
              <a:defRPr sz="3168" u="sng">
                <a:effectLst>
                  <a:outerShdw blurRad="44704" dist="33528" dir="5400000" rotWithShape="0">
                    <a:srgbClr val="000000"/>
                  </a:outerShdw>
                </a:effectLst>
              </a:defRPr>
            </a:lvl1pPr>
          </a:lstStyle>
          <a:p>
            <a:r>
              <a:t>Grietas entre Identidades Sociales</a:t>
            </a:r>
          </a:p>
        </p:txBody>
      </p:sp>
      <p:sp>
        <p:nvSpPr>
          <p:cNvPr id="200" name="Line"/>
          <p:cNvSpPr/>
          <p:nvPr/>
        </p:nvSpPr>
        <p:spPr>
          <a:xfrm>
            <a:off x="4949778" y="7469302"/>
            <a:ext cx="14484444" cy="1"/>
          </a:xfrm>
          <a:prstGeom prst="line">
            <a:avLst/>
          </a:prstGeom>
          <a:ln w="38100">
            <a:solidFill>
              <a:srgbClr val="FFFFFF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01" name="Preferencia Política"/>
          <p:cNvSpPr txBox="1"/>
          <p:nvPr/>
        </p:nvSpPr>
        <p:spPr>
          <a:xfrm>
            <a:off x="10818539" y="7627501"/>
            <a:ext cx="2746922" cy="498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Preferencia Política</a:t>
            </a:r>
          </a:p>
        </p:txBody>
      </p:sp>
      <p:sp>
        <p:nvSpPr>
          <p:cNvPr id="202" name="Derecha"/>
          <p:cNvSpPr txBox="1"/>
          <p:nvPr/>
        </p:nvSpPr>
        <p:spPr>
          <a:xfrm>
            <a:off x="20608785" y="7627501"/>
            <a:ext cx="1287811" cy="498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Derecha</a:t>
            </a:r>
          </a:p>
        </p:txBody>
      </p:sp>
      <p:sp>
        <p:nvSpPr>
          <p:cNvPr id="203" name="Izquierda"/>
          <p:cNvSpPr txBox="1"/>
          <p:nvPr/>
        </p:nvSpPr>
        <p:spPr>
          <a:xfrm>
            <a:off x="2624391" y="7627501"/>
            <a:ext cx="1444080" cy="498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Izquierda</a:t>
            </a:r>
          </a:p>
        </p:txBody>
      </p:sp>
      <p:sp>
        <p:nvSpPr>
          <p:cNvPr id="204" name="Woman"/>
          <p:cNvSpPr/>
          <p:nvPr/>
        </p:nvSpPr>
        <p:spPr>
          <a:xfrm>
            <a:off x="6080154" y="5570301"/>
            <a:ext cx="612263" cy="1532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05" name="Shape"/>
          <p:cNvSpPr/>
          <p:nvPr/>
        </p:nvSpPr>
        <p:spPr>
          <a:xfrm>
            <a:off x="18102944" y="5570301"/>
            <a:ext cx="612263" cy="1532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4" h="21451" extrusionOk="0">
                <a:moveTo>
                  <a:pt x="10830" y="3"/>
                </a:moveTo>
                <a:cubicBezTo>
                  <a:pt x="10223" y="-15"/>
                  <a:pt x="9227" y="50"/>
                  <a:pt x="8428" y="485"/>
                </a:cubicBezTo>
                <a:cubicBezTo>
                  <a:pt x="7915" y="770"/>
                  <a:pt x="8038" y="989"/>
                  <a:pt x="7189" y="1709"/>
                </a:cubicBezTo>
                <a:cubicBezTo>
                  <a:pt x="6083" y="2649"/>
                  <a:pt x="7956" y="2821"/>
                  <a:pt x="6674" y="3320"/>
                </a:cubicBezTo>
                <a:cubicBezTo>
                  <a:pt x="6148" y="3525"/>
                  <a:pt x="6540" y="3869"/>
                  <a:pt x="6540" y="3869"/>
                </a:cubicBezTo>
                <a:cubicBezTo>
                  <a:pt x="6486" y="3877"/>
                  <a:pt x="6411" y="3880"/>
                  <a:pt x="6337" y="3883"/>
                </a:cubicBezTo>
                <a:cubicBezTo>
                  <a:pt x="6263" y="3885"/>
                  <a:pt x="6189" y="3888"/>
                  <a:pt x="6135" y="3896"/>
                </a:cubicBezTo>
                <a:cubicBezTo>
                  <a:pt x="5582" y="3950"/>
                  <a:pt x="4892" y="4024"/>
                  <a:pt x="4339" y="4395"/>
                </a:cubicBezTo>
                <a:cubicBezTo>
                  <a:pt x="3557" y="4916"/>
                  <a:pt x="1671" y="6006"/>
                  <a:pt x="255" y="6893"/>
                </a:cubicBezTo>
                <a:cubicBezTo>
                  <a:pt x="248" y="6898"/>
                  <a:pt x="241" y="6904"/>
                  <a:pt x="234" y="6908"/>
                </a:cubicBezTo>
                <a:cubicBezTo>
                  <a:pt x="227" y="6913"/>
                  <a:pt x="220" y="6917"/>
                  <a:pt x="213" y="6920"/>
                </a:cubicBezTo>
                <a:cubicBezTo>
                  <a:pt x="200" y="6930"/>
                  <a:pt x="186" y="6941"/>
                  <a:pt x="173" y="6951"/>
                </a:cubicBezTo>
                <a:cubicBezTo>
                  <a:pt x="160" y="6961"/>
                  <a:pt x="146" y="6970"/>
                  <a:pt x="133" y="6978"/>
                </a:cubicBezTo>
                <a:cubicBezTo>
                  <a:pt x="-29" y="7113"/>
                  <a:pt x="-55" y="7253"/>
                  <a:pt x="120" y="7398"/>
                </a:cubicBezTo>
                <a:cubicBezTo>
                  <a:pt x="404" y="7629"/>
                  <a:pt x="496" y="7843"/>
                  <a:pt x="887" y="8241"/>
                </a:cubicBezTo>
                <a:cubicBezTo>
                  <a:pt x="1265" y="8633"/>
                  <a:pt x="2144" y="9064"/>
                  <a:pt x="2805" y="9483"/>
                </a:cubicBezTo>
                <a:cubicBezTo>
                  <a:pt x="2967" y="9591"/>
                  <a:pt x="2952" y="9681"/>
                  <a:pt x="3370" y="9923"/>
                </a:cubicBezTo>
                <a:cubicBezTo>
                  <a:pt x="3599" y="10057"/>
                  <a:pt x="3990" y="10040"/>
                  <a:pt x="3842" y="10040"/>
                </a:cubicBezTo>
                <a:cubicBezTo>
                  <a:pt x="4024" y="10046"/>
                  <a:pt x="4207" y="10037"/>
                  <a:pt x="4342" y="10029"/>
                </a:cubicBezTo>
                <a:cubicBezTo>
                  <a:pt x="4477" y="10021"/>
                  <a:pt x="4565" y="10015"/>
                  <a:pt x="4559" y="10025"/>
                </a:cubicBezTo>
                <a:cubicBezTo>
                  <a:pt x="4356" y="10627"/>
                  <a:pt x="4462" y="11347"/>
                  <a:pt x="4719" y="12094"/>
                </a:cubicBezTo>
                <a:cubicBezTo>
                  <a:pt x="4867" y="12561"/>
                  <a:pt x="6511" y="15069"/>
                  <a:pt x="6565" y="15493"/>
                </a:cubicBezTo>
                <a:cubicBezTo>
                  <a:pt x="6646" y="16425"/>
                  <a:pt x="6835" y="17247"/>
                  <a:pt x="7050" y="17939"/>
                </a:cubicBezTo>
                <a:cubicBezTo>
                  <a:pt x="7264" y="18630"/>
                  <a:pt x="7504" y="19192"/>
                  <a:pt x="7686" y="19603"/>
                </a:cubicBezTo>
                <a:cubicBezTo>
                  <a:pt x="7713" y="19651"/>
                  <a:pt x="7768" y="19673"/>
                  <a:pt x="7808" y="19673"/>
                </a:cubicBezTo>
                <a:cubicBezTo>
                  <a:pt x="7835" y="19673"/>
                  <a:pt x="7903" y="19684"/>
                  <a:pt x="7998" y="19700"/>
                </a:cubicBezTo>
                <a:cubicBezTo>
                  <a:pt x="8011" y="20098"/>
                  <a:pt x="8306" y="20001"/>
                  <a:pt x="7821" y="20313"/>
                </a:cubicBezTo>
                <a:cubicBezTo>
                  <a:pt x="7538" y="20495"/>
                  <a:pt x="6878" y="20688"/>
                  <a:pt x="6932" y="21026"/>
                </a:cubicBezTo>
                <a:cubicBezTo>
                  <a:pt x="6938" y="21088"/>
                  <a:pt x="6959" y="21135"/>
                  <a:pt x="7008" y="21179"/>
                </a:cubicBezTo>
                <a:cubicBezTo>
                  <a:pt x="7057" y="21222"/>
                  <a:pt x="7135" y="21261"/>
                  <a:pt x="7256" y="21307"/>
                </a:cubicBezTo>
                <a:cubicBezTo>
                  <a:pt x="7580" y="21419"/>
                  <a:pt x="8699" y="21585"/>
                  <a:pt x="9751" y="21268"/>
                </a:cubicBezTo>
                <a:cubicBezTo>
                  <a:pt x="10291" y="21107"/>
                  <a:pt x="9951" y="20801"/>
                  <a:pt x="10059" y="20672"/>
                </a:cubicBezTo>
                <a:cubicBezTo>
                  <a:pt x="10207" y="20511"/>
                  <a:pt x="10409" y="20420"/>
                  <a:pt x="10274" y="20027"/>
                </a:cubicBezTo>
                <a:cubicBezTo>
                  <a:pt x="10247" y="19947"/>
                  <a:pt x="10155" y="19803"/>
                  <a:pt x="10101" y="19690"/>
                </a:cubicBezTo>
                <a:cubicBezTo>
                  <a:pt x="10169" y="19679"/>
                  <a:pt x="10229" y="19667"/>
                  <a:pt x="10272" y="19654"/>
                </a:cubicBezTo>
                <a:cubicBezTo>
                  <a:pt x="10315" y="19640"/>
                  <a:pt x="10341" y="19626"/>
                  <a:pt x="10341" y="19609"/>
                </a:cubicBezTo>
                <a:cubicBezTo>
                  <a:pt x="10355" y="19174"/>
                  <a:pt x="10369" y="18942"/>
                  <a:pt x="10329" y="18287"/>
                </a:cubicBezTo>
                <a:cubicBezTo>
                  <a:pt x="10288" y="17798"/>
                  <a:pt x="10303" y="17454"/>
                  <a:pt x="10236" y="16944"/>
                </a:cubicBezTo>
                <a:cubicBezTo>
                  <a:pt x="10169" y="16390"/>
                  <a:pt x="10074" y="16449"/>
                  <a:pt x="9966" y="15896"/>
                </a:cubicBezTo>
                <a:cubicBezTo>
                  <a:pt x="9926" y="15660"/>
                  <a:pt x="9883" y="15434"/>
                  <a:pt x="9937" y="15193"/>
                </a:cubicBezTo>
                <a:cubicBezTo>
                  <a:pt x="9943" y="15147"/>
                  <a:pt x="9971" y="14963"/>
                  <a:pt x="9998" y="14779"/>
                </a:cubicBezTo>
                <a:cubicBezTo>
                  <a:pt x="10025" y="14595"/>
                  <a:pt x="10052" y="14411"/>
                  <a:pt x="10059" y="14365"/>
                </a:cubicBezTo>
                <a:cubicBezTo>
                  <a:pt x="10072" y="13839"/>
                  <a:pt x="10097" y="13472"/>
                  <a:pt x="10134" y="13106"/>
                </a:cubicBezTo>
                <a:cubicBezTo>
                  <a:pt x="10172" y="12741"/>
                  <a:pt x="10223" y="12376"/>
                  <a:pt x="10291" y="11852"/>
                </a:cubicBezTo>
                <a:cubicBezTo>
                  <a:pt x="10318" y="11766"/>
                  <a:pt x="10437" y="11717"/>
                  <a:pt x="10531" y="11803"/>
                </a:cubicBezTo>
                <a:cubicBezTo>
                  <a:pt x="11273" y="12464"/>
                  <a:pt x="11623" y="12812"/>
                  <a:pt x="12217" y="13452"/>
                </a:cubicBezTo>
                <a:cubicBezTo>
                  <a:pt x="12689" y="13962"/>
                  <a:pt x="13851" y="15290"/>
                  <a:pt x="13932" y="15532"/>
                </a:cubicBezTo>
                <a:cubicBezTo>
                  <a:pt x="14067" y="15978"/>
                  <a:pt x="14268" y="16417"/>
                  <a:pt x="14430" y="16965"/>
                </a:cubicBezTo>
                <a:cubicBezTo>
                  <a:pt x="14726" y="17948"/>
                  <a:pt x="15753" y="19270"/>
                  <a:pt x="15888" y="19517"/>
                </a:cubicBezTo>
                <a:cubicBezTo>
                  <a:pt x="15915" y="19565"/>
                  <a:pt x="15928" y="19592"/>
                  <a:pt x="15968" y="19630"/>
                </a:cubicBezTo>
                <a:cubicBezTo>
                  <a:pt x="15975" y="19635"/>
                  <a:pt x="16008" y="19642"/>
                  <a:pt x="16060" y="19648"/>
                </a:cubicBezTo>
                <a:cubicBezTo>
                  <a:pt x="16112" y="19655"/>
                  <a:pt x="16182" y="19660"/>
                  <a:pt x="16263" y="19663"/>
                </a:cubicBezTo>
                <a:cubicBezTo>
                  <a:pt x="16317" y="19851"/>
                  <a:pt x="16330" y="20173"/>
                  <a:pt x="16006" y="20420"/>
                </a:cubicBezTo>
                <a:cubicBezTo>
                  <a:pt x="15723" y="20641"/>
                  <a:pt x="16208" y="20946"/>
                  <a:pt x="16208" y="20946"/>
                </a:cubicBezTo>
                <a:cubicBezTo>
                  <a:pt x="16357" y="20994"/>
                  <a:pt x="16515" y="21030"/>
                  <a:pt x="16692" y="21053"/>
                </a:cubicBezTo>
                <a:cubicBezTo>
                  <a:pt x="16869" y="21076"/>
                  <a:pt x="17065" y="21085"/>
                  <a:pt x="17287" y="21080"/>
                </a:cubicBezTo>
                <a:cubicBezTo>
                  <a:pt x="17503" y="21077"/>
                  <a:pt x="17679" y="21097"/>
                  <a:pt x="17812" y="21122"/>
                </a:cubicBezTo>
                <a:cubicBezTo>
                  <a:pt x="17946" y="21146"/>
                  <a:pt x="18037" y="21174"/>
                  <a:pt x="18084" y="21187"/>
                </a:cubicBezTo>
                <a:cubicBezTo>
                  <a:pt x="18111" y="21196"/>
                  <a:pt x="18131" y="21201"/>
                  <a:pt x="18144" y="21204"/>
                </a:cubicBezTo>
                <a:cubicBezTo>
                  <a:pt x="18158" y="21208"/>
                  <a:pt x="18164" y="21209"/>
                  <a:pt x="18164" y="21209"/>
                </a:cubicBezTo>
                <a:cubicBezTo>
                  <a:pt x="18164" y="21209"/>
                  <a:pt x="18495" y="21267"/>
                  <a:pt x="19011" y="21313"/>
                </a:cubicBezTo>
                <a:cubicBezTo>
                  <a:pt x="19528" y="21358"/>
                  <a:pt x="20229" y="21392"/>
                  <a:pt x="20971" y="21344"/>
                </a:cubicBezTo>
                <a:cubicBezTo>
                  <a:pt x="21288" y="21330"/>
                  <a:pt x="21464" y="21284"/>
                  <a:pt x="21504" y="21215"/>
                </a:cubicBezTo>
                <a:cubicBezTo>
                  <a:pt x="21545" y="21146"/>
                  <a:pt x="21451" y="21053"/>
                  <a:pt x="21228" y="20946"/>
                </a:cubicBezTo>
                <a:cubicBezTo>
                  <a:pt x="20567" y="20618"/>
                  <a:pt x="19799" y="20571"/>
                  <a:pt x="19475" y="20367"/>
                </a:cubicBezTo>
                <a:cubicBezTo>
                  <a:pt x="18881" y="19991"/>
                  <a:pt x="18517" y="19910"/>
                  <a:pt x="18396" y="19620"/>
                </a:cubicBezTo>
                <a:cubicBezTo>
                  <a:pt x="18477" y="19609"/>
                  <a:pt x="18541" y="19600"/>
                  <a:pt x="18585" y="19593"/>
                </a:cubicBezTo>
                <a:cubicBezTo>
                  <a:pt x="18629" y="19586"/>
                  <a:pt x="18653" y="19583"/>
                  <a:pt x="18653" y="19583"/>
                </a:cubicBezTo>
                <a:cubicBezTo>
                  <a:pt x="18653" y="19583"/>
                  <a:pt x="18570" y="19087"/>
                  <a:pt x="18476" y="18765"/>
                </a:cubicBezTo>
                <a:cubicBezTo>
                  <a:pt x="18233" y="17922"/>
                  <a:pt x="18152" y="17332"/>
                  <a:pt x="18071" y="16870"/>
                </a:cubicBezTo>
                <a:cubicBezTo>
                  <a:pt x="17936" y="16053"/>
                  <a:pt x="17463" y="15671"/>
                  <a:pt x="17355" y="15402"/>
                </a:cubicBezTo>
                <a:cubicBezTo>
                  <a:pt x="16950" y="14452"/>
                  <a:pt x="16788" y="14372"/>
                  <a:pt x="16546" y="13378"/>
                </a:cubicBezTo>
                <a:cubicBezTo>
                  <a:pt x="16505" y="13195"/>
                  <a:pt x="16316" y="11911"/>
                  <a:pt x="16006" y="11159"/>
                </a:cubicBezTo>
                <a:cubicBezTo>
                  <a:pt x="15831" y="10734"/>
                  <a:pt x="15496" y="10370"/>
                  <a:pt x="15226" y="9967"/>
                </a:cubicBezTo>
                <a:cubicBezTo>
                  <a:pt x="15267" y="10031"/>
                  <a:pt x="15300" y="10018"/>
                  <a:pt x="15360" y="9985"/>
                </a:cubicBezTo>
                <a:cubicBezTo>
                  <a:pt x="15421" y="9952"/>
                  <a:pt x="15508" y="9899"/>
                  <a:pt x="15656" y="9886"/>
                </a:cubicBezTo>
                <a:cubicBezTo>
                  <a:pt x="15980" y="9859"/>
                  <a:pt x="16209" y="9809"/>
                  <a:pt x="16403" y="9742"/>
                </a:cubicBezTo>
                <a:cubicBezTo>
                  <a:pt x="16597" y="9676"/>
                  <a:pt x="16755" y="9592"/>
                  <a:pt x="16938" y="9498"/>
                </a:cubicBezTo>
                <a:cubicBezTo>
                  <a:pt x="17828" y="9020"/>
                  <a:pt x="20432" y="7812"/>
                  <a:pt x="20836" y="7469"/>
                </a:cubicBezTo>
                <a:cubicBezTo>
                  <a:pt x="21012" y="7318"/>
                  <a:pt x="21320" y="7000"/>
                  <a:pt x="21334" y="6839"/>
                </a:cubicBezTo>
                <a:cubicBezTo>
                  <a:pt x="21347" y="6646"/>
                  <a:pt x="20850" y="6421"/>
                  <a:pt x="20701" y="6292"/>
                </a:cubicBezTo>
                <a:cubicBezTo>
                  <a:pt x="20499" y="6120"/>
                  <a:pt x="19998" y="5825"/>
                  <a:pt x="19715" y="5669"/>
                </a:cubicBezTo>
                <a:cubicBezTo>
                  <a:pt x="19000" y="5277"/>
                  <a:pt x="18638" y="5179"/>
                  <a:pt x="17599" y="4690"/>
                </a:cubicBezTo>
                <a:cubicBezTo>
                  <a:pt x="17437" y="4615"/>
                  <a:pt x="16684" y="4008"/>
                  <a:pt x="15955" y="3884"/>
                </a:cubicBezTo>
                <a:cubicBezTo>
                  <a:pt x="15618" y="3825"/>
                  <a:pt x="15142" y="3796"/>
                  <a:pt x="14750" y="3781"/>
                </a:cubicBezTo>
                <a:cubicBezTo>
                  <a:pt x="14358" y="3767"/>
                  <a:pt x="14050" y="3767"/>
                  <a:pt x="14050" y="3767"/>
                </a:cubicBezTo>
                <a:cubicBezTo>
                  <a:pt x="14199" y="3536"/>
                  <a:pt x="13701" y="3418"/>
                  <a:pt x="13701" y="3149"/>
                </a:cubicBezTo>
                <a:cubicBezTo>
                  <a:pt x="13701" y="2607"/>
                  <a:pt x="15145" y="2853"/>
                  <a:pt x="13810" y="1365"/>
                </a:cubicBezTo>
                <a:cubicBezTo>
                  <a:pt x="13743" y="1292"/>
                  <a:pt x="13641" y="1089"/>
                  <a:pt x="13443" y="877"/>
                </a:cubicBezTo>
                <a:cubicBezTo>
                  <a:pt x="13245" y="665"/>
                  <a:pt x="12951" y="444"/>
                  <a:pt x="12499" y="334"/>
                </a:cubicBezTo>
                <a:cubicBezTo>
                  <a:pt x="12439" y="318"/>
                  <a:pt x="12344" y="304"/>
                  <a:pt x="12253" y="289"/>
                </a:cubicBezTo>
                <a:cubicBezTo>
                  <a:pt x="12162" y="274"/>
                  <a:pt x="12074" y="258"/>
                  <a:pt x="12027" y="236"/>
                </a:cubicBezTo>
                <a:cubicBezTo>
                  <a:pt x="11865" y="172"/>
                  <a:pt x="11623" y="87"/>
                  <a:pt x="11285" y="38"/>
                </a:cubicBezTo>
                <a:cubicBezTo>
                  <a:pt x="11191" y="25"/>
                  <a:pt x="11033" y="9"/>
                  <a:pt x="10830" y="3"/>
                </a:cubicBezTo>
                <a:close/>
                <a:moveTo>
                  <a:pt x="15606" y="5645"/>
                </a:moveTo>
                <a:cubicBezTo>
                  <a:pt x="15739" y="5640"/>
                  <a:pt x="15889" y="5665"/>
                  <a:pt x="16061" y="5723"/>
                </a:cubicBezTo>
                <a:cubicBezTo>
                  <a:pt x="16830" y="5981"/>
                  <a:pt x="18923" y="6904"/>
                  <a:pt x="18923" y="7022"/>
                </a:cubicBezTo>
                <a:cubicBezTo>
                  <a:pt x="18923" y="7113"/>
                  <a:pt x="18599" y="7365"/>
                  <a:pt x="17911" y="7838"/>
                </a:cubicBezTo>
                <a:cubicBezTo>
                  <a:pt x="17453" y="8155"/>
                  <a:pt x="16994" y="8365"/>
                  <a:pt x="16360" y="8763"/>
                </a:cubicBezTo>
                <a:cubicBezTo>
                  <a:pt x="16340" y="8776"/>
                  <a:pt x="16265" y="8829"/>
                  <a:pt x="16160" y="8876"/>
                </a:cubicBezTo>
                <a:cubicBezTo>
                  <a:pt x="16055" y="8924"/>
                  <a:pt x="15920" y="8966"/>
                  <a:pt x="15778" y="8961"/>
                </a:cubicBezTo>
                <a:cubicBezTo>
                  <a:pt x="15778" y="8961"/>
                  <a:pt x="15389" y="8919"/>
                  <a:pt x="15011" y="8817"/>
                </a:cubicBezTo>
                <a:cubicBezTo>
                  <a:pt x="14661" y="8720"/>
                  <a:pt x="14270" y="8736"/>
                  <a:pt x="14270" y="8758"/>
                </a:cubicBezTo>
                <a:cubicBezTo>
                  <a:pt x="14270" y="8763"/>
                  <a:pt x="13905" y="8521"/>
                  <a:pt x="13932" y="8021"/>
                </a:cubicBezTo>
                <a:cubicBezTo>
                  <a:pt x="13973" y="7054"/>
                  <a:pt x="14361" y="6722"/>
                  <a:pt x="14645" y="6340"/>
                </a:cubicBezTo>
                <a:cubicBezTo>
                  <a:pt x="14948" y="5938"/>
                  <a:pt x="15205" y="5661"/>
                  <a:pt x="15606" y="5645"/>
                </a:cubicBezTo>
                <a:close/>
                <a:moveTo>
                  <a:pt x="5427" y="5887"/>
                </a:moveTo>
                <a:cubicBezTo>
                  <a:pt x="5577" y="5876"/>
                  <a:pt x="5722" y="5902"/>
                  <a:pt x="5756" y="6028"/>
                </a:cubicBezTo>
                <a:cubicBezTo>
                  <a:pt x="5783" y="6120"/>
                  <a:pt x="5866" y="6280"/>
                  <a:pt x="5920" y="6414"/>
                </a:cubicBezTo>
                <a:cubicBezTo>
                  <a:pt x="6095" y="6844"/>
                  <a:pt x="6403" y="6931"/>
                  <a:pt x="6430" y="7210"/>
                </a:cubicBezTo>
                <a:cubicBezTo>
                  <a:pt x="6565" y="8430"/>
                  <a:pt x="5840" y="8382"/>
                  <a:pt x="5435" y="8919"/>
                </a:cubicBezTo>
                <a:cubicBezTo>
                  <a:pt x="5402" y="8911"/>
                  <a:pt x="5226" y="8928"/>
                  <a:pt x="4987" y="8961"/>
                </a:cubicBezTo>
                <a:cubicBezTo>
                  <a:pt x="4747" y="8994"/>
                  <a:pt x="4444" y="9042"/>
                  <a:pt x="4154" y="9095"/>
                </a:cubicBezTo>
                <a:cubicBezTo>
                  <a:pt x="3439" y="8778"/>
                  <a:pt x="3086" y="7651"/>
                  <a:pt x="2573" y="7281"/>
                </a:cubicBezTo>
                <a:cubicBezTo>
                  <a:pt x="2304" y="7082"/>
                  <a:pt x="3182" y="6834"/>
                  <a:pt x="3829" y="6544"/>
                </a:cubicBezTo>
                <a:cubicBezTo>
                  <a:pt x="4328" y="6323"/>
                  <a:pt x="4542" y="6228"/>
                  <a:pt x="5081" y="5964"/>
                </a:cubicBezTo>
                <a:cubicBezTo>
                  <a:pt x="5122" y="5946"/>
                  <a:pt x="5277" y="5898"/>
                  <a:pt x="5427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11" name="Connection Line"/>
          <p:cNvSpPr/>
          <p:nvPr/>
        </p:nvSpPr>
        <p:spPr>
          <a:xfrm>
            <a:off x="6969759" y="5882640"/>
            <a:ext cx="10665461" cy="542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296"/>
                </a:move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ln w="12700">
            <a:solidFill>
              <a:srgbClr val="FF2600"/>
            </a:solidFill>
            <a:miter lim="400000"/>
            <a:headEnd type="triangle" len="sm"/>
          </a:ln>
        </p:spPr>
        <p:txBody>
          <a:bodyPr/>
          <a:lstStyle/>
          <a:p>
            <a:endParaRPr/>
          </a:p>
        </p:txBody>
      </p:sp>
      <p:sp>
        <p:nvSpPr>
          <p:cNvPr id="207" name="Grieta Política"/>
          <p:cNvSpPr txBox="1"/>
          <p:nvPr/>
        </p:nvSpPr>
        <p:spPr>
          <a:xfrm>
            <a:off x="10838660" y="4750621"/>
            <a:ext cx="2895911" cy="660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Grieta Política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820691" y="13109828"/>
            <a:ext cx="269749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7</a:t>
            </a:fld>
            <a:endParaRPr/>
          </a:p>
        </p:txBody>
      </p:sp>
      <p:sp>
        <p:nvSpPr>
          <p:cNvPr id="209" name="Woman"/>
          <p:cNvSpPr/>
          <p:nvPr/>
        </p:nvSpPr>
        <p:spPr>
          <a:xfrm>
            <a:off x="5228649" y="5570301"/>
            <a:ext cx="612263" cy="1532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10" name="Woman"/>
          <p:cNvSpPr/>
          <p:nvPr/>
        </p:nvSpPr>
        <p:spPr>
          <a:xfrm>
            <a:off x="18732318" y="5570301"/>
            <a:ext cx="612263" cy="1532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1" animBg="1" advAuto="0"/>
      <p:bldP spid="207" grpId="2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rietas entre Identidades Sociales"/>
          <p:cNvSpPr txBox="1">
            <a:spLocks noGrp="1"/>
          </p:cNvSpPr>
          <p:nvPr>
            <p:ph type="title" idx="4294967295"/>
          </p:nvPr>
        </p:nvSpPr>
        <p:spPr>
          <a:xfrm>
            <a:off x="9729200" y="1028290"/>
            <a:ext cx="6384565" cy="1131980"/>
          </a:xfrm>
          <a:prstGeom prst="rect">
            <a:avLst/>
          </a:prstGeom>
        </p:spPr>
        <p:txBody>
          <a:bodyPr/>
          <a:lstStyle>
            <a:lvl1pPr defTabSz="726440">
              <a:defRPr sz="3168" u="sng">
                <a:effectLst>
                  <a:outerShdw blurRad="44704" dist="33528" dir="5400000" rotWithShape="0">
                    <a:srgbClr val="000000"/>
                  </a:outerShdw>
                </a:effectLst>
              </a:defRPr>
            </a:lvl1pPr>
          </a:lstStyle>
          <a:p>
            <a:r>
              <a:t>Grietas entre Identidades Sociales</a:t>
            </a:r>
          </a:p>
        </p:txBody>
      </p:sp>
      <p:sp>
        <p:nvSpPr>
          <p:cNvPr id="214" name="Line"/>
          <p:cNvSpPr/>
          <p:nvPr/>
        </p:nvSpPr>
        <p:spPr>
          <a:xfrm>
            <a:off x="4949778" y="7469302"/>
            <a:ext cx="14484444" cy="1"/>
          </a:xfrm>
          <a:prstGeom prst="line">
            <a:avLst/>
          </a:prstGeom>
          <a:ln w="38100">
            <a:solidFill>
              <a:srgbClr val="FFFFFF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15" name="Preferencia Política"/>
          <p:cNvSpPr txBox="1"/>
          <p:nvPr/>
        </p:nvSpPr>
        <p:spPr>
          <a:xfrm>
            <a:off x="7216626" y="7627501"/>
            <a:ext cx="2746922" cy="498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Preferencia Política</a:t>
            </a:r>
          </a:p>
        </p:txBody>
      </p:sp>
      <p:sp>
        <p:nvSpPr>
          <p:cNvPr id="216" name="Derecha"/>
          <p:cNvSpPr txBox="1"/>
          <p:nvPr/>
        </p:nvSpPr>
        <p:spPr>
          <a:xfrm>
            <a:off x="20608785" y="7219842"/>
            <a:ext cx="1287811" cy="498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Derecha</a:t>
            </a:r>
          </a:p>
        </p:txBody>
      </p:sp>
      <p:sp>
        <p:nvSpPr>
          <p:cNvPr id="217" name="Izquierda"/>
          <p:cNvSpPr txBox="1"/>
          <p:nvPr/>
        </p:nvSpPr>
        <p:spPr>
          <a:xfrm>
            <a:off x="2624391" y="7259201"/>
            <a:ext cx="1444080" cy="498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Izquierda</a:t>
            </a:r>
          </a:p>
        </p:txBody>
      </p:sp>
      <p:sp>
        <p:nvSpPr>
          <p:cNvPr id="218" name="Shape"/>
          <p:cNvSpPr/>
          <p:nvPr/>
        </p:nvSpPr>
        <p:spPr>
          <a:xfrm>
            <a:off x="18807803" y="1576687"/>
            <a:ext cx="612264" cy="1532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4" h="21451" extrusionOk="0">
                <a:moveTo>
                  <a:pt x="10830" y="3"/>
                </a:moveTo>
                <a:cubicBezTo>
                  <a:pt x="10223" y="-15"/>
                  <a:pt x="9227" y="50"/>
                  <a:pt x="8428" y="485"/>
                </a:cubicBezTo>
                <a:cubicBezTo>
                  <a:pt x="7915" y="770"/>
                  <a:pt x="8038" y="989"/>
                  <a:pt x="7189" y="1709"/>
                </a:cubicBezTo>
                <a:cubicBezTo>
                  <a:pt x="6083" y="2649"/>
                  <a:pt x="7956" y="2821"/>
                  <a:pt x="6674" y="3320"/>
                </a:cubicBezTo>
                <a:cubicBezTo>
                  <a:pt x="6148" y="3525"/>
                  <a:pt x="6540" y="3869"/>
                  <a:pt x="6540" y="3869"/>
                </a:cubicBezTo>
                <a:cubicBezTo>
                  <a:pt x="6486" y="3877"/>
                  <a:pt x="6411" y="3880"/>
                  <a:pt x="6337" y="3883"/>
                </a:cubicBezTo>
                <a:cubicBezTo>
                  <a:pt x="6263" y="3885"/>
                  <a:pt x="6189" y="3888"/>
                  <a:pt x="6135" y="3896"/>
                </a:cubicBezTo>
                <a:cubicBezTo>
                  <a:pt x="5582" y="3950"/>
                  <a:pt x="4892" y="4024"/>
                  <a:pt x="4339" y="4395"/>
                </a:cubicBezTo>
                <a:cubicBezTo>
                  <a:pt x="3557" y="4916"/>
                  <a:pt x="1671" y="6006"/>
                  <a:pt x="255" y="6893"/>
                </a:cubicBezTo>
                <a:cubicBezTo>
                  <a:pt x="248" y="6898"/>
                  <a:pt x="241" y="6904"/>
                  <a:pt x="234" y="6908"/>
                </a:cubicBezTo>
                <a:cubicBezTo>
                  <a:pt x="227" y="6913"/>
                  <a:pt x="220" y="6917"/>
                  <a:pt x="213" y="6920"/>
                </a:cubicBezTo>
                <a:cubicBezTo>
                  <a:pt x="200" y="6930"/>
                  <a:pt x="186" y="6941"/>
                  <a:pt x="173" y="6951"/>
                </a:cubicBezTo>
                <a:cubicBezTo>
                  <a:pt x="160" y="6961"/>
                  <a:pt x="146" y="6970"/>
                  <a:pt x="133" y="6978"/>
                </a:cubicBezTo>
                <a:cubicBezTo>
                  <a:pt x="-29" y="7113"/>
                  <a:pt x="-55" y="7253"/>
                  <a:pt x="120" y="7398"/>
                </a:cubicBezTo>
                <a:cubicBezTo>
                  <a:pt x="404" y="7629"/>
                  <a:pt x="496" y="7843"/>
                  <a:pt x="887" y="8241"/>
                </a:cubicBezTo>
                <a:cubicBezTo>
                  <a:pt x="1265" y="8633"/>
                  <a:pt x="2144" y="9064"/>
                  <a:pt x="2805" y="9483"/>
                </a:cubicBezTo>
                <a:cubicBezTo>
                  <a:pt x="2967" y="9591"/>
                  <a:pt x="2952" y="9681"/>
                  <a:pt x="3370" y="9923"/>
                </a:cubicBezTo>
                <a:cubicBezTo>
                  <a:pt x="3599" y="10057"/>
                  <a:pt x="3990" y="10040"/>
                  <a:pt x="3842" y="10040"/>
                </a:cubicBezTo>
                <a:cubicBezTo>
                  <a:pt x="4024" y="10046"/>
                  <a:pt x="4207" y="10037"/>
                  <a:pt x="4342" y="10029"/>
                </a:cubicBezTo>
                <a:cubicBezTo>
                  <a:pt x="4477" y="10021"/>
                  <a:pt x="4565" y="10015"/>
                  <a:pt x="4559" y="10025"/>
                </a:cubicBezTo>
                <a:cubicBezTo>
                  <a:pt x="4356" y="10627"/>
                  <a:pt x="4462" y="11347"/>
                  <a:pt x="4719" y="12094"/>
                </a:cubicBezTo>
                <a:cubicBezTo>
                  <a:pt x="4867" y="12561"/>
                  <a:pt x="6511" y="15069"/>
                  <a:pt x="6565" y="15493"/>
                </a:cubicBezTo>
                <a:cubicBezTo>
                  <a:pt x="6646" y="16425"/>
                  <a:pt x="6835" y="17247"/>
                  <a:pt x="7050" y="17939"/>
                </a:cubicBezTo>
                <a:cubicBezTo>
                  <a:pt x="7264" y="18630"/>
                  <a:pt x="7504" y="19192"/>
                  <a:pt x="7686" y="19603"/>
                </a:cubicBezTo>
                <a:cubicBezTo>
                  <a:pt x="7713" y="19651"/>
                  <a:pt x="7768" y="19673"/>
                  <a:pt x="7808" y="19673"/>
                </a:cubicBezTo>
                <a:cubicBezTo>
                  <a:pt x="7835" y="19673"/>
                  <a:pt x="7903" y="19684"/>
                  <a:pt x="7998" y="19700"/>
                </a:cubicBezTo>
                <a:cubicBezTo>
                  <a:pt x="8011" y="20098"/>
                  <a:pt x="8306" y="20001"/>
                  <a:pt x="7821" y="20313"/>
                </a:cubicBezTo>
                <a:cubicBezTo>
                  <a:pt x="7538" y="20495"/>
                  <a:pt x="6878" y="20688"/>
                  <a:pt x="6932" y="21026"/>
                </a:cubicBezTo>
                <a:cubicBezTo>
                  <a:pt x="6938" y="21088"/>
                  <a:pt x="6959" y="21135"/>
                  <a:pt x="7008" y="21179"/>
                </a:cubicBezTo>
                <a:cubicBezTo>
                  <a:pt x="7057" y="21222"/>
                  <a:pt x="7135" y="21261"/>
                  <a:pt x="7256" y="21307"/>
                </a:cubicBezTo>
                <a:cubicBezTo>
                  <a:pt x="7580" y="21419"/>
                  <a:pt x="8699" y="21585"/>
                  <a:pt x="9751" y="21268"/>
                </a:cubicBezTo>
                <a:cubicBezTo>
                  <a:pt x="10291" y="21107"/>
                  <a:pt x="9951" y="20801"/>
                  <a:pt x="10059" y="20672"/>
                </a:cubicBezTo>
                <a:cubicBezTo>
                  <a:pt x="10207" y="20511"/>
                  <a:pt x="10409" y="20420"/>
                  <a:pt x="10274" y="20027"/>
                </a:cubicBezTo>
                <a:cubicBezTo>
                  <a:pt x="10247" y="19947"/>
                  <a:pt x="10155" y="19803"/>
                  <a:pt x="10101" y="19690"/>
                </a:cubicBezTo>
                <a:cubicBezTo>
                  <a:pt x="10169" y="19679"/>
                  <a:pt x="10229" y="19667"/>
                  <a:pt x="10272" y="19654"/>
                </a:cubicBezTo>
                <a:cubicBezTo>
                  <a:pt x="10315" y="19640"/>
                  <a:pt x="10341" y="19626"/>
                  <a:pt x="10341" y="19609"/>
                </a:cubicBezTo>
                <a:cubicBezTo>
                  <a:pt x="10355" y="19174"/>
                  <a:pt x="10369" y="18942"/>
                  <a:pt x="10329" y="18287"/>
                </a:cubicBezTo>
                <a:cubicBezTo>
                  <a:pt x="10288" y="17798"/>
                  <a:pt x="10303" y="17454"/>
                  <a:pt x="10236" y="16944"/>
                </a:cubicBezTo>
                <a:cubicBezTo>
                  <a:pt x="10169" y="16390"/>
                  <a:pt x="10074" y="16449"/>
                  <a:pt x="9966" y="15896"/>
                </a:cubicBezTo>
                <a:cubicBezTo>
                  <a:pt x="9926" y="15660"/>
                  <a:pt x="9883" y="15434"/>
                  <a:pt x="9937" y="15193"/>
                </a:cubicBezTo>
                <a:cubicBezTo>
                  <a:pt x="9943" y="15147"/>
                  <a:pt x="9971" y="14963"/>
                  <a:pt x="9998" y="14779"/>
                </a:cubicBezTo>
                <a:cubicBezTo>
                  <a:pt x="10025" y="14595"/>
                  <a:pt x="10052" y="14411"/>
                  <a:pt x="10059" y="14365"/>
                </a:cubicBezTo>
                <a:cubicBezTo>
                  <a:pt x="10072" y="13839"/>
                  <a:pt x="10097" y="13472"/>
                  <a:pt x="10134" y="13106"/>
                </a:cubicBezTo>
                <a:cubicBezTo>
                  <a:pt x="10172" y="12741"/>
                  <a:pt x="10223" y="12376"/>
                  <a:pt x="10291" y="11852"/>
                </a:cubicBezTo>
                <a:cubicBezTo>
                  <a:pt x="10318" y="11766"/>
                  <a:pt x="10437" y="11717"/>
                  <a:pt x="10531" y="11803"/>
                </a:cubicBezTo>
                <a:cubicBezTo>
                  <a:pt x="11273" y="12464"/>
                  <a:pt x="11623" y="12812"/>
                  <a:pt x="12217" y="13452"/>
                </a:cubicBezTo>
                <a:cubicBezTo>
                  <a:pt x="12689" y="13962"/>
                  <a:pt x="13851" y="15290"/>
                  <a:pt x="13932" y="15532"/>
                </a:cubicBezTo>
                <a:cubicBezTo>
                  <a:pt x="14067" y="15978"/>
                  <a:pt x="14268" y="16417"/>
                  <a:pt x="14430" y="16965"/>
                </a:cubicBezTo>
                <a:cubicBezTo>
                  <a:pt x="14726" y="17948"/>
                  <a:pt x="15753" y="19270"/>
                  <a:pt x="15888" y="19517"/>
                </a:cubicBezTo>
                <a:cubicBezTo>
                  <a:pt x="15915" y="19565"/>
                  <a:pt x="15928" y="19592"/>
                  <a:pt x="15968" y="19630"/>
                </a:cubicBezTo>
                <a:cubicBezTo>
                  <a:pt x="15975" y="19635"/>
                  <a:pt x="16008" y="19642"/>
                  <a:pt x="16060" y="19648"/>
                </a:cubicBezTo>
                <a:cubicBezTo>
                  <a:pt x="16112" y="19655"/>
                  <a:pt x="16182" y="19660"/>
                  <a:pt x="16263" y="19663"/>
                </a:cubicBezTo>
                <a:cubicBezTo>
                  <a:pt x="16317" y="19851"/>
                  <a:pt x="16330" y="20173"/>
                  <a:pt x="16006" y="20420"/>
                </a:cubicBezTo>
                <a:cubicBezTo>
                  <a:pt x="15723" y="20641"/>
                  <a:pt x="16208" y="20946"/>
                  <a:pt x="16208" y="20946"/>
                </a:cubicBezTo>
                <a:cubicBezTo>
                  <a:pt x="16357" y="20994"/>
                  <a:pt x="16515" y="21030"/>
                  <a:pt x="16692" y="21053"/>
                </a:cubicBezTo>
                <a:cubicBezTo>
                  <a:pt x="16869" y="21076"/>
                  <a:pt x="17065" y="21085"/>
                  <a:pt x="17287" y="21080"/>
                </a:cubicBezTo>
                <a:cubicBezTo>
                  <a:pt x="17503" y="21077"/>
                  <a:pt x="17679" y="21097"/>
                  <a:pt x="17812" y="21122"/>
                </a:cubicBezTo>
                <a:cubicBezTo>
                  <a:pt x="17946" y="21146"/>
                  <a:pt x="18037" y="21174"/>
                  <a:pt x="18084" y="21187"/>
                </a:cubicBezTo>
                <a:cubicBezTo>
                  <a:pt x="18111" y="21196"/>
                  <a:pt x="18131" y="21201"/>
                  <a:pt x="18144" y="21204"/>
                </a:cubicBezTo>
                <a:cubicBezTo>
                  <a:pt x="18158" y="21208"/>
                  <a:pt x="18164" y="21209"/>
                  <a:pt x="18164" y="21209"/>
                </a:cubicBezTo>
                <a:cubicBezTo>
                  <a:pt x="18164" y="21209"/>
                  <a:pt x="18495" y="21267"/>
                  <a:pt x="19011" y="21313"/>
                </a:cubicBezTo>
                <a:cubicBezTo>
                  <a:pt x="19528" y="21358"/>
                  <a:pt x="20229" y="21392"/>
                  <a:pt x="20971" y="21344"/>
                </a:cubicBezTo>
                <a:cubicBezTo>
                  <a:pt x="21288" y="21330"/>
                  <a:pt x="21464" y="21284"/>
                  <a:pt x="21504" y="21215"/>
                </a:cubicBezTo>
                <a:cubicBezTo>
                  <a:pt x="21545" y="21146"/>
                  <a:pt x="21451" y="21053"/>
                  <a:pt x="21228" y="20946"/>
                </a:cubicBezTo>
                <a:cubicBezTo>
                  <a:pt x="20567" y="20618"/>
                  <a:pt x="19799" y="20571"/>
                  <a:pt x="19475" y="20367"/>
                </a:cubicBezTo>
                <a:cubicBezTo>
                  <a:pt x="18881" y="19991"/>
                  <a:pt x="18517" y="19910"/>
                  <a:pt x="18396" y="19620"/>
                </a:cubicBezTo>
                <a:cubicBezTo>
                  <a:pt x="18477" y="19609"/>
                  <a:pt x="18541" y="19600"/>
                  <a:pt x="18585" y="19593"/>
                </a:cubicBezTo>
                <a:cubicBezTo>
                  <a:pt x="18629" y="19586"/>
                  <a:pt x="18653" y="19583"/>
                  <a:pt x="18653" y="19583"/>
                </a:cubicBezTo>
                <a:cubicBezTo>
                  <a:pt x="18653" y="19583"/>
                  <a:pt x="18570" y="19087"/>
                  <a:pt x="18476" y="18765"/>
                </a:cubicBezTo>
                <a:cubicBezTo>
                  <a:pt x="18233" y="17922"/>
                  <a:pt x="18152" y="17332"/>
                  <a:pt x="18071" y="16870"/>
                </a:cubicBezTo>
                <a:cubicBezTo>
                  <a:pt x="17936" y="16053"/>
                  <a:pt x="17463" y="15671"/>
                  <a:pt x="17355" y="15402"/>
                </a:cubicBezTo>
                <a:cubicBezTo>
                  <a:pt x="16950" y="14452"/>
                  <a:pt x="16788" y="14372"/>
                  <a:pt x="16546" y="13378"/>
                </a:cubicBezTo>
                <a:cubicBezTo>
                  <a:pt x="16505" y="13195"/>
                  <a:pt x="16316" y="11911"/>
                  <a:pt x="16006" y="11159"/>
                </a:cubicBezTo>
                <a:cubicBezTo>
                  <a:pt x="15831" y="10734"/>
                  <a:pt x="15496" y="10370"/>
                  <a:pt x="15226" y="9967"/>
                </a:cubicBezTo>
                <a:cubicBezTo>
                  <a:pt x="15267" y="10031"/>
                  <a:pt x="15300" y="10018"/>
                  <a:pt x="15360" y="9985"/>
                </a:cubicBezTo>
                <a:cubicBezTo>
                  <a:pt x="15421" y="9952"/>
                  <a:pt x="15508" y="9899"/>
                  <a:pt x="15656" y="9886"/>
                </a:cubicBezTo>
                <a:cubicBezTo>
                  <a:pt x="15980" y="9859"/>
                  <a:pt x="16209" y="9809"/>
                  <a:pt x="16403" y="9742"/>
                </a:cubicBezTo>
                <a:cubicBezTo>
                  <a:pt x="16597" y="9676"/>
                  <a:pt x="16755" y="9592"/>
                  <a:pt x="16938" y="9498"/>
                </a:cubicBezTo>
                <a:cubicBezTo>
                  <a:pt x="17828" y="9020"/>
                  <a:pt x="20432" y="7812"/>
                  <a:pt x="20836" y="7469"/>
                </a:cubicBezTo>
                <a:cubicBezTo>
                  <a:pt x="21012" y="7318"/>
                  <a:pt x="21320" y="7000"/>
                  <a:pt x="21334" y="6839"/>
                </a:cubicBezTo>
                <a:cubicBezTo>
                  <a:pt x="21347" y="6646"/>
                  <a:pt x="20850" y="6421"/>
                  <a:pt x="20701" y="6292"/>
                </a:cubicBezTo>
                <a:cubicBezTo>
                  <a:pt x="20499" y="6120"/>
                  <a:pt x="19998" y="5825"/>
                  <a:pt x="19715" y="5669"/>
                </a:cubicBezTo>
                <a:cubicBezTo>
                  <a:pt x="19000" y="5277"/>
                  <a:pt x="18638" y="5179"/>
                  <a:pt x="17599" y="4690"/>
                </a:cubicBezTo>
                <a:cubicBezTo>
                  <a:pt x="17437" y="4615"/>
                  <a:pt x="16684" y="4008"/>
                  <a:pt x="15955" y="3884"/>
                </a:cubicBezTo>
                <a:cubicBezTo>
                  <a:pt x="15618" y="3825"/>
                  <a:pt x="15142" y="3796"/>
                  <a:pt x="14750" y="3781"/>
                </a:cubicBezTo>
                <a:cubicBezTo>
                  <a:pt x="14358" y="3767"/>
                  <a:pt x="14050" y="3767"/>
                  <a:pt x="14050" y="3767"/>
                </a:cubicBezTo>
                <a:cubicBezTo>
                  <a:pt x="14199" y="3536"/>
                  <a:pt x="13701" y="3418"/>
                  <a:pt x="13701" y="3149"/>
                </a:cubicBezTo>
                <a:cubicBezTo>
                  <a:pt x="13701" y="2607"/>
                  <a:pt x="15145" y="2853"/>
                  <a:pt x="13810" y="1365"/>
                </a:cubicBezTo>
                <a:cubicBezTo>
                  <a:pt x="13743" y="1292"/>
                  <a:pt x="13641" y="1089"/>
                  <a:pt x="13443" y="877"/>
                </a:cubicBezTo>
                <a:cubicBezTo>
                  <a:pt x="13245" y="665"/>
                  <a:pt x="12951" y="444"/>
                  <a:pt x="12499" y="334"/>
                </a:cubicBezTo>
                <a:cubicBezTo>
                  <a:pt x="12439" y="318"/>
                  <a:pt x="12344" y="304"/>
                  <a:pt x="12253" y="289"/>
                </a:cubicBezTo>
                <a:cubicBezTo>
                  <a:pt x="12162" y="274"/>
                  <a:pt x="12074" y="258"/>
                  <a:pt x="12027" y="236"/>
                </a:cubicBezTo>
                <a:cubicBezTo>
                  <a:pt x="11865" y="172"/>
                  <a:pt x="11623" y="87"/>
                  <a:pt x="11285" y="38"/>
                </a:cubicBezTo>
                <a:cubicBezTo>
                  <a:pt x="11191" y="25"/>
                  <a:pt x="11033" y="9"/>
                  <a:pt x="10830" y="3"/>
                </a:cubicBezTo>
                <a:close/>
                <a:moveTo>
                  <a:pt x="15606" y="5645"/>
                </a:moveTo>
                <a:cubicBezTo>
                  <a:pt x="15739" y="5640"/>
                  <a:pt x="15889" y="5665"/>
                  <a:pt x="16061" y="5723"/>
                </a:cubicBezTo>
                <a:cubicBezTo>
                  <a:pt x="16830" y="5981"/>
                  <a:pt x="18923" y="6904"/>
                  <a:pt x="18923" y="7022"/>
                </a:cubicBezTo>
                <a:cubicBezTo>
                  <a:pt x="18923" y="7113"/>
                  <a:pt x="18599" y="7365"/>
                  <a:pt x="17911" y="7838"/>
                </a:cubicBezTo>
                <a:cubicBezTo>
                  <a:pt x="17453" y="8155"/>
                  <a:pt x="16994" y="8365"/>
                  <a:pt x="16360" y="8763"/>
                </a:cubicBezTo>
                <a:cubicBezTo>
                  <a:pt x="16340" y="8776"/>
                  <a:pt x="16265" y="8829"/>
                  <a:pt x="16160" y="8876"/>
                </a:cubicBezTo>
                <a:cubicBezTo>
                  <a:pt x="16055" y="8924"/>
                  <a:pt x="15920" y="8966"/>
                  <a:pt x="15778" y="8961"/>
                </a:cubicBezTo>
                <a:cubicBezTo>
                  <a:pt x="15778" y="8961"/>
                  <a:pt x="15389" y="8919"/>
                  <a:pt x="15011" y="8817"/>
                </a:cubicBezTo>
                <a:cubicBezTo>
                  <a:pt x="14661" y="8720"/>
                  <a:pt x="14270" y="8736"/>
                  <a:pt x="14270" y="8758"/>
                </a:cubicBezTo>
                <a:cubicBezTo>
                  <a:pt x="14270" y="8763"/>
                  <a:pt x="13905" y="8521"/>
                  <a:pt x="13932" y="8021"/>
                </a:cubicBezTo>
                <a:cubicBezTo>
                  <a:pt x="13973" y="7054"/>
                  <a:pt x="14361" y="6722"/>
                  <a:pt x="14645" y="6340"/>
                </a:cubicBezTo>
                <a:cubicBezTo>
                  <a:pt x="14948" y="5938"/>
                  <a:pt x="15205" y="5661"/>
                  <a:pt x="15606" y="5645"/>
                </a:cubicBezTo>
                <a:close/>
                <a:moveTo>
                  <a:pt x="5427" y="5887"/>
                </a:moveTo>
                <a:cubicBezTo>
                  <a:pt x="5577" y="5876"/>
                  <a:pt x="5722" y="5902"/>
                  <a:pt x="5756" y="6028"/>
                </a:cubicBezTo>
                <a:cubicBezTo>
                  <a:pt x="5783" y="6120"/>
                  <a:pt x="5866" y="6280"/>
                  <a:pt x="5920" y="6414"/>
                </a:cubicBezTo>
                <a:cubicBezTo>
                  <a:pt x="6095" y="6844"/>
                  <a:pt x="6403" y="6931"/>
                  <a:pt x="6430" y="7210"/>
                </a:cubicBezTo>
                <a:cubicBezTo>
                  <a:pt x="6565" y="8430"/>
                  <a:pt x="5840" y="8382"/>
                  <a:pt x="5435" y="8919"/>
                </a:cubicBezTo>
                <a:cubicBezTo>
                  <a:pt x="5402" y="8911"/>
                  <a:pt x="5226" y="8928"/>
                  <a:pt x="4987" y="8961"/>
                </a:cubicBezTo>
                <a:cubicBezTo>
                  <a:pt x="4747" y="8994"/>
                  <a:pt x="4444" y="9042"/>
                  <a:pt x="4154" y="9095"/>
                </a:cubicBezTo>
                <a:cubicBezTo>
                  <a:pt x="3439" y="8778"/>
                  <a:pt x="3086" y="7651"/>
                  <a:pt x="2573" y="7281"/>
                </a:cubicBezTo>
                <a:cubicBezTo>
                  <a:pt x="2304" y="7082"/>
                  <a:pt x="3182" y="6834"/>
                  <a:pt x="3829" y="6544"/>
                </a:cubicBezTo>
                <a:cubicBezTo>
                  <a:pt x="4328" y="6323"/>
                  <a:pt x="4542" y="6228"/>
                  <a:pt x="5081" y="5964"/>
                </a:cubicBezTo>
                <a:cubicBezTo>
                  <a:pt x="5122" y="5946"/>
                  <a:pt x="5277" y="5898"/>
                  <a:pt x="5427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42" name="Connection Line"/>
          <p:cNvSpPr/>
          <p:nvPr/>
        </p:nvSpPr>
        <p:spPr>
          <a:xfrm>
            <a:off x="6969759" y="5882640"/>
            <a:ext cx="10665461" cy="542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296"/>
                </a:move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ln w="38100">
            <a:solidFill>
              <a:srgbClr val="FF2600"/>
            </a:solidFill>
            <a:miter lim="400000"/>
            <a:headEnd type="triangle" len="sm"/>
          </a:ln>
        </p:spPr>
        <p:txBody>
          <a:bodyPr/>
          <a:lstStyle/>
          <a:p>
            <a:endParaRPr/>
          </a:p>
        </p:txBody>
      </p:sp>
      <p:sp>
        <p:nvSpPr>
          <p:cNvPr id="220" name="Grieta Política"/>
          <p:cNvSpPr txBox="1"/>
          <p:nvPr/>
        </p:nvSpPr>
        <p:spPr>
          <a:xfrm>
            <a:off x="9345762" y="5153069"/>
            <a:ext cx="2895911" cy="660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Grieta Política</a:t>
            </a:r>
          </a:p>
        </p:txBody>
      </p:sp>
      <p:sp>
        <p:nvSpPr>
          <p:cNvPr id="221" name="Line"/>
          <p:cNvSpPr/>
          <p:nvPr/>
        </p:nvSpPr>
        <p:spPr>
          <a:xfrm flipV="1">
            <a:off x="12338628" y="2532894"/>
            <a:ext cx="1" cy="9872818"/>
          </a:xfrm>
          <a:prstGeom prst="line">
            <a:avLst/>
          </a:prstGeom>
          <a:ln w="38100">
            <a:solidFill>
              <a:srgbClr val="FFFFFF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22" name="Identidad Regional"/>
          <p:cNvSpPr txBox="1"/>
          <p:nvPr/>
        </p:nvSpPr>
        <p:spPr>
          <a:xfrm rot="16200000">
            <a:off x="10348621" y="9926090"/>
            <a:ext cx="2738885" cy="498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Identidad Regional</a:t>
            </a:r>
          </a:p>
        </p:txBody>
      </p:sp>
      <p:sp>
        <p:nvSpPr>
          <p:cNvPr id="223" name="Norte"/>
          <p:cNvSpPr txBox="1"/>
          <p:nvPr/>
        </p:nvSpPr>
        <p:spPr>
          <a:xfrm>
            <a:off x="13115157" y="2277076"/>
            <a:ext cx="936577" cy="498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Norte</a:t>
            </a:r>
          </a:p>
        </p:txBody>
      </p:sp>
      <p:sp>
        <p:nvSpPr>
          <p:cNvPr id="224" name="Sud"/>
          <p:cNvSpPr txBox="1"/>
          <p:nvPr/>
        </p:nvSpPr>
        <p:spPr>
          <a:xfrm>
            <a:off x="13263018" y="12333033"/>
            <a:ext cx="640855" cy="498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Sud</a:t>
            </a:r>
          </a:p>
        </p:txBody>
      </p:sp>
      <p:sp>
        <p:nvSpPr>
          <p:cNvPr id="225" name="Shape"/>
          <p:cNvSpPr/>
          <p:nvPr/>
        </p:nvSpPr>
        <p:spPr>
          <a:xfrm>
            <a:off x="18102944" y="1576687"/>
            <a:ext cx="612263" cy="1532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4" h="21451" extrusionOk="0">
                <a:moveTo>
                  <a:pt x="10830" y="3"/>
                </a:moveTo>
                <a:cubicBezTo>
                  <a:pt x="10223" y="-15"/>
                  <a:pt x="9227" y="50"/>
                  <a:pt x="8428" y="485"/>
                </a:cubicBezTo>
                <a:cubicBezTo>
                  <a:pt x="7915" y="770"/>
                  <a:pt x="8038" y="989"/>
                  <a:pt x="7189" y="1709"/>
                </a:cubicBezTo>
                <a:cubicBezTo>
                  <a:pt x="6083" y="2649"/>
                  <a:pt x="7956" y="2821"/>
                  <a:pt x="6674" y="3320"/>
                </a:cubicBezTo>
                <a:cubicBezTo>
                  <a:pt x="6148" y="3525"/>
                  <a:pt x="6540" y="3869"/>
                  <a:pt x="6540" y="3869"/>
                </a:cubicBezTo>
                <a:cubicBezTo>
                  <a:pt x="6486" y="3877"/>
                  <a:pt x="6411" y="3880"/>
                  <a:pt x="6337" y="3883"/>
                </a:cubicBezTo>
                <a:cubicBezTo>
                  <a:pt x="6263" y="3885"/>
                  <a:pt x="6189" y="3888"/>
                  <a:pt x="6135" y="3896"/>
                </a:cubicBezTo>
                <a:cubicBezTo>
                  <a:pt x="5582" y="3950"/>
                  <a:pt x="4892" y="4024"/>
                  <a:pt x="4339" y="4395"/>
                </a:cubicBezTo>
                <a:cubicBezTo>
                  <a:pt x="3557" y="4916"/>
                  <a:pt x="1671" y="6006"/>
                  <a:pt x="255" y="6893"/>
                </a:cubicBezTo>
                <a:cubicBezTo>
                  <a:pt x="248" y="6898"/>
                  <a:pt x="241" y="6904"/>
                  <a:pt x="234" y="6908"/>
                </a:cubicBezTo>
                <a:cubicBezTo>
                  <a:pt x="227" y="6913"/>
                  <a:pt x="220" y="6917"/>
                  <a:pt x="213" y="6920"/>
                </a:cubicBezTo>
                <a:cubicBezTo>
                  <a:pt x="200" y="6930"/>
                  <a:pt x="186" y="6941"/>
                  <a:pt x="173" y="6951"/>
                </a:cubicBezTo>
                <a:cubicBezTo>
                  <a:pt x="160" y="6961"/>
                  <a:pt x="146" y="6970"/>
                  <a:pt x="133" y="6978"/>
                </a:cubicBezTo>
                <a:cubicBezTo>
                  <a:pt x="-29" y="7113"/>
                  <a:pt x="-55" y="7253"/>
                  <a:pt x="120" y="7398"/>
                </a:cubicBezTo>
                <a:cubicBezTo>
                  <a:pt x="404" y="7629"/>
                  <a:pt x="496" y="7843"/>
                  <a:pt x="887" y="8241"/>
                </a:cubicBezTo>
                <a:cubicBezTo>
                  <a:pt x="1265" y="8633"/>
                  <a:pt x="2144" y="9064"/>
                  <a:pt x="2805" y="9483"/>
                </a:cubicBezTo>
                <a:cubicBezTo>
                  <a:pt x="2967" y="9591"/>
                  <a:pt x="2952" y="9681"/>
                  <a:pt x="3370" y="9923"/>
                </a:cubicBezTo>
                <a:cubicBezTo>
                  <a:pt x="3599" y="10057"/>
                  <a:pt x="3990" y="10040"/>
                  <a:pt x="3842" y="10040"/>
                </a:cubicBezTo>
                <a:cubicBezTo>
                  <a:pt x="4024" y="10046"/>
                  <a:pt x="4207" y="10037"/>
                  <a:pt x="4342" y="10029"/>
                </a:cubicBezTo>
                <a:cubicBezTo>
                  <a:pt x="4477" y="10021"/>
                  <a:pt x="4565" y="10015"/>
                  <a:pt x="4559" y="10025"/>
                </a:cubicBezTo>
                <a:cubicBezTo>
                  <a:pt x="4356" y="10627"/>
                  <a:pt x="4462" y="11347"/>
                  <a:pt x="4719" y="12094"/>
                </a:cubicBezTo>
                <a:cubicBezTo>
                  <a:pt x="4867" y="12561"/>
                  <a:pt x="6511" y="15069"/>
                  <a:pt x="6565" y="15493"/>
                </a:cubicBezTo>
                <a:cubicBezTo>
                  <a:pt x="6646" y="16425"/>
                  <a:pt x="6835" y="17247"/>
                  <a:pt x="7050" y="17939"/>
                </a:cubicBezTo>
                <a:cubicBezTo>
                  <a:pt x="7264" y="18630"/>
                  <a:pt x="7504" y="19192"/>
                  <a:pt x="7686" y="19603"/>
                </a:cubicBezTo>
                <a:cubicBezTo>
                  <a:pt x="7713" y="19651"/>
                  <a:pt x="7768" y="19673"/>
                  <a:pt x="7808" y="19673"/>
                </a:cubicBezTo>
                <a:cubicBezTo>
                  <a:pt x="7835" y="19673"/>
                  <a:pt x="7903" y="19684"/>
                  <a:pt x="7998" y="19700"/>
                </a:cubicBezTo>
                <a:cubicBezTo>
                  <a:pt x="8011" y="20098"/>
                  <a:pt x="8306" y="20001"/>
                  <a:pt x="7821" y="20313"/>
                </a:cubicBezTo>
                <a:cubicBezTo>
                  <a:pt x="7538" y="20495"/>
                  <a:pt x="6878" y="20688"/>
                  <a:pt x="6932" y="21026"/>
                </a:cubicBezTo>
                <a:cubicBezTo>
                  <a:pt x="6938" y="21088"/>
                  <a:pt x="6959" y="21135"/>
                  <a:pt x="7008" y="21179"/>
                </a:cubicBezTo>
                <a:cubicBezTo>
                  <a:pt x="7057" y="21222"/>
                  <a:pt x="7135" y="21261"/>
                  <a:pt x="7256" y="21307"/>
                </a:cubicBezTo>
                <a:cubicBezTo>
                  <a:pt x="7580" y="21419"/>
                  <a:pt x="8699" y="21585"/>
                  <a:pt x="9751" y="21268"/>
                </a:cubicBezTo>
                <a:cubicBezTo>
                  <a:pt x="10291" y="21107"/>
                  <a:pt x="9951" y="20801"/>
                  <a:pt x="10059" y="20672"/>
                </a:cubicBezTo>
                <a:cubicBezTo>
                  <a:pt x="10207" y="20511"/>
                  <a:pt x="10409" y="20420"/>
                  <a:pt x="10274" y="20027"/>
                </a:cubicBezTo>
                <a:cubicBezTo>
                  <a:pt x="10247" y="19947"/>
                  <a:pt x="10155" y="19803"/>
                  <a:pt x="10101" y="19690"/>
                </a:cubicBezTo>
                <a:cubicBezTo>
                  <a:pt x="10169" y="19679"/>
                  <a:pt x="10229" y="19667"/>
                  <a:pt x="10272" y="19654"/>
                </a:cubicBezTo>
                <a:cubicBezTo>
                  <a:pt x="10315" y="19640"/>
                  <a:pt x="10341" y="19626"/>
                  <a:pt x="10341" y="19609"/>
                </a:cubicBezTo>
                <a:cubicBezTo>
                  <a:pt x="10355" y="19174"/>
                  <a:pt x="10369" y="18942"/>
                  <a:pt x="10329" y="18287"/>
                </a:cubicBezTo>
                <a:cubicBezTo>
                  <a:pt x="10288" y="17798"/>
                  <a:pt x="10303" y="17454"/>
                  <a:pt x="10236" y="16944"/>
                </a:cubicBezTo>
                <a:cubicBezTo>
                  <a:pt x="10169" y="16390"/>
                  <a:pt x="10074" y="16449"/>
                  <a:pt x="9966" y="15896"/>
                </a:cubicBezTo>
                <a:cubicBezTo>
                  <a:pt x="9926" y="15660"/>
                  <a:pt x="9883" y="15434"/>
                  <a:pt x="9937" y="15193"/>
                </a:cubicBezTo>
                <a:cubicBezTo>
                  <a:pt x="9943" y="15147"/>
                  <a:pt x="9971" y="14963"/>
                  <a:pt x="9998" y="14779"/>
                </a:cubicBezTo>
                <a:cubicBezTo>
                  <a:pt x="10025" y="14595"/>
                  <a:pt x="10052" y="14411"/>
                  <a:pt x="10059" y="14365"/>
                </a:cubicBezTo>
                <a:cubicBezTo>
                  <a:pt x="10072" y="13839"/>
                  <a:pt x="10097" y="13472"/>
                  <a:pt x="10134" y="13106"/>
                </a:cubicBezTo>
                <a:cubicBezTo>
                  <a:pt x="10172" y="12741"/>
                  <a:pt x="10223" y="12376"/>
                  <a:pt x="10291" y="11852"/>
                </a:cubicBezTo>
                <a:cubicBezTo>
                  <a:pt x="10318" y="11766"/>
                  <a:pt x="10437" y="11717"/>
                  <a:pt x="10531" y="11803"/>
                </a:cubicBezTo>
                <a:cubicBezTo>
                  <a:pt x="11273" y="12464"/>
                  <a:pt x="11623" y="12812"/>
                  <a:pt x="12217" y="13452"/>
                </a:cubicBezTo>
                <a:cubicBezTo>
                  <a:pt x="12689" y="13962"/>
                  <a:pt x="13851" y="15290"/>
                  <a:pt x="13932" y="15532"/>
                </a:cubicBezTo>
                <a:cubicBezTo>
                  <a:pt x="14067" y="15978"/>
                  <a:pt x="14268" y="16417"/>
                  <a:pt x="14430" y="16965"/>
                </a:cubicBezTo>
                <a:cubicBezTo>
                  <a:pt x="14726" y="17948"/>
                  <a:pt x="15753" y="19270"/>
                  <a:pt x="15888" y="19517"/>
                </a:cubicBezTo>
                <a:cubicBezTo>
                  <a:pt x="15915" y="19565"/>
                  <a:pt x="15928" y="19592"/>
                  <a:pt x="15968" y="19630"/>
                </a:cubicBezTo>
                <a:cubicBezTo>
                  <a:pt x="15975" y="19635"/>
                  <a:pt x="16008" y="19642"/>
                  <a:pt x="16060" y="19648"/>
                </a:cubicBezTo>
                <a:cubicBezTo>
                  <a:pt x="16112" y="19655"/>
                  <a:pt x="16182" y="19660"/>
                  <a:pt x="16263" y="19663"/>
                </a:cubicBezTo>
                <a:cubicBezTo>
                  <a:pt x="16317" y="19851"/>
                  <a:pt x="16330" y="20173"/>
                  <a:pt x="16006" y="20420"/>
                </a:cubicBezTo>
                <a:cubicBezTo>
                  <a:pt x="15723" y="20641"/>
                  <a:pt x="16208" y="20946"/>
                  <a:pt x="16208" y="20946"/>
                </a:cubicBezTo>
                <a:cubicBezTo>
                  <a:pt x="16357" y="20994"/>
                  <a:pt x="16515" y="21030"/>
                  <a:pt x="16692" y="21053"/>
                </a:cubicBezTo>
                <a:cubicBezTo>
                  <a:pt x="16869" y="21076"/>
                  <a:pt x="17065" y="21085"/>
                  <a:pt x="17287" y="21080"/>
                </a:cubicBezTo>
                <a:cubicBezTo>
                  <a:pt x="17503" y="21077"/>
                  <a:pt x="17679" y="21097"/>
                  <a:pt x="17812" y="21122"/>
                </a:cubicBezTo>
                <a:cubicBezTo>
                  <a:pt x="17946" y="21146"/>
                  <a:pt x="18037" y="21174"/>
                  <a:pt x="18084" y="21187"/>
                </a:cubicBezTo>
                <a:cubicBezTo>
                  <a:pt x="18111" y="21196"/>
                  <a:pt x="18131" y="21201"/>
                  <a:pt x="18144" y="21204"/>
                </a:cubicBezTo>
                <a:cubicBezTo>
                  <a:pt x="18158" y="21208"/>
                  <a:pt x="18164" y="21209"/>
                  <a:pt x="18164" y="21209"/>
                </a:cubicBezTo>
                <a:cubicBezTo>
                  <a:pt x="18164" y="21209"/>
                  <a:pt x="18495" y="21267"/>
                  <a:pt x="19011" y="21313"/>
                </a:cubicBezTo>
                <a:cubicBezTo>
                  <a:pt x="19528" y="21358"/>
                  <a:pt x="20229" y="21392"/>
                  <a:pt x="20971" y="21344"/>
                </a:cubicBezTo>
                <a:cubicBezTo>
                  <a:pt x="21288" y="21330"/>
                  <a:pt x="21464" y="21284"/>
                  <a:pt x="21504" y="21215"/>
                </a:cubicBezTo>
                <a:cubicBezTo>
                  <a:pt x="21545" y="21146"/>
                  <a:pt x="21451" y="21053"/>
                  <a:pt x="21228" y="20946"/>
                </a:cubicBezTo>
                <a:cubicBezTo>
                  <a:pt x="20567" y="20618"/>
                  <a:pt x="19799" y="20571"/>
                  <a:pt x="19475" y="20367"/>
                </a:cubicBezTo>
                <a:cubicBezTo>
                  <a:pt x="18881" y="19991"/>
                  <a:pt x="18517" y="19910"/>
                  <a:pt x="18396" y="19620"/>
                </a:cubicBezTo>
                <a:cubicBezTo>
                  <a:pt x="18477" y="19609"/>
                  <a:pt x="18541" y="19600"/>
                  <a:pt x="18585" y="19593"/>
                </a:cubicBezTo>
                <a:cubicBezTo>
                  <a:pt x="18629" y="19586"/>
                  <a:pt x="18653" y="19583"/>
                  <a:pt x="18653" y="19583"/>
                </a:cubicBezTo>
                <a:cubicBezTo>
                  <a:pt x="18653" y="19583"/>
                  <a:pt x="18570" y="19087"/>
                  <a:pt x="18476" y="18765"/>
                </a:cubicBezTo>
                <a:cubicBezTo>
                  <a:pt x="18233" y="17922"/>
                  <a:pt x="18152" y="17332"/>
                  <a:pt x="18071" y="16870"/>
                </a:cubicBezTo>
                <a:cubicBezTo>
                  <a:pt x="17936" y="16053"/>
                  <a:pt x="17463" y="15671"/>
                  <a:pt x="17355" y="15402"/>
                </a:cubicBezTo>
                <a:cubicBezTo>
                  <a:pt x="16950" y="14452"/>
                  <a:pt x="16788" y="14372"/>
                  <a:pt x="16546" y="13378"/>
                </a:cubicBezTo>
                <a:cubicBezTo>
                  <a:pt x="16505" y="13195"/>
                  <a:pt x="16316" y="11911"/>
                  <a:pt x="16006" y="11159"/>
                </a:cubicBezTo>
                <a:cubicBezTo>
                  <a:pt x="15831" y="10734"/>
                  <a:pt x="15496" y="10370"/>
                  <a:pt x="15226" y="9967"/>
                </a:cubicBezTo>
                <a:cubicBezTo>
                  <a:pt x="15267" y="10031"/>
                  <a:pt x="15300" y="10018"/>
                  <a:pt x="15360" y="9985"/>
                </a:cubicBezTo>
                <a:cubicBezTo>
                  <a:pt x="15421" y="9952"/>
                  <a:pt x="15508" y="9899"/>
                  <a:pt x="15656" y="9886"/>
                </a:cubicBezTo>
                <a:cubicBezTo>
                  <a:pt x="15980" y="9859"/>
                  <a:pt x="16209" y="9809"/>
                  <a:pt x="16403" y="9742"/>
                </a:cubicBezTo>
                <a:cubicBezTo>
                  <a:pt x="16597" y="9676"/>
                  <a:pt x="16755" y="9592"/>
                  <a:pt x="16938" y="9498"/>
                </a:cubicBezTo>
                <a:cubicBezTo>
                  <a:pt x="17828" y="9020"/>
                  <a:pt x="20432" y="7812"/>
                  <a:pt x="20836" y="7469"/>
                </a:cubicBezTo>
                <a:cubicBezTo>
                  <a:pt x="21012" y="7318"/>
                  <a:pt x="21320" y="7000"/>
                  <a:pt x="21334" y="6839"/>
                </a:cubicBezTo>
                <a:cubicBezTo>
                  <a:pt x="21347" y="6646"/>
                  <a:pt x="20850" y="6421"/>
                  <a:pt x="20701" y="6292"/>
                </a:cubicBezTo>
                <a:cubicBezTo>
                  <a:pt x="20499" y="6120"/>
                  <a:pt x="19998" y="5825"/>
                  <a:pt x="19715" y="5669"/>
                </a:cubicBezTo>
                <a:cubicBezTo>
                  <a:pt x="19000" y="5277"/>
                  <a:pt x="18638" y="5179"/>
                  <a:pt x="17599" y="4690"/>
                </a:cubicBezTo>
                <a:cubicBezTo>
                  <a:pt x="17437" y="4615"/>
                  <a:pt x="16684" y="4008"/>
                  <a:pt x="15955" y="3884"/>
                </a:cubicBezTo>
                <a:cubicBezTo>
                  <a:pt x="15618" y="3825"/>
                  <a:pt x="15142" y="3796"/>
                  <a:pt x="14750" y="3781"/>
                </a:cubicBezTo>
                <a:cubicBezTo>
                  <a:pt x="14358" y="3767"/>
                  <a:pt x="14050" y="3767"/>
                  <a:pt x="14050" y="3767"/>
                </a:cubicBezTo>
                <a:cubicBezTo>
                  <a:pt x="14199" y="3536"/>
                  <a:pt x="13701" y="3418"/>
                  <a:pt x="13701" y="3149"/>
                </a:cubicBezTo>
                <a:cubicBezTo>
                  <a:pt x="13701" y="2607"/>
                  <a:pt x="15145" y="2853"/>
                  <a:pt x="13810" y="1365"/>
                </a:cubicBezTo>
                <a:cubicBezTo>
                  <a:pt x="13743" y="1292"/>
                  <a:pt x="13641" y="1089"/>
                  <a:pt x="13443" y="877"/>
                </a:cubicBezTo>
                <a:cubicBezTo>
                  <a:pt x="13245" y="665"/>
                  <a:pt x="12951" y="444"/>
                  <a:pt x="12499" y="334"/>
                </a:cubicBezTo>
                <a:cubicBezTo>
                  <a:pt x="12439" y="318"/>
                  <a:pt x="12344" y="304"/>
                  <a:pt x="12253" y="289"/>
                </a:cubicBezTo>
                <a:cubicBezTo>
                  <a:pt x="12162" y="274"/>
                  <a:pt x="12074" y="258"/>
                  <a:pt x="12027" y="236"/>
                </a:cubicBezTo>
                <a:cubicBezTo>
                  <a:pt x="11865" y="172"/>
                  <a:pt x="11623" y="87"/>
                  <a:pt x="11285" y="38"/>
                </a:cubicBezTo>
                <a:cubicBezTo>
                  <a:pt x="11191" y="25"/>
                  <a:pt x="11033" y="9"/>
                  <a:pt x="10830" y="3"/>
                </a:cubicBezTo>
                <a:close/>
                <a:moveTo>
                  <a:pt x="15606" y="5645"/>
                </a:moveTo>
                <a:cubicBezTo>
                  <a:pt x="15739" y="5640"/>
                  <a:pt x="15889" y="5665"/>
                  <a:pt x="16061" y="5723"/>
                </a:cubicBezTo>
                <a:cubicBezTo>
                  <a:pt x="16830" y="5981"/>
                  <a:pt x="18923" y="6904"/>
                  <a:pt x="18923" y="7022"/>
                </a:cubicBezTo>
                <a:cubicBezTo>
                  <a:pt x="18923" y="7113"/>
                  <a:pt x="18599" y="7365"/>
                  <a:pt x="17911" y="7838"/>
                </a:cubicBezTo>
                <a:cubicBezTo>
                  <a:pt x="17453" y="8155"/>
                  <a:pt x="16994" y="8365"/>
                  <a:pt x="16360" y="8763"/>
                </a:cubicBezTo>
                <a:cubicBezTo>
                  <a:pt x="16340" y="8776"/>
                  <a:pt x="16265" y="8829"/>
                  <a:pt x="16160" y="8876"/>
                </a:cubicBezTo>
                <a:cubicBezTo>
                  <a:pt x="16055" y="8924"/>
                  <a:pt x="15920" y="8966"/>
                  <a:pt x="15778" y="8961"/>
                </a:cubicBezTo>
                <a:cubicBezTo>
                  <a:pt x="15778" y="8961"/>
                  <a:pt x="15389" y="8919"/>
                  <a:pt x="15011" y="8817"/>
                </a:cubicBezTo>
                <a:cubicBezTo>
                  <a:pt x="14661" y="8720"/>
                  <a:pt x="14270" y="8736"/>
                  <a:pt x="14270" y="8758"/>
                </a:cubicBezTo>
                <a:cubicBezTo>
                  <a:pt x="14270" y="8763"/>
                  <a:pt x="13905" y="8521"/>
                  <a:pt x="13932" y="8021"/>
                </a:cubicBezTo>
                <a:cubicBezTo>
                  <a:pt x="13973" y="7054"/>
                  <a:pt x="14361" y="6722"/>
                  <a:pt x="14645" y="6340"/>
                </a:cubicBezTo>
                <a:cubicBezTo>
                  <a:pt x="14948" y="5938"/>
                  <a:pt x="15205" y="5661"/>
                  <a:pt x="15606" y="5645"/>
                </a:cubicBezTo>
                <a:close/>
                <a:moveTo>
                  <a:pt x="5427" y="5887"/>
                </a:moveTo>
                <a:cubicBezTo>
                  <a:pt x="5577" y="5876"/>
                  <a:pt x="5722" y="5902"/>
                  <a:pt x="5756" y="6028"/>
                </a:cubicBezTo>
                <a:cubicBezTo>
                  <a:pt x="5783" y="6120"/>
                  <a:pt x="5866" y="6280"/>
                  <a:pt x="5920" y="6414"/>
                </a:cubicBezTo>
                <a:cubicBezTo>
                  <a:pt x="6095" y="6844"/>
                  <a:pt x="6403" y="6931"/>
                  <a:pt x="6430" y="7210"/>
                </a:cubicBezTo>
                <a:cubicBezTo>
                  <a:pt x="6565" y="8430"/>
                  <a:pt x="5840" y="8382"/>
                  <a:pt x="5435" y="8919"/>
                </a:cubicBezTo>
                <a:cubicBezTo>
                  <a:pt x="5402" y="8911"/>
                  <a:pt x="5226" y="8928"/>
                  <a:pt x="4987" y="8961"/>
                </a:cubicBezTo>
                <a:cubicBezTo>
                  <a:pt x="4747" y="8994"/>
                  <a:pt x="4444" y="9042"/>
                  <a:pt x="4154" y="9095"/>
                </a:cubicBezTo>
                <a:cubicBezTo>
                  <a:pt x="3439" y="8778"/>
                  <a:pt x="3086" y="7651"/>
                  <a:pt x="2573" y="7281"/>
                </a:cubicBezTo>
                <a:cubicBezTo>
                  <a:pt x="2304" y="7082"/>
                  <a:pt x="3182" y="6834"/>
                  <a:pt x="3829" y="6544"/>
                </a:cubicBezTo>
                <a:cubicBezTo>
                  <a:pt x="4328" y="6323"/>
                  <a:pt x="4542" y="6228"/>
                  <a:pt x="5081" y="5964"/>
                </a:cubicBezTo>
                <a:cubicBezTo>
                  <a:pt x="5122" y="5946"/>
                  <a:pt x="5277" y="5898"/>
                  <a:pt x="5427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43" name="Connection Line"/>
          <p:cNvSpPr/>
          <p:nvPr/>
        </p:nvSpPr>
        <p:spPr>
          <a:xfrm>
            <a:off x="6861026" y="2704665"/>
            <a:ext cx="10779757" cy="8745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6293" y="13022"/>
                  <a:pt x="13493" y="5822"/>
                  <a:pt x="21600" y="0"/>
                </a:cubicBezTo>
              </a:path>
            </a:pathLst>
          </a:custGeom>
          <a:ln w="38100">
            <a:solidFill>
              <a:srgbClr val="FF2600"/>
            </a:solidFill>
            <a:miter lim="400000"/>
          </a:ln>
        </p:spPr>
        <p:txBody>
          <a:bodyPr/>
          <a:lstStyle/>
          <a:p>
            <a:endParaRPr/>
          </a:p>
        </p:txBody>
      </p:sp>
      <p:sp>
        <p:nvSpPr>
          <p:cNvPr id="244" name="Connection Line"/>
          <p:cNvSpPr/>
          <p:nvPr/>
        </p:nvSpPr>
        <p:spPr>
          <a:xfrm>
            <a:off x="12715937" y="3103023"/>
            <a:ext cx="595294" cy="8902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653" h="21600" extrusionOk="0">
                <a:moveTo>
                  <a:pt x="0" y="21600"/>
                </a:moveTo>
                <a:cubicBezTo>
                  <a:pt x="18542" y="14207"/>
                  <a:pt x="21600" y="7007"/>
                  <a:pt x="9174" y="0"/>
                </a:cubicBezTo>
              </a:path>
            </a:pathLst>
          </a:custGeom>
          <a:ln w="38100">
            <a:solidFill>
              <a:srgbClr val="FF2600"/>
            </a:solidFill>
            <a:miter lim="400000"/>
          </a:ln>
        </p:spPr>
        <p:txBody>
          <a:bodyPr/>
          <a:lstStyle/>
          <a:p>
            <a:endParaRPr/>
          </a:p>
        </p:txBody>
      </p:sp>
      <p:sp>
        <p:nvSpPr>
          <p:cNvPr id="228" name="Grieta Regional"/>
          <p:cNvSpPr txBox="1"/>
          <p:nvPr/>
        </p:nvSpPr>
        <p:spPr>
          <a:xfrm rot="16200000">
            <a:off x="12319806" y="8175708"/>
            <a:ext cx="3230935" cy="66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Grieta Regional</a:t>
            </a:r>
          </a:p>
        </p:txBody>
      </p:sp>
      <p:sp>
        <p:nvSpPr>
          <p:cNvPr id="229" name="Grieta Total"/>
          <p:cNvSpPr txBox="1"/>
          <p:nvPr/>
        </p:nvSpPr>
        <p:spPr>
          <a:xfrm rot="19500000">
            <a:off x="14070733" y="4442757"/>
            <a:ext cx="2449563" cy="66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>
                <a:solidFill>
                  <a:schemeClr val="accent5"/>
                </a:solidFill>
              </a:defRPr>
            </a:lvl1pPr>
          </a:lstStyle>
          <a:p>
            <a:r>
              <a:t>Grieta Total</a:t>
            </a:r>
          </a:p>
        </p:txBody>
      </p:sp>
      <p:sp>
        <p:nvSpPr>
          <p:cNvPr id="230" name="Super Identidades…"/>
          <p:cNvSpPr txBox="1"/>
          <p:nvPr/>
        </p:nvSpPr>
        <p:spPr>
          <a:xfrm>
            <a:off x="17922957" y="10642836"/>
            <a:ext cx="3916406" cy="18786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600"/>
            </a:pPr>
            <a:r>
              <a:t>Super Identidades</a:t>
            </a:r>
          </a:p>
          <a:p>
            <a:pPr>
              <a:defRPr sz="3600"/>
            </a:pPr>
            <a:r>
              <a:t>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Reinforcing cleavages</a:t>
            </a:r>
            <a:r>
              <a:t>]</a:t>
            </a:r>
          </a:p>
        </p:txBody>
      </p:sp>
      <p:sp>
        <p:nvSpPr>
          <p:cNvPr id="2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820691" y="13109828"/>
            <a:ext cx="269749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8</a:t>
            </a:fld>
            <a:endParaRPr/>
          </a:p>
        </p:txBody>
      </p:sp>
      <p:sp>
        <p:nvSpPr>
          <p:cNvPr id="232" name="Woman"/>
          <p:cNvSpPr/>
          <p:nvPr/>
        </p:nvSpPr>
        <p:spPr>
          <a:xfrm>
            <a:off x="5565748" y="11645699"/>
            <a:ext cx="612263" cy="1532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33" name="Woman"/>
          <p:cNvSpPr/>
          <p:nvPr/>
        </p:nvSpPr>
        <p:spPr>
          <a:xfrm>
            <a:off x="6436386" y="11645699"/>
            <a:ext cx="612264" cy="1532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34" name="Woman"/>
          <p:cNvSpPr/>
          <p:nvPr/>
        </p:nvSpPr>
        <p:spPr>
          <a:xfrm>
            <a:off x="10949836" y="11645699"/>
            <a:ext cx="612263" cy="1532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35" name="Woman"/>
          <p:cNvSpPr/>
          <p:nvPr/>
        </p:nvSpPr>
        <p:spPr>
          <a:xfrm>
            <a:off x="10325953" y="11645699"/>
            <a:ext cx="612263" cy="1532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36" name="Woman"/>
          <p:cNvSpPr/>
          <p:nvPr/>
        </p:nvSpPr>
        <p:spPr>
          <a:xfrm>
            <a:off x="5259617" y="5387315"/>
            <a:ext cx="612263" cy="1532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37" name="Woman"/>
          <p:cNvSpPr/>
          <p:nvPr/>
        </p:nvSpPr>
        <p:spPr>
          <a:xfrm>
            <a:off x="5962049" y="5377891"/>
            <a:ext cx="612263" cy="15327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38" name="Woman"/>
          <p:cNvSpPr/>
          <p:nvPr/>
        </p:nvSpPr>
        <p:spPr>
          <a:xfrm>
            <a:off x="18102944" y="5387315"/>
            <a:ext cx="612263" cy="1532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39" name="Woman"/>
          <p:cNvSpPr/>
          <p:nvPr/>
        </p:nvSpPr>
        <p:spPr>
          <a:xfrm>
            <a:off x="18807803" y="5387315"/>
            <a:ext cx="612264" cy="1532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40" name="Woman"/>
          <p:cNvSpPr/>
          <p:nvPr/>
        </p:nvSpPr>
        <p:spPr>
          <a:xfrm>
            <a:off x="14060078" y="1760168"/>
            <a:ext cx="612263" cy="1532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41" name="Woman"/>
          <p:cNvSpPr/>
          <p:nvPr/>
        </p:nvSpPr>
        <p:spPr>
          <a:xfrm>
            <a:off x="14713708" y="1760168"/>
            <a:ext cx="612263" cy="1532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xit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37" dur="200" fill="hold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xit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42" dur="200" fill="hold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fill="hold" grpId="1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47" dur="200" fill="hold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fill="hold" grpId="1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52" dur="200" fill="hold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fill="hold" grpId="1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2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fill="hold" grpId="1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2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xit" fill="hold" grpId="1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7" dur="200" fill="hold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xit" fill="hold" grpId="1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72" dur="200" fill="hold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xit" fill="hold" grpId="1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77" dur="200" fill="hold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xit" fill="hold" grpId="2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2" dur="200" fill="hold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fill="hold" grpId="2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2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fill="hold" grpId="2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2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1" fill="hold" grpId="2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00"/>
                            </p:stCondLst>
                            <p:childTnLst>
                              <p:par>
                                <p:cTn id="101" presetID="2" presetClass="entr" presetSubtype="1" fill="hold" grpId="2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3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2" animBg="1" advAuto="0"/>
      <p:bldP spid="215" grpId="9" animBg="1" advAuto="0"/>
      <p:bldP spid="216" grpId="3" animBg="1" advAuto="0"/>
      <p:bldP spid="217" grpId="1" animBg="1" advAuto="0"/>
      <p:bldP spid="218" grpId="22" animBg="1" advAuto="0"/>
      <p:bldP spid="242" grpId="8" animBg="1" advAuto="0"/>
      <p:bldP spid="220" grpId="10" animBg="1" advAuto="0"/>
      <p:bldP spid="225" grpId="21" animBg="1" advAuto="0"/>
      <p:bldP spid="243" grpId="23" animBg="1" advAuto="0"/>
      <p:bldP spid="229" grpId="24" animBg="1" advAuto="0"/>
      <p:bldP spid="232" grpId="16" animBg="1" advAuto="0"/>
      <p:bldP spid="233" grpId="15" animBg="1" advAuto="0"/>
      <p:bldP spid="234" grpId="11" animBg="1" advAuto="0"/>
      <p:bldP spid="235" grpId="12" animBg="1" advAuto="0"/>
      <p:bldP spid="236" grpId="5" animBg="1" advAuto="0"/>
      <p:bldP spid="236" grpId="14" animBg="1" advAuto="0"/>
      <p:bldP spid="237" grpId="4" animBg="1" advAuto="0"/>
      <p:bldP spid="237" grpId="13" animBg="1" advAuto="0"/>
      <p:bldP spid="238" grpId="7" animBg="1" advAuto="0"/>
      <p:bldP spid="238" grpId="18" animBg="1" advAuto="0"/>
      <p:bldP spid="239" grpId="6" animBg="1" advAuto="0"/>
      <p:bldP spid="239" grpId="17" animBg="1" advAuto="0"/>
      <p:bldP spid="240" grpId="19" animBg="1" advAuto="0"/>
      <p:bldP spid="241" grpId="2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#2 Objetivo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#2 Objetivos</a:t>
            </a:r>
          </a:p>
        </p:txBody>
      </p:sp>
      <p:sp>
        <p:nvSpPr>
          <p:cNvPr id="2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820691" y="13109828"/>
            <a:ext cx="269749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9</a:t>
            </a:fld>
            <a:endParaRPr/>
          </a:p>
        </p:txBody>
      </p:sp>
      <p:grpSp>
        <p:nvGrpSpPr>
          <p:cNvPr id="250" name="Screenshot 2022-10-25 at 11.32.16 PM.png"/>
          <p:cNvGrpSpPr/>
          <p:nvPr/>
        </p:nvGrpSpPr>
        <p:grpSpPr>
          <a:xfrm>
            <a:off x="523429" y="-341818"/>
            <a:ext cx="21890188" cy="14552036"/>
            <a:chOff x="0" y="0"/>
            <a:chExt cx="21890187" cy="14552035"/>
          </a:xfrm>
        </p:grpSpPr>
        <p:pic>
          <p:nvPicPr>
            <p:cNvPr id="249" name="Screenshot 2022-10-25 at 11.32.16 PM.png" descr="Screenshot 2022-10-25 at 11.32.16 PM.png"/>
            <p:cNvPicPr>
              <a:picLocks noChangeAspect="1"/>
            </p:cNvPicPr>
            <p:nvPr/>
          </p:nvPicPr>
          <p:blipFill>
            <a:blip r:embed="rId2">
              <a:alphaModFix amt="20943"/>
            </a:blip>
            <a:stretch>
              <a:fillRect/>
            </a:stretch>
          </p:blipFill>
          <p:spPr>
            <a:xfrm>
              <a:off x="127000" y="88900"/>
              <a:ext cx="21636188" cy="14221836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48" name="Screenshot 2022-10-25 at 11.32.16 PM.png" descr="Screenshot 2022-10-25 at 11.32.16 PM.png"/>
            <p:cNvPicPr>
              <a:picLocks/>
            </p:cNvPicPr>
            <p:nvPr/>
          </p:nvPicPr>
          <p:blipFill>
            <a:blip r:embed="rId3">
              <a:alphaModFix amt="21092"/>
            </a:blip>
            <a:stretch>
              <a:fillRect/>
            </a:stretch>
          </p:blipFill>
          <p:spPr>
            <a:xfrm>
              <a:off x="0" y="0"/>
              <a:ext cx="21890188" cy="14552036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Objetivos"/>
          <p:cNvSpPr txBox="1"/>
          <p:nvPr/>
        </p:nvSpPr>
        <p:spPr>
          <a:xfrm>
            <a:off x="10639167" y="1684648"/>
            <a:ext cx="3294126" cy="1057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Objetivos</a:t>
            </a:r>
          </a:p>
        </p:txBody>
      </p:sp>
      <p:sp>
        <p:nvSpPr>
          <p:cNvPr id="253" name="#2 ¿Cuánto? mediciones"/>
          <p:cNvSpPr txBox="1"/>
          <p:nvPr/>
        </p:nvSpPr>
        <p:spPr>
          <a:xfrm>
            <a:off x="9196978" y="4552061"/>
            <a:ext cx="5990044" cy="56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#2 ¿Cuánto? mediciones</a:t>
            </a:r>
          </a:p>
        </p:txBody>
      </p:sp>
      <p:sp>
        <p:nvSpPr>
          <p:cNvPr id="254" name="#1 ¿que nos divide?"/>
          <p:cNvSpPr txBox="1"/>
          <p:nvPr/>
        </p:nvSpPr>
        <p:spPr>
          <a:xfrm>
            <a:off x="1693079" y="4552061"/>
            <a:ext cx="7707517" cy="56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#1 ¿que nos divide?</a:t>
            </a:r>
          </a:p>
        </p:txBody>
      </p:sp>
      <p:sp>
        <p:nvSpPr>
          <p:cNvPr id="255" name="#5 ¿Qué hacemos?"/>
          <p:cNvSpPr txBox="1"/>
          <p:nvPr/>
        </p:nvSpPr>
        <p:spPr>
          <a:xfrm>
            <a:off x="16550227" y="8253649"/>
            <a:ext cx="4556532" cy="56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#5 ¿Qué hacemos?</a:t>
            </a:r>
          </a:p>
        </p:txBody>
      </p:sp>
      <p:sp>
        <p:nvSpPr>
          <p:cNvPr id="256" name="#4 Consecuencias"/>
          <p:cNvSpPr txBox="1"/>
          <p:nvPr/>
        </p:nvSpPr>
        <p:spPr>
          <a:xfrm>
            <a:off x="9769699" y="8253649"/>
            <a:ext cx="4556532" cy="56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#4 Consecuencias</a:t>
            </a:r>
          </a:p>
        </p:txBody>
      </p:sp>
      <p:sp>
        <p:nvSpPr>
          <p:cNvPr id="257" name="Monitoreo conflicto vs. Monitoreo de división…"/>
          <p:cNvSpPr txBox="1"/>
          <p:nvPr/>
        </p:nvSpPr>
        <p:spPr>
          <a:xfrm>
            <a:off x="16559474" y="9275394"/>
            <a:ext cx="5167723" cy="729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42900" indent="-342900" algn="l">
              <a:buSzPct val="100000"/>
              <a:buAutoNum type="alphaUcPeriod"/>
              <a:defRPr sz="1800"/>
            </a:pPr>
            <a:r>
              <a:t>Monitoreo conflicto vs. Monitoreo de división</a:t>
            </a:r>
          </a:p>
          <a:p>
            <a:pPr marL="342900" indent="-342900" algn="l">
              <a:buSzPct val="100000"/>
              <a:buAutoNum type="alphaUcPeriod"/>
              <a:defRPr sz="1800"/>
            </a:pPr>
            <a:r>
              <a:t>Políticas de cohesión [Financiamiento]</a:t>
            </a:r>
          </a:p>
        </p:txBody>
      </p:sp>
      <p:sp>
        <p:nvSpPr>
          <p:cNvPr id="258" name="Grietas de afecto [Observacionales]…"/>
          <p:cNvSpPr txBox="1"/>
          <p:nvPr/>
        </p:nvSpPr>
        <p:spPr>
          <a:xfrm>
            <a:off x="9778946" y="5380700"/>
            <a:ext cx="4538037" cy="107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42900" indent="-342900" algn="l">
              <a:buSzPct val="100000"/>
              <a:buAutoNum type="alphaUcPeriod"/>
              <a:defRPr sz="1800"/>
            </a:pPr>
            <a:r>
              <a:t>Grietas de afecto </a:t>
            </a:r>
            <a:r>
              <a:rPr>
                <a:solidFill>
                  <a:schemeClr val="accent5"/>
                </a:solidFill>
              </a:rPr>
              <a:t>[Observacionales</a:t>
            </a:r>
            <a:r>
              <a:t>]</a:t>
            </a:r>
          </a:p>
          <a:p>
            <a:pPr marL="342900" indent="-342900" algn="l">
              <a:buSzPct val="100000"/>
              <a:buAutoNum type="alphaUcPeriod"/>
              <a:defRPr sz="1800"/>
            </a:pPr>
            <a:r>
              <a:t>Grietas de confianza [</a:t>
            </a:r>
            <a:r>
              <a:rPr sz="1900">
                <a:solidFill>
                  <a:schemeClr val="accent5"/>
                </a:solidFill>
              </a:rPr>
              <a:t>Experimentales</a:t>
            </a:r>
            <a:r>
              <a:t>]</a:t>
            </a:r>
          </a:p>
          <a:p>
            <a:pPr marL="342900" indent="-342900" algn="l">
              <a:buSzPct val="100000"/>
              <a:buAutoNum type="alphaUcPeriod"/>
              <a:defRPr sz="1800"/>
            </a:pPr>
            <a:r>
              <a:t>Grietas ideológicas [</a:t>
            </a:r>
            <a:r>
              <a:rPr sz="1900">
                <a:solidFill>
                  <a:schemeClr val="accent5"/>
                </a:solidFill>
              </a:rPr>
              <a:t>Experimentales</a:t>
            </a:r>
            <a:r>
              <a:t>]</a:t>
            </a:r>
          </a:p>
        </p:txBody>
      </p:sp>
      <p:sp>
        <p:nvSpPr>
          <p:cNvPr id="259" name="Identidades étnicos, racioles, culturales…"/>
          <p:cNvSpPr txBox="1"/>
          <p:nvPr/>
        </p:nvSpPr>
        <p:spPr>
          <a:xfrm>
            <a:off x="2778801" y="5174923"/>
            <a:ext cx="5536072" cy="1364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42900" indent="-342900" algn="l">
              <a:buSzPct val="100000"/>
              <a:buAutoNum type="alphaUcPeriod"/>
              <a:defRPr sz="1800"/>
            </a:pPr>
            <a:r>
              <a:t>Identidades étnicos, racioles, culturales</a:t>
            </a:r>
          </a:p>
          <a:p>
            <a:pPr marL="342900" indent="-342900" algn="l">
              <a:buSzPct val="100000"/>
              <a:buAutoNum type="alphaUcPeriod"/>
              <a:defRPr sz="1800"/>
            </a:pPr>
            <a:r>
              <a:t>Identidades regionales</a:t>
            </a:r>
          </a:p>
          <a:p>
            <a:pPr marL="342900" indent="-342900" algn="l">
              <a:buSzPct val="100000"/>
              <a:buAutoNum type="alphaUcPeriod"/>
              <a:defRPr sz="1800"/>
            </a:pPr>
            <a:r>
              <a:t>Identidades de clase [socioeconómicos-/riqueza]</a:t>
            </a:r>
          </a:p>
          <a:p>
            <a:pPr marL="342900" indent="-342900" algn="l">
              <a:buSzPct val="100000"/>
              <a:buAutoNum type="alphaUcPeriod"/>
              <a:defRPr sz="1800"/>
            </a:pPr>
            <a:r>
              <a:t>Identidades partidarias </a:t>
            </a:r>
          </a:p>
        </p:txBody>
      </p:sp>
      <p:sp>
        <p:nvSpPr>
          <p:cNvPr id="260" name="Acciones informadas por evidencia"/>
          <p:cNvSpPr txBox="1"/>
          <p:nvPr/>
        </p:nvSpPr>
        <p:spPr>
          <a:xfrm>
            <a:off x="19905710" y="10947606"/>
            <a:ext cx="3294126" cy="779835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/>
            </a:lvl1pPr>
          </a:lstStyle>
          <a:p>
            <a:r>
              <a:t>Acciones informadas por evidencia</a:t>
            </a:r>
          </a:p>
        </p:txBody>
      </p:sp>
      <p:sp>
        <p:nvSpPr>
          <p:cNvPr id="261" name="Acciones informadas por opinión/intuición"/>
          <p:cNvSpPr txBox="1"/>
          <p:nvPr/>
        </p:nvSpPr>
        <p:spPr>
          <a:xfrm>
            <a:off x="14887382" y="10947606"/>
            <a:ext cx="3294126" cy="779835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/>
            </a:lvl1pPr>
          </a:lstStyle>
          <a:p>
            <a:r>
              <a:t>Acciones informadas por opinión/intuición</a:t>
            </a:r>
          </a:p>
        </p:txBody>
      </p:sp>
      <p:sp>
        <p:nvSpPr>
          <p:cNvPr id="262" name="Arrow"/>
          <p:cNvSpPr/>
          <p:nvPr/>
        </p:nvSpPr>
        <p:spPr>
          <a:xfrm>
            <a:off x="18508335" y="10702523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74387" y="13109828"/>
            <a:ext cx="416053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10</a:t>
            </a:fld>
            <a:endParaRPr/>
          </a:p>
        </p:txBody>
      </p:sp>
      <p:sp>
        <p:nvSpPr>
          <p:cNvPr id="264" name="No políticas…"/>
          <p:cNvSpPr txBox="1"/>
          <p:nvPr/>
        </p:nvSpPr>
        <p:spPr>
          <a:xfrm>
            <a:off x="10058679" y="8867612"/>
            <a:ext cx="3785780" cy="2952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42900" indent="-342900" algn="l">
              <a:buSzPct val="100000"/>
              <a:buAutoNum type="alphaUcPeriod"/>
              <a:defRPr sz="1800"/>
            </a:pPr>
            <a:r>
              <a:t>No políticas</a:t>
            </a:r>
          </a:p>
          <a:p>
            <a:pPr marL="1181100" lvl="1" indent="-228600" algn="l">
              <a:buSzPct val="100000"/>
              <a:buChar char="•"/>
              <a:defRPr sz="1800"/>
            </a:pPr>
            <a:r>
              <a:t>Interacciones sociales</a:t>
            </a:r>
          </a:p>
          <a:p>
            <a:pPr marL="1181100" lvl="1" indent="-228600" algn="l">
              <a:buSzPct val="100000"/>
              <a:buChar char="•"/>
              <a:defRPr sz="1800"/>
            </a:pPr>
            <a:r>
              <a:t>Mercado de bienes</a:t>
            </a:r>
          </a:p>
          <a:p>
            <a:pPr marL="1181100" lvl="1" indent="-228600" algn="l">
              <a:buSzPct val="100000"/>
              <a:buChar char="•"/>
              <a:defRPr sz="1800"/>
            </a:pPr>
            <a:r>
              <a:t>Mercado laboral</a:t>
            </a:r>
          </a:p>
          <a:p>
            <a:pPr marL="1181100" lvl="1" indent="-228600" algn="l">
              <a:buSzPct val="100000"/>
              <a:buChar char="•"/>
              <a:defRPr sz="1800"/>
            </a:pPr>
            <a:r>
              <a:t>Expectativas</a:t>
            </a:r>
          </a:p>
          <a:p>
            <a:pPr marL="342900" indent="-342900" algn="l">
              <a:buSzPct val="100000"/>
              <a:buAutoNum type="alphaUcPeriod"/>
              <a:defRPr sz="1800"/>
            </a:pPr>
            <a:r>
              <a:t>Políticas</a:t>
            </a:r>
          </a:p>
          <a:p>
            <a:pPr marL="1181100" lvl="1" indent="-228600" algn="l">
              <a:buSzPct val="100000"/>
              <a:buChar char="•"/>
              <a:defRPr sz="1800"/>
            </a:pPr>
            <a:r>
              <a:t>Actividad política</a:t>
            </a:r>
          </a:p>
          <a:p>
            <a:pPr marL="1181100" lvl="1" indent="-228600" algn="l">
              <a:buSzPct val="100000"/>
              <a:buChar char="•"/>
              <a:defRPr sz="1800"/>
            </a:pPr>
            <a:r>
              <a:t>Governabilidad</a:t>
            </a:r>
          </a:p>
          <a:p>
            <a:pPr marL="1181100" lvl="1" indent="-228600" algn="l">
              <a:buSzPct val="100000"/>
              <a:buChar char="•"/>
              <a:defRPr sz="1800"/>
            </a:pPr>
            <a:r>
              <a:t>Estabilidad democrática</a:t>
            </a:r>
          </a:p>
        </p:txBody>
      </p:sp>
      <p:sp>
        <p:nvSpPr>
          <p:cNvPr id="265" name="Rounded Rectangle"/>
          <p:cNvSpPr/>
          <p:nvPr/>
        </p:nvSpPr>
        <p:spPr>
          <a:xfrm>
            <a:off x="2054951" y="3551409"/>
            <a:ext cx="14255837" cy="3521926"/>
          </a:xfrm>
          <a:prstGeom prst="roundRect">
            <a:avLst>
              <a:gd name="adj" fmla="val 15000"/>
            </a:avLst>
          </a:prstGeom>
          <a:blipFill>
            <a:blip r:embed="rId5">
              <a:alphaModFix amt="7879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66" name="#3 Causas"/>
          <p:cNvSpPr txBox="1"/>
          <p:nvPr/>
        </p:nvSpPr>
        <p:spPr>
          <a:xfrm>
            <a:off x="2989169" y="8253649"/>
            <a:ext cx="4556533" cy="56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#3 Causas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#3 Medicio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#3 Mediciones</a:t>
            </a:r>
          </a:p>
        </p:txBody>
      </p:sp>
      <p:sp>
        <p:nvSpPr>
          <p:cNvPr id="269" name="Auto-declaraciones [Observacionales]…"/>
          <p:cNvSpPr txBox="1"/>
          <p:nvPr/>
        </p:nvSpPr>
        <p:spPr>
          <a:xfrm>
            <a:off x="2547373" y="7981497"/>
            <a:ext cx="13979141" cy="2035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1104900" indent="-1104900" algn="l">
              <a:buSzPct val="100000"/>
              <a:buAutoNum type="alphaUcPeriod"/>
            </a:pPr>
            <a:r>
              <a:t>Auto-declaraciones [</a:t>
            </a:r>
            <a:r>
              <a:rPr>
                <a:solidFill>
                  <a:schemeClr val="accent5"/>
                </a:solidFill>
              </a:rPr>
              <a:t>Observacionales</a:t>
            </a:r>
            <a:r>
              <a:t>]</a:t>
            </a:r>
          </a:p>
          <a:p>
            <a:pPr marL="1104900" indent="-1104900" algn="l">
              <a:buSzPct val="100000"/>
              <a:buAutoNum type="alphaUcPeriod"/>
            </a:pPr>
            <a:r>
              <a:t>Conductuales [</a:t>
            </a:r>
            <a:r>
              <a:rPr>
                <a:solidFill>
                  <a:schemeClr val="accent5"/>
                </a:solidFill>
              </a:rPr>
              <a:t>Experimentales</a:t>
            </a:r>
            <a:r>
              <a:t>]</a:t>
            </a:r>
          </a:p>
        </p:txBody>
      </p:sp>
      <p:sp>
        <p:nvSpPr>
          <p:cNvPr id="2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92675" y="13109828"/>
            <a:ext cx="397765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11</a:t>
            </a:fld>
            <a:endParaRPr/>
          </a:p>
        </p:txBody>
      </p:sp>
      <p:grpSp>
        <p:nvGrpSpPr>
          <p:cNvPr id="273" name="Screenshot 2022-10-25 at 11.32.16 PM.png"/>
          <p:cNvGrpSpPr/>
          <p:nvPr/>
        </p:nvGrpSpPr>
        <p:grpSpPr>
          <a:xfrm>
            <a:off x="523429" y="-341818"/>
            <a:ext cx="21890188" cy="14552036"/>
            <a:chOff x="0" y="0"/>
            <a:chExt cx="21890187" cy="14552035"/>
          </a:xfrm>
        </p:grpSpPr>
        <p:pic>
          <p:nvPicPr>
            <p:cNvPr id="272" name="Screenshot 2022-10-25 at 11.32.16 PM.png" descr="Screenshot 2022-10-25 at 11.32.16 PM.png"/>
            <p:cNvPicPr>
              <a:picLocks noChangeAspect="1"/>
            </p:cNvPicPr>
            <p:nvPr/>
          </p:nvPicPr>
          <p:blipFill>
            <a:blip r:embed="rId2">
              <a:alphaModFix amt="20714"/>
            </a:blip>
            <a:stretch>
              <a:fillRect/>
            </a:stretch>
          </p:blipFill>
          <p:spPr>
            <a:xfrm>
              <a:off x="127000" y="88900"/>
              <a:ext cx="21636188" cy="14221836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71" name="Screenshot 2022-10-25 at 11.32.16 PM.png" descr="Screenshot 2022-10-25 at 11.32.16 PM.png"/>
            <p:cNvPicPr>
              <a:picLocks/>
            </p:cNvPicPr>
            <p:nvPr/>
          </p:nvPicPr>
          <p:blipFill>
            <a:blip r:embed="rId3">
              <a:alphaModFix amt="21092"/>
            </a:blip>
            <a:stretch>
              <a:fillRect/>
            </a:stretch>
          </p:blipFill>
          <p:spPr>
            <a:xfrm>
              <a:off x="0" y="0"/>
              <a:ext cx="21890188" cy="14552036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Mediciones"/>
          <p:cNvSpPr txBox="1"/>
          <p:nvPr/>
        </p:nvSpPr>
        <p:spPr>
          <a:xfrm>
            <a:off x="9722507" y="1115925"/>
            <a:ext cx="3942607" cy="1057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Mediciones</a:t>
            </a:r>
          </a:p>
        </p:txBody>
      </p:sp>
      <p:sp>
        <p:nvSpPr>
          <p:cNvPr id="276" name="A. Autodeclaraciones"/>
          <p:cNvSpPr txBox="1"/>
          <p:nvPr/>
        </p:nvSpPr>
        <p:spPr>
          <a:xfrm>
            <a:off x="3134447" y="3922552"/>
            <a:ext cx="5536072" cy="56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A. Autodeclaraciones</a:t>
            </a:r>
          </a:p>
        </p:txBody>
      </p:sp>
      <p:sp>
        <p:nvSpPr>
          <p:cNvPr id="277" name="Termómetro de afecto “feeling thermometer”…"/>
          <p:cNvSpPr txBox="1"/>
          <p:nvPr/>
        </p:nvSpPr>
        <p:spPr>
          <a:xfrm>
            <a:off x="2046629" y="5677717"/>
            <a:ext cx="10039490" cy="729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3600">
                <a:solidFill>
                  <a:schemeClr val="accent5"/>
                </a:solidFill>
              </a:defRPr>
            </a:pPr>
            <a:r>
              <a:t>Termómetro de afecto </a:t>
            </a:r>
            <a:r>
              <a:rPr>
                <a:solidFill>
                  <a:srgbClr val="FFFFFF"/>
                </a:solidFill>
              </a:rPr>
              <a:t>“feeling thermometer”</a:t>
            </a:r>
          </a:p>
          <a:p>
            <a:pPr algn="l">
              <a:defRPr sz="3000" i="1"/>
            </a:pPr>
            <a:endParaRPr>
              <a:solidFill>
                <a:srgbClr val="FFFFFF"/>
              </a:solidFill>
            </a:endParaRPr>
          </a:p>
          <a:p>
            <a:pPr algn="l">
              <a:defRPr sz="3000" i="1"/>
            </a:pPr>
            <a:r>
              <a:t>En una escasa de 0 (frio) a 100 (caliente), ¿Cómo se siente respecto de:</a:t>
            </a:r>
          </a:p>
          <a:p>
            <a:pPr algn="l">
              <a:defRPr sz="3000" i="1"/>
            </a:pPr>
            <a:r>
              <a:t>- el partido Democrata</a:t>
            </a:r>
          </a:p>
          <a:p>
            <a:pPr algn="l">
              <a:defRPr sz="3000" i="1"/>
            </a:pPr>
            <a:r>
              <a:t>- el partido Republicano?</a:t>
            </a:r>
          </a:p>
          <a:p>
            <a:pPr algn="l">
              <a:defRPr sz="3000" i="1"/>
            </a:pPr>
            <a:endParaRPr/>
          </a:p>
          <a:p>
            <a:pPr algn="l">
              <a:defRPr sz="3000" i="1"/>
            </a:pPr>
            <a:r>
              <a:t>*Pregunta central de las encuestas de opinion (e.g. American National Election Study -ANES)</a:t>
            </a:r>
          </a:p>
          <a:p>
            <a:pPr algn="l">
              <a:defRPr sz="3000" i="1"/>
            </a:pPr>
            <a:endParaRPr/>
          </a:p>
          <a:p>
            <a:pPr algn="l">
              <a:defRPr sz="3000" i="1"/>
            </a:pPr>
            <a:r>
              <a:t>En una escasa de 0 (lejos) a 100 (cerca), ¿Cúan cercano se siente respecto de:</a:t>
            </a:r>
          </a:p>
          <a:p>
            <a:pPr algn="l">
              <a:defRPr sz="3000" i="1"/>
            </a:pPr>
            <a:r>
              <a:t>- [identidad PROPIA]</a:t>
            </a:r>
          </a:p>
          <a:p>
            <a:pPr algn="l">
              <a:defRPr sz="3000" i="1"/>
            </a:pPr>
            <a:r>
              <a:t>- [identidad OPUESTA]?</a:t>
            </a:r>
          </a:p>
        </p:txBody>
      </p:sp>
      <p:sp>
        <p:nvSpPr>
          <p:cNvPr id="278" name="Observacionales"/>
          <p:cNvSpPr txBox="1"/>
          <p:nvPr/>
        </p:nvSpPr>
        <p:spPr>
          <a:xfrm>
            <a:off x="4255420" y="4588150"/>
            <a:ext cx="3294125" cy="511245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/>
            </a:lvl1pPr>
          </a:lstStyle>
          <a:p>
            <a:r>
              <a:t>Observacionales</a:t>
            </a:r>
          </a:p>
        </p:txBody>
      </p:sp>
      <p:sp>
        <p:nvSpPr>
          <p:cNvPr id="279" name="Debilidades:…"/>
          <p:cNvSpPr txBox="1"/>
          <p:nvPr/>
        </p:nvSpPr>
        <p:spPr>
          <a:xfrm>
            <a:off x="14480089" y="5419327"/>
            <a:ext cx="9767300" cy="6783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3600">
                <a:solidFill>
                  <a:schemeClr val="accent2"/>
                </a:solidFill>
              </a:defRPr>
            </a:pP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Debilidades:</a:t>
            </a:r>
          </a:p>
          <a:p>
            <a:pPr indent="342900" algn="l">
              <a:defRPr sz="3000" i="1"/>
            </a:pPr>
            <a:r>
              <a:t>Son preguntas "reactivas", son susceptibles a la exageración/supresión intencional basada en presiones normativas.</a:t>
            </a:r>
          </a:p>
          <a:p>
            <a:pPr marL="571500" indent="-228600" algn="l">
              <a:buSzPct val="100000"/>
              <a:buChar char="•"/>
              <a:defRPr sz="3000" i="1"/>
            </a:pPr>
            <a:r>
              <a:t>En el </a:t>
            </a:r>
            <a:r>
              <a:rPr u="sng">
                <a:solidFill>
                  <a:schemeClr val="accent2"/>
                </a:solidFill>
              </a:rPr>
              <a:t>caso de raza/etnia o sexo/género</a:t>
            </a:r>
            <a:r>
              <a:t>, pueden existir presiones normativas que supriman el verdadero "afecto",</a:t>
            </a:r>
          </a:p>
          <a:p>
            <a:pPr marL="571500" indent="-228600" algn="l">
              <a:buSzPct val="100000"/>
              <a:buChar char="•"/>
              <a:defRPr sz="3000" i="1"/>
            </a:pPr>
            <a:r>
              <a:t>por el contratio, en el </a:t>
            </a:r>
            <a:r>
              <a:rPr u="sng">
                <a:solidFill>
                  <a:schemeClr val="accent5"/>
                </a:solidFill>
              </a:rPr>
              <a:t>caso partidario</a:t>
            </a:r>
            <a:r>
              <a:t>, pueden existir presiones normarivas que exagenen el verdadero "afecto" - e.g. si la retórica y las acciones de los líderes políticos señaliza que la hostilidad dirigida a la oposición es aceptable y apropiada. </a:t>
            </a:r>
          </a:p>
        </p:txBody>
      </p:sp>
      <p:sp>
        <p:nvSpPr>
          <p:cNvPr id="2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80788" y="13109828"/>
            <a:ext cx="409652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12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" grpId="1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Mediciones"/>
          <p:cNvSpPr txBox="1"/>
          <p:nvPr/>
        </p:nvSpPr>
        <p:spPr>
          <a:xfrm>
            <a:off x="9722507" y="1115925"/>
            <a:ext cx="3942607" cy="1057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Mediciones</a:t>
            </a:r>
          </a:p>
        </p:txBody>
      </p:sp>
      <p:sp>
        <p:nvSpPr>
          <p:cNvPr id="283" name="B. Conductuales"/>
          <p:cNvSpPr txBox="1"/>
          <p:nvPr/>
        </p:nvSpPr>
        <p:spPr>
          <a:xfrm>
            <a:off x="2572128" y="3508170"/>
            <a:ext cx="4556532" cy="56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B. Conductuales</a:t>
            </a:r>
          </a:p>
        </p:txBody>
      </p:sp>
      <p:sp>
        <p:nvSpPr>
          <p:cNvPr id="284" name="Experimentales"/>
          <p:cNvSpPr txBox="1"/>
          <p:nvPr/>
        </p:nvSpPr>
        <p:spPr>
          <a:xfrm>
            <a:off x="3369302" y="4173769"/>
            <a:ext cx="3294125" cy="511244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/>
            </a:lvl1pPr>
          </a:lstStyle>
          <a:p>
            <a:r>
              <a:t>Experimentales</a:t>
            </a:r>
          </a:p>
        </p:txBody>
      </p:sp>
      <p:sp>
        <p:nvSpPr>
          <p:cNvPr id="285" name="Juegos económicos…"/>
          <p:cNvSpPr txBox="1"/>
          <p:nvPr/>
        </p:nvSpPr>
        <p:spPr>
          <a:xfrm>
            <a:off x="2444162" y="5041796"/>
            <a:ext cx="8690636" cy="779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3600">
                <a:solidFill>
                  <a:schemeClr val="accent2"/>
                </a:solidFill>
              </a:defRPr>
            </a:pPr>
            <a:r>
              <a:t>Juegos económicos</a:t>
            </a:r>
          </a:p>
          <a:p>
            <a:pPr algn="l">
              <a:defRPr sz="3000" i="1"/>
            </a:pPr>
            <a:r>
              <a:t>Miden hasta qué punto las personas están dispuestos a otorgar, o retener, recompensas financieras a jugadores con los que comparten, o no, una identidad social.</a:t>
            </a:r>
          </a:p>
          <a:p>
            <a:pPr marL="571500" indent="-228600" algn="l">
              <a:buSzPct val="100000"/>
              <a:buChar char="•"/>
              <a:defRPr sz="3000" i="1"/>
            </a:pPr>
            <a:r>
              <a:t>el sesgo </a:t>
            </a:r>
            <a:r>
              <a:rPr>
                <a:solidFill>
                  <a:schemeClr val="accent2"/>
                </a:solidFill>
              </a:rPr>
              <a:t>dentro del grupo</a:t>
            </a:r>
            <a:r>
              <a:t> (“in-group bias) como la diferencia entre las asignaciones financieras a las personas con las que se comparte una identidad, respecto de un desconocido.</a:t>
            </a:r>
          </a:p>
          <a:p>
            <a:pPr marL="571500" indent="-228600" algn="l">
              <a:buSzPct val="100000"/>
              <a:buChar char="•"/>
              <a:defRPr sz="3000" i="1"/>
            </a:pPr>
            <a:r>
              <a:t>El sesgo </a:t>
            </a:r>
            <a:r>
              <a:rPr>
                <a:solidFill>
                  <a:schemeClr val="accent5"/>
                </a:solidFill>
              </a:rPr>
              <a:t>fuera del grupo</a:t>
            </a:r>
            <a:r>
              <a:t> (“out-group bias”), como la diferencia entre las asignaciones financieras a personas con identidad antagónica, respecto de un desconocido.</a:t>
            </a:r>
          </a:p>
        </p:txBody>
      </p:sp>
      <p:sp>
        <p:nvSpPr>
          <p:cNvPr id="28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78502" y="13109828"/>
            <a:ext cx="411938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13</a:t>
            </a:fld>
            <a:endParaRPr/>
          </a:p>
        </p:txBody>
      </p:sp>
      <p:sp>
        <p:nvSpPr>
          <p:cNvPr id="287" name="Fortalezas:…"/>
          <p:cNvSpPr txBox="1"/>
          <p:nvPr/>
        </p:nvSpPr>
        <p:spPr>
          <a:xfrm>
            <a:off x="14149584" y="4990331"/>
            <a:ext cx="9767300" cy="3735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3600">
                <a:solidFill>
                  <a:schemeClr val="accent2"/>
                </a:solidFill>
              </a:defRPr>
            </a:pP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Fortalezas:</a:t>
            </a:r>
          </a:p>
          <a:p>
            <a:pPr marL="571500" indent="-228600" algn="l">
              <a:buSzPct val="100000"/>
              <a:buChar char="•"/>
              <a:defRPr sz="3000" i="1"/>
            </a:pPr>
            <a:r>
              <a:t>Miden comportamiento real - no charla barata (“cheap talk”) </a:t>
            </a:r>
          </a:p>
          <a:p>
            <a:pPr marL="571500" indent="-228600" algn="l">
              <a:buSzPct val="100000"/>
              <a:buChar char="•"/>
              <a:defRPr sz="3000" i="1"/>
            </a:pPr>
            <a:r>
              <a:t>La confianza se demuestra arriesgando retornos financieros.</a:t>
            </a:r>
          </a:p>
          <a:p>
            <a:pPr marL="571500" indent="-228600" algn="l">
              <a:buSzPct val="100000"/>
              <a:buChar char="•"/>
              <a:defRPr sz="3000" i="1"/>
            </a:pPr>
            <a:r>
              <a:t>Permiten “aislar” el efecto de identidades sociales particulares a partir de diseños experimentales.</a:t>
            </a:r>
          </a:p>
        </p:txBody>
      </p:sp>
      <p:sp>
        <p:nvSpPr>
          <p:cNvPr id="288" name="Encuesta por Internet:…"/>
          <p:cNvSpPr txBox="1"/>
          <p:nvPr/>
        </p:nvSpPr>
        <p:spPr>
          <a:xfrm>
            <a:off x="14149584" y="9050080"/>
            <a:ext cx="9919600" cy="373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3600">
                <a:solidFill>
                  <a:schemeClr val="accent2"/>
                </a:solidFill>
              </a:defRPr>
            </a:pPr>
            <a:r>
              <a:t>Encuesta por Internet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:</a:t>
            </a:r>
          </a:p>
          <a:p>
            <a:pPr algn="l">
              <a:defRPr sz="3000" i="1"/>
            </a:pPr>
            <a:r>
              <a:t>Fecha: Enero de 2022</a:t>
            </a:r>
          </a:p>
          <a:p>
            <a:pPr algn="l">
              <a:defRPr sz="3000" i="1"/>
            </a:pPr>
            <a:r>
              <a:t>Muestra: ~1000 individuos recrutados a nivel nacional</a:t>
            </a:r>
          </a:p>
          <a:p>
            <a:pPr algn="l">
              <a:defRPr sz="3000" i="1"/>
            </a:pPr>
            <a:r>
              <a:t>* Las pruebas de equilibrio de Kolmogorov Smirnov indican que la aleatorización equilibró con éxito a los sujetos en grupos de tratamiento para cada experimento.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" grpId="1" animBg="1" advAuto="0"/>
      <p:bldP spid="288" grpId="2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Eg. Experimento conductual"/>
          <p:cNvSpPr txBox="1"/>
          <p:nvPr/>
        </p:nvSpPr>
        <p:spPr>
          <a:xfrm>
            <a:off x="7791443" y="843095"/>
            <a:ext cx="9463510" cy="1057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Eg. Experimento conductual</a:t>
            </a:r>
          </a:p>
        </p:txBody>
      </p:sp>
      <p:sp>
        <p:nvSpPr>
          <p:cNvPr id="291" name="Asignación aleatoria"/>
          <p:cNvSpPr txBox="1"/>
          <p:nvPr/>
        </p:nvSpPr>
        <p:spPr>
          <a:xfrm>
            <a:off x="8431846" y="2316775"/>
            <a:ext cx="4133618" cy="1032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Asignación aleatoria</a:t>
            </a:r>
          </a:p>
        </p:txBody>
      </p:sp>
      <p:sp>
        <p:nvSpPr>
          <p:cNvPr id="292" name="Resultado"/>
          <p:cNvSpPr txBox="1"/>
          <p:nvPr/>
        </p:nvSpPr>
        <p:spPr>
          <a:xfrm>
            <a:off x="17539499" y="2429654"/>
            <a:ext cx="4556533" cy="56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Resultado</a:t>
            </a:r>
          </a:p>
        </p:txBody>
      </p:sp>
      <p:sp>
        <p:nvSpPr>
          <p:cNvPr id="293" name="Asignación aleatoria"/>
          <p:cNvSpPr txBox="1"/>
          <p:nvPr/>
        </p:nvSpPr>
        <p:spPr>
          <a:xfrm rot="16200000">
            <a:off x="7662198" y="6682706"/>
            <a:ext cx="2502323" cy="412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228600" indent="-228600" algn="l">
              <a:buSzPct val="75000"/>
              <a:buChar char="•"/>
              <a:defRPr sz="1800"/>
            </a:lvl1pPr>
          </a:lstStyle>
          <a:p>
            <a:r>
              <a:t>Asignación aleatoria</a:t>
            </a:r>
          </a:p>
        </p:txBody>
      </p:sp>
      <p:sp>
        <p:nvSpPr>
          <p:cNvPr id="294" name="Por color de preferencia"/>
          <p:cNvSpPr txBox="1"/>
          <p:nvPr/>
        </p:nvSpPr>
        <p:spPr>
          <a:xfrm>
            <a:off x="17720464" y="12530466"/>
            <a:ext cx="4767602" cy="598253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Por color de preferencia</a:t>
            </a:r>
          </a:p>
        </p:txBody>
      </p:sp>
      <p:sp>
        <p:nvSpPr>
          <p:cNvPr id="295" name="Población de interés"/>
          <p:cNvSpPr txBox="1"/>
          <p:nvPr/>
        </p:nvSpPr>
        <p:spPr>
          <a:xfrm>
            <a:off x="1108972" y="3511610"/>
            <a:ext cx="3294126" cy="1106252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Población de interés</a:t>
            </a:r>
          </a:p>
        </p:txBody>
      </p:sp>
      <p:sp>
        <p:nvSpPr>
          <p:cNvPr id="296" name="Arrow"/>
          <p:cNvSpPr/>
          <p:nvPr/>
        </p:nvSpPr>
        <p:spPr>
          <a:xfrm rot="20100000">
            <a:off x="8568795" y="6101945"/>
            <a:ext cx="1784969" cy="372806"/>
          </a:xfrm>
          <a:prstGeom prst="rightArrow">
            <a:avLst>
              <a:gd name="adj1" fmla="val 32000"/>
              <a:gd name="adj2" fmla="val 138882"/>
            </a:avLst>
          </a:pr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pic>
        <p:nvPicPr>
          <p:cNvPr id="29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5251100" y="4925576"/>
            <a:ext cx="9133331" cy="6088888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Rectangle"/>
          <p:cNvSpPr/>
          <p:nvPr/>
        </p:nvSpPr>
        <p:spPr>
          <a:xfrm>
            <a:off x="1307753" y="7304908"/>
            <a:ext cx="2632642" cy="2413861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299" name="Triangle"/>
          <p:cNvSpPr/>
          <p:nvPr/>
        </p:nvSpPr>
        <p:spPr>
          <a:xfrm>
            <a:off x="5892651" y="9197589"/>
            <a:ext cx="2632642" cy="2413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00" name="Triangle"/>
          <p:cNvSpPr/>
          <p:nvPr/>
        </p:nvSpPr>
        <p:spPr>
          <a:xfrm rot="10800000">
            <a:off x="5524567" y="6101734"/>
            <a:ext cx="2632642" cy="2413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01" name="Circle"/>
          <p:cNvSpPr/>
          <p:nvPr/>
        </p:nvSpPr>
        <p:spPr>
          <a:xfrm>
            <a:off x="6109107" y="6114434"/>
            <a:ext cx="602327" cy="598253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02" name="Circle"/>
          <p:cNvSpPr/>
          <p:nvPr/>
        </p:nvSpPr>
        <p:spPr>
          <a:xfrm>
            <a:off x="7188032" y="10992231"/>
            <a:ext cx="602327" cy="598253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03" name="Circle"/>
          <p:cNvSpPr/>
          <p:nvPr/>
        </p:nvSpPr>
        <p:spPr>
          <a:xfrm>
            <a:off x="6539724" y="10253467"/>
            <a:ext cx="602327" cy="598253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04" name="Circle"/>
          <p:cNvSpPr/>
          <p:nvPr/>
        </p:nvSpPr>
        <p:spPr>
          <a:xfrm>
            <a:off x="6539724" y="10992231"/>
            <a:ext cx="602327" cy="598253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05" name="Circle"/>
          <p:cNvSpPr/>
          <p:nvPr/>
        </p:nvSpPr>
        <p:spPr>
          <a:xfrm>
            <a:off x="5887558" y="10253467"/>
            <a:ext cx="602327" cy="598253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06" name="Circle"/>
          <p:cNvSpPr/>
          <p:nvPr/>
        </p:nvSpPr>
        <p:spPr>
          <a:xfrm>
            <a:off x="5887558" y="9561422"/>
            <a:ext cx="602327" cy="598253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07" name="Circle"/>
          <p:cNvSpPr/>
          <p:nvPr/>
        </p:nvSpPr>
        <p:spPr>
          <a:xfrm>
            <a:off x="7573367" y="7613270"/>
            <a:ext cx="602327" cy="598253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08" name="Circle"/>
          <p:cNvSpPr/>
          <p:nvPr/>
        </p:nvSpPr>
        <p:spPr>
          <a:xfrm>
            <a:off x="7573367" y="6861705"/>
            <a:ext cx="602327" cy="598253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09" name="Circle"/>
          <p:cNvSpPr/>
          <p:nvPr/>
        </p:nvSpPr>
        <p:spPr>
          <a:xfrm>
            <a:off x="6907809" y="6861705"/>
            <a:ext cx="602327" cy="598253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10" name="Circle"/>
          <p:cNvSpPr/>
          <p:nvPr/>
        </p:nvSpPr>
        <p:spPr>
          <a:xfrm>
            <a:off x="6824611" y="6114434"/>
            <a:ext cx="602327" cy="598253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11" name="Circle"/>
          <p:cNvSpPr/>
          <p:nvPr/>
        </p:nvSpPr>
        <p:spPr>
          <a:xfrm>
            <a:off x="7541324" y="6110140"/>
            <a:ext cx="602326" cy="598253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12" name="Circle"/>
          <p:cNvSpPr/>
          <p:nvPr/>
        </p:nvSpPr>
        <p:spPr>
          <a:xfrm>
            <a:off x="5887558" y="10945512"/>
            <a:ext cx="602327" cy="598253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13" name="Circle"/>
          <p:cNvSpPr/>
          <p:nvPr/>
        </p:nvSpPr>
        <p:spPr>
          <a:xfrm>
            <a:off x="10413786" y="5531912"/>
            <a:ext cx="602327" cy="598253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14" name="Circle"/>
          <p:cNvSpPr/>
          <p:nvPr/>
        </p:nvSpPr>
        <p:spPr>
          <a:xfrm>
            <a:off x="10374381" y="10105394"/>
            <a:ext cx="602327" cy="598252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15" name="Circle"/>
          <p:cNvSpPr/>
          <p:nvPr/>
        </p:nvSpPr>
        <p:spPr>
          <a:xfrm>
            <a:off x="10401086" y="7360825"/>
            <a:ext cx="602327" cy="598252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16" name="Circle"/>
          <p:cNvSpPr/>
          <p:nvPr/>
        </p:nvSpPr>
        <p:spPr>
          <a:xfrm>
            <a:off x="10374381" y="11877047"/>
            <a:ext cx="602327" cy="598253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17" name="Jugador 1"/>
          <p:cNvSpPr txBox="1"/>
          <p:nvPr/>
        </p:nvSpPr>
        <p:spPr>
          <a:xfrm>
            <a:off x="5809453" y="3765610"/>
            <a:ext cx="2632643" cy="598252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Jugador 1</a:t>
            </a:r>
          </a:p>
        </p:txBody>
      </p:sp>
      <p:sp>
        <p:nvSpPr>
          <p:cNvPr id="318" name="Jugador 2"/>
          <p:cNvSpPr txBox="1"/>
          <p:nvPr/>
        </p:nvSpPr>
        <p:spPr>
          <a:xfrm>
            <a:off x="9385929" y="3765610"/>
            <a:ext cx="2632642" cy="598252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Jugador 2</a:t>
            </a:r>
          </a:p>
        </p:txBody>
      </p:sp>
      <p:sp>
        <p:nvSpPr>
          <p:cNvPr id="319" name="Circle"/>
          <p:cNvSpPr/>
          <p:nvPr/>
        </p:nvSpPr>
        <p:spPr>
          <a:xfrm>
            <a:off x="2678363" y="8734042"/>
            <a:ext cx="602326" cy="598252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20" name="Circle"/>
          <p:cNvSpPr/>
          <p:nvPr/>
        </p:nvSpPr>
        <p:spPr>
          <a:xfrm>
            <a:off x="1193981" y="7246525"/>
            <a:ext cx="602326" cy="598252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21" name="Circle"/>
          <p:cNvSpPr/>
          <p:nvPr/>
        </p:nvSpPr>
        <p:spPr>
          <a:xfrm>
            <a:off x="1771220" y="7823764"/>
            <a:ext cx="602327" cy="598253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22" name="Circle"/>
          <p:cNvSpPr/>
          <p:nvPr/>
        </p:nvSpPr>
        <p:spPr>
          <a:xfrm>
            <a:off x="2322911" y="9079694"/>
            <a:ext cx="602327" cy="598253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23" name="Circle"/>
          <p:cNvSpPr/>
          <p:nvPr/>
        </p:nvSpPr>
        <p:spPr>
          <a:xfrm>
            <a:off x="3238570" y="7373525"/>
            <a:ext cx="602327" cy="598252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24" name="Circle"/>
          <p:cNvSpPr/>
          <p:nvPr/>
        </p:nvSpPr>
        <p:spPr>
          <a:xfrm>
            <a:off x="1581645" y="9079694"/>
            <a:ext cx="602327" cy="598253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25" name="Circle"/>
          <p:cNvSpPr/>
          <p:nvPr/>
        </p:nvSpPr>
        <p:spPr>
          <a:xfrm>
            <a:off x="3238570" y="9039200"/>
            <a:ext cx="602327" cy="598253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26" name="Circle"/>
          <p:cNvSpPr/>
          <p:nvPr/>
        </p:nvSpPr>
        <p:spPr>
          <a:xfrm>
            <a:off x="1581645" y="8451729"/>
            <a:ext cx="602327" cy="598253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27" name="Circle"/>
          <p:cNvSpPr/>
          <p:nvPr/>
        </p:nvSpPr>
        <p:spPr>
          <a:xfrm>
            <a:off x="3383231" y="8212712"/>
            <a:ext cx="602327" cy="598253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28" name="Circle"/>
          <p:cNvSpPr/>
          <p:nvPr/>
        </p:nvSpPr>
        <p:spPr>
          <a:xfrm>
            <a:off x="2678363" y="8212712"/>
            <a:ext cx="602326" cy="598253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29" name="Circle"/>
          <p:cNvSpPr/>
          <p:nvPr/>
        </p:nvSpPr>
        <p:spPr>
          <a:xfrm>
            <a:off x="2038549" y="7360825"/>
            <a:ext cx="602327" cy="598252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30" name="Circle"/>
          <p:cNvSpPr/>
          <p:nvPr/>
        </p:nvSpPr>
        <p:spPr>
          <a:xfrm>
            <a:off x="2678363" y="7386225"/>
            <a:ext cx="602327" cy="598252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31" name="Arrow"/>
          <p:cNvSpPr/>
          <p:nvPr/>
        </p:nvSpPr>
        <p:spPr>
          <a:xfrm rot="1500000">
            <a:off x="8581400" y="7235052"/>
            <a:ext cx="1613090" cy="377350"/>
          </a:xfrm>
          <a:prstGeom prst="rightArrow">
            <a:avLst>
              <a:gd name="adj1" fmla="val 32000"/>
              <a:gd name="adj2" fmla="val 149780"/>
            </a:avLst>
          </a:pr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32" name="Arrow"/>
          <p:cNvSpPr/>
          <p:nvPr/>
        </p:nvSpPr>
        <p:spPr>
          <a:xfrm rot="20100000">
            <a:off x="8463932" y="10619650"/>
            <a:ext cx="1784968" cy="372806"/>
          </a:xfrm>
          <a:prstGeom prst="rightArrow">
            <a:avLst>
              <a:gd name="adj1" fmla="val 32000"/>
              <a:gd name="adj2" fmla="val 138882"/>
            </a:avLst>
          </a:pr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33" name="Arrow"/>
          <p:cNvSpPr/>
          <p:nvPr/>
        </p:nvSpPr>
        <p:spPr>
          <a:xfrm rot="1500000">
            <a:off x="8581400" y="11693359"/>
            <a:ext cx="1613090" cy="377349"/>
          </a:xfrm>
          <a:prstGeom prst="rightArrow">
            <a:avLst>
              <a:gd name="adj1" fmla="val 32000"/>
              <a:gd name="adj2" fmla="val 149780"/>
            </a:avLst>
          </a:pr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34" name="Arrow"/>
          <p:cNvSpPr/>
          <p:nvPr/>
        </p:nvSpPr>
        <p:spPr>
          <a:xfrm rot="20100000">
            <a:off x="4235154" y="7419055"/>
            <a:ext cx="1784968" cy="372806"/>
          </a:xfrm>
          <a:prstGeom prst="rightArrow">
            <a:avLst>
              <a:gd name="adj1" fmla="val 32000"/>
              <a:gd name="adj2" fmla="val 138882"/>
            </a:avLst>
          </a:pr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35" name="Arrow"/>
          <p:cNvSpPr/>
          <p:nvPr/>
        </p:nvSpPr>
        <p:spPr>
          <a:xfrm rot="1500000">
            <a:off x="4247694" y="9012059"/>
            <a:ext cx="1613090" cy="377349"/>
          </a:xfrm>
          <a:prstGeom prst="rightArrow">
            <a:avLst>
              <a:gd name="adj1" fmla="val 32000"/>
              <a:gd name="adj2" fmla="val 149780"/>
            </a:avLst>
          </a:pr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36" name="In-group bias"/>
          <p:cNvSpPr txBox="1"/>
          <p:nvPr/>
        </p:nvSpPr>
        <p:spPr>
          <a:xfrm>
            <a:off x="11999428" y="5272893"/>
            <a:ext cx="3661480" cy="598253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marL="381000" indent="-381000" algn="l">
              <a:buSzPct val="75000"/>
              <a:buChar char="•"/>
              <a:defRPr sz="3000"/>
            </a:lvl1pPr>
          </a:lstStyle>
          <a:p>
            <a:r>
              <a:t>In-group bias</a:t>
            </a:r>
          </a:p>
        </p:txBody>
      </p:sp>
      <p:sp>
        <p:nvSpPr>
          <p:cNvPr id="337" name="Out-group bias"/>
          <p:cNvSpPr txBox="1"/>
          <p:nvPr/>
        </p:nvSpPr>
        <p:spPr>
          <a:xfrm>
            <a:off x="11999428" y="7109454"/>
            <a:ext cx="3661480" cy="598253"/>
          </a:xfrm>
          <a:prstGeom prst="rect">
            <a:avLst/>
          </a:prstGeom>
          <a:blipFill>
            <a:blip r:embed="rId5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marL="381000" indent="-381000" algn="l">
              <a:buSzPct val="75000"/>
              <a:buChar char="•"/>
              <a:defRPr sz="3000"/>
            </a:lvl1pPr>
          </a:lstStyle>
          <a:p>
            <a:r>
              <a:t>Out-group bias</a:t>
            </a:r>
          </a:p>
        </p:txBody>
      </p:sp>
      <p:sp>
        <p:nvSpPr>
          <p:cNvPr id="338" name="Out-group bias"/>
          <p:cNvSpPr txBox="1"/>
          <p:nvPr/>
        </p:nvSpPr>
        <p:spPr>
          <a:xfrm>
            <a:off x="11999428" y="10105394"/>
            <a:ext cx="3753882" cy="598252"/>
          </a:xfrm>
          <a:prstGeom prst="rect">
            <a:avLst/>
          </a:prstGeom>
          <a:blipFill>
            <a:blip r:embed="rId5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marL="381000" indent="-381000" algn="l">
              <a:buSzPct val="75000"/>
              <a:buChar char="•"/>
              <a:defRPr sz="3000"/>
            </a:lvl1pPr>
          </a:lstStyle>
          <a:p>
            <a:r>
              <a:t>Out-group bias</a:t>
            </a:r>
          </a:p>
        </p:txBody>
      </p:sp>
      <p:sp>
        <p:nvSpPr>
          <p:cNvPr id="339" name="In-group bias"/>
          <p:cNvSpPr txBox="1"/>
          <p:nvPr/>
        </p:nvSpPr>
        <p:spPr>
          <a:xfrm>
            <a:off x="12025844" y="11877047"/>
            <a:ext cx="3733029" cy="598253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marL="381000" indent="-381000" algn="l">
              <a:buSzPct val="75000"/>
              <a:buChar char="•"/>
              <a:defRPr sz="3000"/>
            </a:lvl1pPr>
          </a:lstStyle>
          <a:p>
            <a:r>
              <a:t>In-group bias</a:t>
            </a:r>
          </a:p>
        </p:txBody>
      </p:sp>
      <p:sp>
        <p:nvSpPr>
          <p:cNvPr id="340" name="Circle"/>
          <p:cNvSpPr/>
          <p:nvPr/>
        </p:nvSpPr>
        <p:spPr>
          <a:xfrm>
            <a:off x="14981448" y="5271248"/>
            <a:ext cx="602327" cy="598252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41" name="Circle"/>
          <p:cNvSpPr/>
          <p:nvPr/>
        </p:nvSpPr>
        <p:spPr>
          <a:xfrm>
            <a:off x="15138283" y="7109454"/>
            <a:ext cx="602327" cy="598253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42" name="Circle"/>
          <p:cNvSpPr/>
          <p:nvPr/>
        </p:nvSpPr>
        <p:spPr>
          <a:xfrm>
            <a:off x="15138283" y="10105394"/>
            <a:ext cx="602327" cy="598252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43" name="Circle"/>
          <p:cNvSpPr/>
          <p:nvPr/>
        </p:nvSpPr>
        <p:spPr>
          <a:xfrm>
            <a:off x="15138283" y="11877047"/>
            <a:ext cx="602327" cy="598253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44" name="Comportamiento"/>
          <p:cNvSpPr txBox="1"/>
          <p:nvPr/>
        </p:nvSpPr>
        <p:spPr>
          <a:xfrm rot="16200000">
            <a:off x="14930725" y="6109232"/>
            <a:ext cx="2084972" cy="412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228600" indent="-228600" algn="l">
              <a:buSzPct val="75000"/>
              <a:buChar char="•"/>
              <a:defRPr sz="1800"/>
            </a:lvl1pPr>
          </a:lstStyle>
          <a:p>
            <a:r>
              <a:t>Comportamiento</a:t>
            </a:r>
          </a:p>
        </p:txBody>
      </p:sp>
      <p:sp>
        <p:nvSpPr>
          <p:cNvPr id="345" name="Comportamiento"/>
          <p:cNvSpPr txBox="1"/>
          <p:nvPr/>
        </p:nvSpPr>
        <p:spPr>
          <a:xfrm>
            <a:off x="11994881" y="2551725"/>
            <a:ext cx="4133618" cy="56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Comportamiento</a:t>
            </a:r>
          </a:p>
        </p:txBody>
      </p:sp>
      <p:sp>
        <p:nvSpPr>
          <p:cNvPr id="346" name="Asignación aleatoria"/>
          <p:cNvSpPr txBox="1"/>
          <p:nvPr/>
        </p:nvSpPr>
        <p:spPr>
          <a:xfrm rot="16200000">
            <a:off x="7662198" y="11298483"/>
            <a:ext cx="2502323" cy="412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228600" indent="-228600" algn="l">
              <a:buSzPct val="75000"/>
              <a:buChar char="•"/>
              <a:defRPr sz="1800"/>
            </a:lvl1pPr>
          </a:lstStyle>
          <a:p>
            <a:r>
              <a:t>Asignación aleatoria</a:t>
            </a:r>
          </a:p>
        </p:txBody>
      </p:sp>
      <p:sp>
        <p:nvSpPr>
          <p:cNvPr id="347" name="Comportamiento"/>
          <p:cNvSpPr txBox="1"/>
          <p:nvPr/>
        </p:nvSpPr>
        <p:spPr>
          <a:xfrm rot="16200000">
            <a:off x="14936268" y="11298483"/>
            <a:ext cx="2084971" cy="412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228600" indent="-228600" algn="l">
              <a:buSzPct val="75000"/>
              <a:buChar char="•"/>
              <a:defRPr sz="1800"/>
            </a:lvl1pPr>
          </a:lstStyle>
          <a:p>
            <a:r>
              <a:t>Comportamiento</a:t>
            </a:r>
          </a:p>
        </p:txBody>
      </p:sp>
      <p:sp>
        <p:nvSpPr>
          <p:cNvPr id="3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77816" y="13109828"/>
            <a:ext cx="412624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14</a:t>
            </a:fld>
            <a:endParaRPr/>
          </a:p>
        </p:txBody>
      </p:sp>
      <p:sp>
        <p:nvSpPr>
          <p:cNvPr id="349" name="Circle"/>
          <p:cNvSpPr/>
          <p:nvPr/>
        </p:nvSpPr>
        <p:spPr>
          <a:xfrm>
            <a:off x="21833040" y="5064114"/>
            <a:ext cx="602327" cy="598253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50" name="Circle"/>
          <p:cNvSpPr/>
          <p:nvPr/>
        </p:nvSpPr>
        <p:spPr>
          <a:xfrm>
            <a:off x="21833040" y="8874248"/>
            <a:ext cx="602327" cy="598253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51" name="Circle"/>
          <p:cNvSpPr/>
          <p:nvPr/>
        </p:nvSpPr>
        <p:spPr>
          <a:xfrm>
            <a:off x="21772088" y="7109454"/>
            <a:ext cx="602326" cy="598253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52" name="Circle"/>
          <p:cNvSpPr/>
          <p:nvPr/>
        </p:nvSpPr>
        <p:spPr>
          <a:xfrm>
            <a:off x="21772088" y="10945512"/>
            <a:ext cx="602326" cy="598253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CA6A4"/>
            </a:solidFill>
            <a:miter lim="400000"/>
          </a:ln>
          <a:effectLst>
            <a:outerShdw blurRad="25400" dist="38100" dir="2700000" rotWithShape="0">
              <a:srgbClr val="000000">
                <a:alpha val="64999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5" fill="hold" grpId="1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1"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3" presetClass="entr" presetSubtype="5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5"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3" presetClass="entr" presetSubtype="5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9"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3" presetClass="entr" presetSubtype="5" fill="hold" grpId="2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3"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3" presetClass="entr" presetSubtype="5" fill="hold" grpId="2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7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0"/>
                            </p:stCondLst>
                            <p:childTnLst>
                              <p:par>
                                <p:cTn id="79" presetID="3" presetClass="entr" presetSubtype="5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1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000"/>
                            </p:stCondLst>
                            <p:childTnLst>
                              <p:par>
                                <p:cTn id="83" presetID="3" presetClass="entr" presetSubtype="5" fill="hold" grpId="2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5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000"/>
                            </p:stCondLst>
                            <p:childTnLst>
                              <p:par>
                                <p:cTn id="87" presetID="3" presetClass="entr" presetSubtype="5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9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ID="3" presetClass="entr" presetSubtype="5" fill="hold" grpId="2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3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9000"/>
                            </p:stCondLst>
                            <p:childTnLst>
                              <p:par>
                                <p:cTn id="95" presetID="3" presetClass="entr" presetSubtype="5" fill="hold" grpId="2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7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0"/>
                            </p:stCondLst>
                            <p:childTnLst>
                              <p:par>
                                <p:cTn id="99" presetID="3" presetClass="entr" presetSubtype="5" fill="hold" grpId="2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1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3" presetID="3" presetClass="entr" presetSubtype="5" fill="hold" grpId="2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4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5"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5" fill="hold" grpId="3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0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5" fill="hold" grpId="3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5"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3" presetClass="entr" presetSubtype="5" fill="hold" grpId="3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9"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000"/>
                            </p:stCondLst>
                            <p:childTnLst>
                              <p:par>
                                <p:cTn id="121" presetID="3" presetClass="entr" presetSubtype="5" fill="hold" grpId="3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3"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000"/>
                            </p:stCondLst>
                            <p:childTnLst>
                              <p:par>
                                <p:cTn id="125" presetID="3" presetClass="entr" presetSubtype="5" fill="hold" grpId="3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7"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4000"/>
                            </p:stCondLst>
                            <p:childTnLst>
                              <p:par>
                                <p:cTn id="129" presetID="3" presetClass="entr" presetSubtype="5" fill="hold" grpId="3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1"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5" fill="hold" grpId="3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6"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3" presetClass="entr" presetSubtype="5" fill="hold" grpId="3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9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0"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000"/>
                            </p:stCondLst>
                            <p:childTnLst>
                              <p:par>
                                <p:cTn id="142" presetID="3" presetClass="entr" presetSubtype="5" fill="hold" grpId="3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3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4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3000"/>
                            </p:stCondLst>
                            <p:childTnLst>
                              <p:par>
                                <p:cTn id="146" presetID="3" presetClass="entr" presetSubtype="5" fill="hold" grpId="3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8"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4000"/>
                            </p:stCondLst>
                            <p:childTnLst>
                              <p:par>
                                <p:cTn id="150" presetID="3" presetClass="entr" presetSubtype="5" fill="hold" grpId="4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1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2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3" presetClass="entr" presetSubtype="5" fill="hold" grpId="4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6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7"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3" presetClass="entr" presetSubtype="5" fill="hold" grpId="4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1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000"/>
                            </p:stCondLst>
                            <p:childTnLst>
                              <p:par>
                                <p:cTn id="163" presetID="3" presetClass="entr" presetSubtype="5" fill="hold" grpId="4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4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5"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3000"/>
                            </p:stCondLst>
                            <p:childTnLst>
                              <p:par>
                                <p:cTn id="167" presetID="23" presetClass="entr" presetSubtype="16" fill="hold" grpId="4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8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2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2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3200"/>
                            </p:stCondLst>
                            <p:childTnLst>
                              <p:par>
                                <p:cTn id="172" presetID="23" presetClass="entr" presetSubtype="16" fill="hold" grpId="4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3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2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2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3400"/>
                            </p:stCondLst>
                            <p:childTnLst>
                              <p:par>
                                <p:cTn id="177" presetID="23" presetClass="entr" presetSubtype="16" fill="hold" grpId="4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8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2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2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3600"/>
                            </p:stCondLst>
                            <p:childTnLst>
                              <p:par>
                                <p:cTn id="182" presetID="23" presetClass="entr" presetSubtype="16" fill="hold" grpId="4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3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2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2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" grpId="18" animBg="1" advAuto="0"/>
      <p:bldP spid="292" grpId="41" animBg="1" advAuto="0"/>
      <p:bldP spid="293" grpId="20" animBg="1" advAuto="0"/>
      <p:bldP spid="294" grpId="43" animBg="1" advAuto="0"/>
      <p:bldP spid="296" grpId="21" animBg="1" advAuto="0"/>
      <p:bldP spid="297" grpId="42" animBg="1" advAuto="0"/>
      <p:bldP spid="299" grpId="5" animBg="1" advAuto="0"/>
      <p:bldP spid="300" grpId="3" animBg="1" advAuto="0"/>
      <p:bldP spid="301" grpId="8" animBg="1" advAuto="0"/>
      <p:bldP spid="302" grpId="15" animBg="1" advAuto="0"/>
      <p:bldP spid="303" grpId="14" animBg="1" advAuto="0"/>
      <p:bldP spid="304" grpId="17" animBg="1" advAuto="0"/>
      <p:bldP spid="305" grpId="13" animBg="1" advAuto="0"/>
      <p:bldP spid="306" grpId="12" animBg="1" advAuto="0"/>
      <p:bldP spid="307" grpId="11" animBg="1" advAuto="0"/>
      <p:bldP spid="308" grpId="9" animBg="1" advAuto="0"/>
      <p:bldP spid="309" grpId="10" animBg="1" advAuto="0"/>
      <p:bldP spid="310" grpId="6" animBg="1" advAuto="0"/>
      <p:bldP spid="311" grpId="7" animBg="1" advAuto="0"/>
      <p:bldP spid="312" grpId="16" animBg="1" advAuto="0"/>
      <p:bldP spid="313" grpId="22" animBg="1" advAuto="0"/>
      <p:bldP spid="314" grpId="27" animBg="1" advAuto="0"/>
      <p:bldP spid="315" grpId="24" animBg="1" advAuto="0"/>
      <p:bldP spid="316" grpId="29" animBg="1" advAuto="0"/>
      <p:bldP spid="317" grpId="1" animBg="1" advAuto="0"/>
      <p:bldP spid="318" grpId="19" animBg="1" advAuto="0"/>
      <p:bldP spid="331" grpId="23" animBg="1" advAuto="0"/>
      <p:bldP spid="332" grpId="26" animBg="1" advAuto="0"/>
      <p:bldP spid="333" grpId="28" animBg="1" advAuto="0"/>
      <p:bldP spid="334" grpId="2" animBg="1" advAuto="0"/>
      <p:bldP spid="335" grpId="4" animBg="1" advAuto="0"/>
      <p:bldP spid="336" grpId="32" animBg="1" advAuto="0"/>
      <p:bldP spid="337" grpId="34" animBg="1" advAuto="0"/>
      <p:bldP spid="338" grpId="37" animBg="1" advAuto="0"/>
      <p:bldP spid="339" grpId="39" animBg="1" advAuto="0"/>
      <p:bldP spid="340" grpId="31" animBg="1" advAuto="0"/>
      <p:bldP spid="341" grpId="33" animBg="1" advAuto="0"/>
      <p:bldP spid="342" grpId="36" animBg="1" advAuto="0"/>
      <p:bldP spid="343" grpId="38" animBg="1" advAuto="0"/>
      <p:bldP spid="344" grpId="35" animBg="1" advAuto="0"/>
      <p:bldP spid="345" grpId="30" animBg="1" advAuto="0"/>
      <p:bldP spid="346" grpId="25" animBg="1" advAuto="0"/>
      <p:bldP spid="347" grpId="40" animBg="1" advAuto="0"/>
      <p:bldP spid="349" grpId="44" animBg="1" advAuto="0"/>
      <p:bldP spid="350" grpId="45" animBg="1" advAuto="0"/>
      <p:bldP spid="351" grpId="46" animBg="1" advAuto="0"/>
      <p:bldP spid="352" grpId="47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Computer"/>
          <p:cNvSpPr/>
          <p:nvPr/>
        </p:nvSpPr>
        <p:spPr>
          <a:xfrm>
            <a:off x="2800228" y="-183669"/>
            <a:ext cx="20095777" cy="162169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pic>
        <p:nvPicPr>
          <p:cNvPr id="355" name="Screenshot 2022-10-26 at 11.19.47 PM.png" descr="Screenshot 2022-10-26 at 11.19.47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004" y="1080057"/>
            <a:ext cx="17938225" cy="10096965"/>
          </a:xfrm>
          <a:prstGeom prst="rect">
            <a:avLst/>
          </a:prstGeom>
          <a:ln w="12700">
            <a:miter lim="400000"/>
          </a:ln>
        </p:spPr>
      </p:pic>
      <p:sp>
        <p:nvSpPr>
          <p:cNvPr id="356" name="Rounded Rectangle"/>
          <p:cNvSpPr/>
          <p:nvPr/>
        </p:nvSpPr>
        <p:spPr>
          <a:xfrm>
            <a:off x="4599655" y="5800056"/>
            <a:ext cx="1753548" cy="541251"/>
          </a:xfrm>
          <a:prstGeom prst="roundRect">
            <a:avLst>
              <a:gd name="adj" fmla="val 32394"/>
            </a:avLst>
          </a:prstGeom>
          <a:blipFill>
            <a:blip r:embed="rId4">
              <a:alphaModFix amt="3026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57" name="Rounded Rectangle"/>
          <p:cNvSpPr/>
          <p:nvPr/>
        </p:nvSpPr>
        <p:spPr>
          <a:xfrm>
            <a:off x="19608241" y="5800056"/>
            <a:ext cx="1753548" cy="541251"/>
          </a:xfrm>
          <a:prstGeom prst="roundRect">
            <a:avLst>
              <a:gd name="adj" fmla="val 32394"/>
            </a:avLst>
          </a:prstGeom>
          <a:blipFill>
            <a:blip r:embed="rId4">
              <a:alphaModFix amt="3026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58" name="Rounded Rectangle"/>
          <p:cNvSpPr/>
          <p:nvPr/>
        </p:nvSpPr>
        <p:spPr>
          <a:xfrm>
            <a:off x="8186387" y="6587375"/>
            <a:ext cx="1753547" cy="541251"/>
          </a:xfrm>
          <a:prstGeom prst="roundRect">
            <a:avLst>
              <a:gd name="adj" fmla="val 32394"/>
            </a:avLst>
          </a:prstGeom>
          <a:blipFill>
            <a:blip r:embed="rId4">
              <a:alphaModFix amt="3026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59" name="Rounded Rectangle"/>
          <p:cNvSpPr/>
          <p:nvPr/>
        </p:nvSpPr>
        <p:spPr>
          <a:xfrm>
            <a:off x="18139040" y="6756444"/>
            <a:ext cx="1753547" cy="541250"/>
          </a:xfrm>
          <a:prstGeom prst="roundRect">
            <a:avLst>
              <a:gd name="adj" fmla="val 32394"/>
            </a:avLst>
          </a:prstGeom>
          <a:blipFill>
            <a:blip r:embed="rId4">
              <a:alphaModFix amt="3026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60" name="Rounded Rectangle"/>
          <p:cNvSpPr/>
          <p:nvPr/>
        </p:nvSpPr>
        <p:spPr>
          <a:xfrm>
            <a:off x="4774048" y="7654175"/>
            <a:ext cx="1753548" cy="541251"/>
          </a:xfrm>
          <a:prstGeom prst="roundRect">
            <a:avLst>
              <a:gd name="adj" fmla="val 32394"/>
            </a:avLst>
          </a:prstGeom>
          <a:blipFill>
            <a:blip r:embed="rId4">
              <a:alphaModFix amt="3026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79645" y="13109828"/>
            <a:ext cx="410795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15</a:t>
            </a:fld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Computer"/>
          <p:cNvSpPr/>
          <p:nvPr/>
        </p:nvSpPr>
        <p:spPr>
          <a:xfrm>
            <a:off x="2800228" y="-183669"/>
            <a:ext cx="20095777" cy="162169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pic>
        <p:nvPicPr>
          <p:cNvPr id="364" name="Screenshot 2022-10-26 at 11.27.27 PM.png" descr="Screenshot 2022-10-26 at 11.27.27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671" y="2283913"/>
            <a:ext cx="17138891" cy="7938442"/>
          </a:xfrm>
          <a:prstGeom prst="rect">
            <a:avLst/>
          </a:prstGeom>
          <a:ln w="12700">
            <a:miter lim="400000"/>
          </a:ln>
        </p:spPr>
      </p:pic>
      <p:sp>
        <p:nvSpPr>
          <p:cNvPr id="365" name="Confianza plena"/>
          <p:cNvSpPr txBox="1"/>
          <p:nvPr/>
        </p:nvSpPr>
        <p:spPr>
          <a:xfrm>
            <a:off x="6383280" y="2402367"/>
            <a:ext cx="3939680" cy="759570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r>
              <a:t>Confianza plena</a:t>
            </a:r>
          </a:p>
        </p:txBody>
      </p:sp>
      <p:sp>
        <p:nvSpPr>
          <p:cNvPr id="366" name="Desconfianza plena"/>
          <p:cNvSpPr txBox="1"/>
          <p:nvPr/>
        </p:nvSpPr>
        <p:spPr>
          <a:xfrm>
            <a:off x="6343956" y="6478215"/>
            <a:ext cx="4681837" cy="759570"/>
          </a:xfrm>
          <a:prstGeom prst="rect">
            <a:avLst/>
          </a:prstGeom>
          <a:blipFill>
            <a:blip r:embed="rId5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r>
              <a:t>Desconfianza plena</a:t>
            </a:r>
          </a:p>
        </p:txBody>
      </p:sp>
      <p:sp>
        <p:nvSpPr>
          <p:cNvPr id="36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77588" y="13109828"/>
            <a:ext cx="412852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16</a:t>
            </a:fld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articiones"/>
          <p:cNvSpPr txBox="1"/>
          <p:nvPr/>
        </p:nvSpPr>
        <p:spPr>
          <a:xfrm>
            <a:off x="9839579" y="1115925"/>
            <a:ext cx="3708463" cy="1057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Particiones</a:t>
            </a:r>
          </a:p>
        </p:txBody>
      </p:sp>
      <p:sp>
        <p:nvSpPr>
          <p:cNvPr id="370" name="Identidades Sociales"/>
          <p:cNvSpPr txBox="1"/>
          <p:nvPr/>
        </p:nvSpPr>
        <p:spPr>
          <a:xfrm>
            <a:off x="2107131" y="3328715"/>
            <a:ext cx="3294125" cy="143267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/>
            </a:lvl1pPr>
          </a:lstStyle>
          <a:p>
            <a:r>
              <a:t>Identidades Sociales</a:t>
            </a:r>
          </a:p>
        </p:txBody>
      </p:sp>
      <p:sp>
        <p:nvSpPr>
          <p:cNvPr id="3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83074" y="13109828"/>
            <a:ext cx="407366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17</a:t>
            </a:fld>
            <a:endParaRPr/>
          </a:p>
        </p:txBody>
      </p:sp>
      <p:graphicFrame>
        <p:nvGraphicFramePr>
          <p:cNvPr id="372" name="Table 1"/>
          <p:cNvGraphicFramePr/>
          <p:nvPr/>
        </p:nvGraphicFramePr>
        <p:xfrm>
          <a:off x="1473200" y="3030097"/>
          <a:ext cx="20582730" cy="9284728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1165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6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6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65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65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21182">
                <a:tc>
                  <a:txBody>
                    <a:bodyPr/>
                    <a:lstStyle/>
                    <a:p>
                      <a:pPr algn="ctr">
                        <a:defRPr sz="4600"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6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1. Etnia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6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2. Región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6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3. Clase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6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4. Partido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1182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Def. 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X Ascendencia/Herencia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X Nacimiento y residencia en LPZ vs. SCZ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X Auto-evaluación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- x Votación 2020 (MAS, CC, Creemos)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1182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Def. 2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X Idioma que habla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X Nacimiento y residencia en dep Occ. vs. dep. Ori.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X Indice de activos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- x Intención de voto 2022 (MAS, CC, Creemos)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1182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Def. 3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X Auto-identificación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X Auto-identificación: Colla vs. Camba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 sz="2400"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 sz="2400"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timuli"/>
          <p:cNvSpPr txBox="1"/>
          <p:nvPr/>
        </p:nvSpPr>
        <p:spPr>
          <a:xfrm>
            <a:off x="10547765" y="1115925"/>
            <a:ext cx="2292091" cy="1057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Stimuli</a:t>
            </a:r>
          </a:p>
        </p:txBody>
      </p:sp>
      <p:sp>
        <p:nvSpPr>
          <p:cNvPr id="375" name="Identidades Sociales"/>
          <p:cNvSpPr txBox="1"/>
          <p:nvPr/>
        </p:nvSpPr>
        <p:spPr>
          <a:xfrm>
            <a:off x="2107131" y="3328715"/>
            <a:ext cx="3294125" cy="143267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/>
            </a:lvl1pPr>
          </a:lstStyle>
          <a:p>
            <a:r>
              <a:t>Identidades Sociales</a:t>
            </a:r>
          </a:p>
        </p:txBody>
      </p:sp>
      <p:sp>
        <p:nvSpPr>
          <p:cNvPr id="3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78731" y="13109828"/>
            <a:ext cx="411709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18</a:t>
            </a:fld>
            <a:endParaRPr/>
          </a:p>
        </p:txBody>
      </p:sp>
      <p:graphicFrame>
        <p:nvGraphicFramePr>
          <p:cNvPr id="377" name="Table 1"/>
          <p:cNvGraphicFramePr/>
          <p:nvPr/>
        </p:nvGraphicFramePr>
        <p:xfrm>
          <a:off x="1473200" y="3030097"/>
          <a:ext cx="20582730" cy="9284725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1165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6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6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65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65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56945">
                <a:tc>
                  <a:txBody>
                    <a:bodyPr/>
                    <a:lstStyle/>
                    <a:p>
                      <a:pPr algn="ctr">
                        <a:defRPr sz="4600"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6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1. Etnia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6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2. Región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6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3. Clase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6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4. Partido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6945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Tratamiento A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- Indígena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- Oriente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- Pobre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- Incumbente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6945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Stimuli A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Mamani Quispe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Nació y vive en LPZ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Autoevalua de estrato bajo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Votaría por el MAS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6945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Tratamiento B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- No indígena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- Occidente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- No pobre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42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- Oposición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6945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Stimuli B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Vargas Martinez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Nació y vive en SCZ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Autoevalua de estrato alto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383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Futura"/>
                        </a:rPr>
                        <a:t>Votaría por CC/Creemos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Screenshot 2022-11-01 at 2.43.01 PM.png" descr="Screenshot 2022-11-01 at 2.43.01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396" y="-413889"/>
            <a:ext cx="16301441" cy="11995401"/>
          </a:xfrm>
          <a:prstGeom prst="rect">
            <a:avLst/>
          </a:prstGeom>
          <a:ln w="12700">
            <a:miter lim="400000"/>
          </a:ln>
        </p:spPr>
      </p:pic>
      <p:sp>
        <p:nvSpPr>
          <p:cNvPr id="380" name="Computer"/>
          <p:cNvSpPr/>
          <p:nvPr/>
        </p:nvSpPr>
        <p:spPr>
          <a:xfrm>
            <a:off x="2800228" y="-183669"/>
            <a:ext cx="20095777" cy="162169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blipFill>
            <a:blip r:embed="rId3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3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77816" y="13109828"/>
            <a:ext cx="412624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19</a:t>
            </a:fld>
            <a:endParaRPr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Screenshot 2022-10-25 at 11.32.16 PM.png"/>
          <p:cNvGrpSpPr/>
          <p:nvPr/>
        </p:nvGrpSpPr>
        <p:grpSpPr>
          <a:xfrm>
            <a:off x="523429" y="-341818"/>
            <a:ext cx="21890188" cy="14552036"/>
            <a:chOff x="0" y="0"/>
            <a:chExt cx="21890187" cy="14552035"/>
          </a:xfrm>
        </p:grpSpPr>
        <p:pic>
          <p:nvPicPr>
            <p:cNvPr id="384" name="Screenshot 2022-10-25 at 11.32.16 PM.png" descr="Screenshot 2022-10-25 at 11.32.16 PM.png"/>
            <p:cNvPicPr>
              <a:picLocks noChangeAspect="1"/>
            </p:cNvPicPr>
            <p:nvPr/>
          </p:nvPicPr>
          <p:blipFill>
            <a:blip r:embed="rId2">
              <a:alphaModFix amt="20716"/>
            </a:blip>
            <a:srcRect/>
            <a:stretch>
              <a:fillRect/>
            </a:stretch>
          </p:blipFill>
          <p:spPr>
            <a:xfrm>
              <a:off x="127000" y="88900"/>
              <a:ext cx="21636188" cy="14221836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383" name="Screenshot 2022-10-25 at 11.32.16 PM.png" descr="Screenshot 2022-10-25 at 11.32.16 PM.png"/>
            <p:cNvPicPr>
              <a:picLocks/>
            </p:cNvPicPr>
            <p:nvPr/>
          </p:nvPicPr>
          <p:blipFill>
            <a:blip r:embed="rId3">
              <a:alphaModFix amt="20716"/>
            </a:blip>
            <a:stretch>
              <a:fillRect/>
            </a:stretch>
          </p:blipFill>
          <p:spPr>
            <a:xfrm>
              <a:off x="0" y="0"/>
              <a:ext cx="21890188" cy="14552036"/>
            </a:xfrm>
            <a:prstGeom prst="rect">
              <a:avLst/>
            </a:prstGeom>
            <a:effectLst/>
          </p:spPr>
        </p:pic>
      </p:grpSp>
      <p:sp>
        <p:nvSpPr>
          <p:cNvPr id="386" name="#4 Resultado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#4 Resultados</a:t>
            </a:r>
          </a:p>
        </p:txBody>
      </p:sp>
      <p:sp>
        <p:nvSpPr>
          <p:cNvPr id="387" name="Grietas de afecto [Observacionales]…"/>
          <p:cNvSpPr txBox="1"/>
          <p:nvPr/>
        </p:nvSpPr>
        <p:spPr>
          <a:xfrm>
            <a:off x="2642160" y="7824302"/>
            <a:ext cx="14522600" cy="30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1104900" indent="-1104900" algn="l">
              <a:buSzPct val="100000"/>
              <a:buAutoNum type="alphaUcPeriod"/>
            </a:pPr>
            <a:r>
              <a:t>Grietas de afecto [</a:t>
            </a:r>
            <a:r>
              <a:rPr>
                <a:solidFill>
                  <a:schemeClr val="accent5"/>
                </a:solidFill>
              </a:rPr>
              <a:t>Observacionales</a:t>
            </a:r>
            <a:r>
              <a:t>]</a:t>
            </a:r>
          </a:p>
          <a:p>
            <a:pPr marL="1104900" indent="-1104900" algn="l">
              <a:buSzPct val="100000"/>
              <a:buAutoNum type="alphaUcPeriod"/>
            </a:pPr>
            <a:r>
              <a:t>Grietas de confianza [</a:t>
            </a:r>
            <a:r>
              <a:rPr>
                <a:solidFill>
                  <a:schemeClr val="accent5"/>
                </a:solidFill>
              </a:rPr>
              <a:t>Experimentales</a:t>
            </a:r>
            <a:r>
              <a:t>]</a:t>
            </a:r>
          </a:p>
          <a:p>
            <a:pPr marL="1104900" indent="-1104900" algn="l">
              <a:buSzPct val="100000"/>
              <a:buAutoNum type="alphaUcPeriod"/>
            </a:pPr>
            <a:r>
              <a:t>Grietas de ideología [</a:t>
            </a:r>
            <a:r>
              <a:rPr>
                <a:solidFill>
                  <a:schemeClr val="accent5"/>
                </a:solidFill>
              </a:rPr>
              <a:t>Observacionales</a:t>
            </a:r>
            <a:r>
              <a:t>]</a:t>
            </a:r>
          </a:p>
        </p:txBody>
      </p:sp>
      <p:sp>
        <p:nvSpPr>
          <p:cNvPr id="38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20</a:t>
            </a:fld>
            <a:endParaRPr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A. Grietas en “Afecto” [Datos observacion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A. Grietas en “Afecto”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observacionales</a:t>
            </a:r>
            <a:r>
              <a:t>]</a:t>
            </a:r>
          </a:p>
        </p:txBody>
      </p:sp>
      <p:sp>
        <p:nvSpPr>
          <p:cNvPr id="391" name="1. Por identidad étnica"/>
          <p:cNvSpPr txBox="1"/>
          <p:nvPr/>
        </p:nvSpPr>
        <p:spPr>
          <a:xfrm>
            <a:off x="1614185" y="2250136"/>
            <a:ext cx="4804843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1. Por identidad étnica</a:t>
            </a:r>
          </a:p>
        </p:txBody>
      </p:sp>
      <p:sp>
        <p:nvSpPr>
          <p:cNvPr id="392" name="a) Por herencia"/>
          <p:cNvSpPr txBox="1"/>
          <p:nvPr/>
        </p:nvSpPr>
        <p:spPr>
          <a:xfrm>
            <a:off x="2546876" y="11974337"/>
            <a:ext cx="6149441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a) Por herencia</a:t>
            </a:r>
          </a:p>
        </p:txBody>
      </p:sp>
      <p:sp>
        <p:nvSpPr>
          <p:cNvPr id="393" name="b) Por idioma"/>
          <p:cNvSpPr txBox="1"/>
          <p:nvPr/>
        </p:nvSpPr>
        <p:spPr>
          <a:xfrm>
            <a:off x="9898958" y="11974337"/>
            <a:ext cx="6149441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b) Por idioma</a:t>
            </a:r>
          </a:p>
        </p:txBody>
      </p:sp>
      <p:sp>
        <p:nvSpPr>
          <p:cNvPr id="394" name="c) Por auto-identificación"/>
          <p:cNvSpPr txBox="1"/>
          <p:nvPr/>
        </p:nvSpPr>
        <p:spPr>
          <a:xfrm>
            <a:off x="17036491" y="11974337"/>
            <a:ext cx="6149442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c) Por auto-identificación</a:t>
            </a:r>
          </a:p>
        </p:txBody>
      </p:sp>
      <p:sp>
        <p:nvSpPr>
          <p:cNvPr id="3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78273" y="13109828"/>
            <a:ext cx="41216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21</a:t>
            </a:fld>
            <a:endParaRPr/>
          </a:p>
        </p:txBody>
      </p:sp>
      <p:pic>
        <p:nvPicPr>
          <p:cNvPr id="39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428463" y="4460282"/>
            <a:ext cx="8386267" cy="5590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952977" y="4523665"/>
            <a:ext cx="8196119" cy="54640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98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291084" y="4502702"/>
            <a:ext cx="8196120" cy="54640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Screenshot 2022-11-01 at 1.14.40 AM.png" descr="Screenshot 2022-11-01 at 1.14.40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838" y="3548263"/>
            <a:ext cx="16029938" cy="9610182"/>
          </a:xfrm>
          <a:prstGeom prst="rect">
            <a:avLst/>
          </a:prstGeom>
          <a:ln w="12700">
            <a:miter lim="400000"/>
          </a:ln>
        </p:spPr>
      </p:pic>
      <p:sp>
        <p:nvSpPr>
          <p:cNvPr id="401" name="A. Grietas en “Afecto” [Datos observacion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A. Grietas en “Afecto”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observacionales</a:t>
            </a:r>
            <a:r>
              <a:t>]</a:t>
            </a:r>
          </a:p>
        </p:txBody>
      </p:sp>
      <p:sp>
        <p:nvSpPr>
          <p:cNvPr id="402" name="1. Por identidad étnica"/>
          <p:cNvSpPr txBox="1"/>
          <p:nvPr/>
        </p:nvSpPr>
        <p:spPr>
          <a:xfrm>
            <a:off x="1614185" y="2250136"/>
            <a:ext cx="4804843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1. Por identidad étnica</a:t>
            </a:r>
          </a:p>
        </p:txBody>
      </p:sp>
      <p:sp>
        <p:nvSpPr>
          <p:cNvPr id="403" name="Terminator"/>
          <p:cNvSpPr/>
          <p:nvPr/>
        </p:nvSpPr>
        <p:spPr>
          <a:xfrm>
            <a:off x="14445842" y="4969161"/>
            <a:ext cx="1524001" cy="76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2033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04" name="Terminator"/>
          <p:cNvSpPr/>
          <p:nvPr/>
        </p:nvSpPr>
        <p:spPr>
          <a:xfrm>
            <a:off x="12728991" y="4969161"/>
            <a:ext cx="1524001" cy="76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2033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05" name="Terminator"/>
          <p:cNvSpPr/>
          <p:nvPr/>
        </p:nvSpPr>
        <p:spPr>
          <a:xfrm>
            <a:off x="16162694" y="4936708"/>
            <a:ext cx="1524001" cy="76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2033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06" name="Terminator"/>
          <p:cNvSpPr/>
          <p:nvPr/>
        </p:nvSpPr>
        <p:spPr>
          <a:xfrm>
            <a:off x="17845166" y="4936708"/>
            <a:ext cx="1524001" cy="76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2033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07" name="Terminator"/>
          <p:cNvSpPr/>
          <p:nvPr/>
        </p:nvSpPr>
        <p:spPr>
          <a:xfrm>
            <a:off x="9124746" y="8170723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08" name="Terminator"/>
          <p:cNvSpPr/>
          <p:nvPr/>
        </p:nvSpPr>
        <p:spPr>
          <a:xfrm>
            <a:off x="11065550" y="8170723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09" name="Terminator"/>
          <p:cNvSpPr/>
          <p:nvPr/>
        </p:nvSpPr>
        <p:spPr>
          <a:xfrm>
            <a:off x="12664084" y="8170723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10" name="Terminator"/>
          <p:cNvSpPr/>
          <p:nvPr/>
        </p:nvSpPr>
        <p:spPr>
          <a:xfrm>
            <a:off x="14204376" y="8170723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11" name="Terminator"/>
          <p:cNvSpPr/>
          <p:nvPr/>
        </p:nvSpPr>
        <p:spPr>
          <a:xfrm>
            <a:off x="15910545" y="8170723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12" name="Terminator"/>
          <p:cNvSpPr/>
          <p:nvPr/>
        </p:nvSpPr>
        <p:spPr>
          <a:xfrm>
            <a:off x="17616713" y="8170723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13" name="Terminator"/>
          <p:cNvSpPr/>
          <p:nvPr/>
        </p:nvSpPr>
        <p:spPr>
          <a:xfrm>
            <a:off x="9496735" y="4904254"/>
            <a:ext cx="1653814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14" name="Terminator"/>
          <p:cNvSpPr/>
          <p:nvPr/>
        </p:nvSpPr>
        <p:spPr>
          <a:xfrm>
            <a:off x="11065550" y="4904254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15" name="Arrow"/>
          <p:cNvSpPr/>
          <p:nvPr/>
        </p:nvSpPr>
        <p:spPr>
          <a:xfrm rot="5400000">
            <a:off x="10339227" y="8471885"/>
            <a:ext cx="9017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3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16" name="Arrow"/>
          <p:cNvSpPr/>
          <p:nvPr/>
        </p:nvSpPr>
        <p:spPr>
          <a:xfrm rot="5400000">
            <a:off x="15294809" y="8446917"/>
            <a:ext cx="1054101" cy="501714"/>
          </a:xfrm>
          <a:prstGeom prst="rightArrow">
            <a:avLst>
              <a:gd name="adj1" fmla="val 32000"/>
              <a:gd name="adj2" fmla="val 25313"/>
            </a:avLst>
          </a:prstGeom>
          <a:blipFill>
            <a:blip r:embed="rId3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17" name="Arrow"/>
          <p:cNvSpPr/>
          <p:nvPr/>
        </p:nvSpPr>
        <p:spPr>
          <a:xfrm rot="16200000">
            <a:off x="10721530" y="7201546"/>
            <a:ext cx="381001" cy="477039"/>
          </a:xfrm>
          <a:prstGeom prst="rightArrow">
            <a:avLst>
              <a:gd name="adj1" fmla="val 32000"/>
              <a:gd name="adj2" fmla="val 33333"/>
            </a:avLst>
          </a:prstGeom>
          <a:blipFill>
            <a:blip r:embed="rId3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18" name="Arrow"/>
          <p:cNvSpPr/>
          <p:nvPr/>
        </p:nvSpPr>
        <p:spPr>
          <a:xfrm rot="5400000">
            <a:off x="13565213" y="8446916"/>
            <a:ext cx="1054101" cy="501714"/>
          </a:xfrm>
          <a:prstGeom prst="rightArrow">
            <a:avLst>
              <a:gd name="adj1" fmla="val 32000"/>
              <a:gd name="adj2" fmla="val 25313"/>
            </a:avLst>
          </a:prstGeom>
          <a:blipFill>
            <a:blip r:embed="rId3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19" name="Arrow"/>
          <p:cNvSpPr/>
          <p:nvPr/>
        </p:nvSpPr>
        <p:spPr>
          <a:xfrm rot="5400000">
            <a:off x="18464474" y="8605597"/>
            <a:ext cx="1422401" cy="501714"/>
          </a:xfrm>
          <a:prstGeom prst="rightArrow">
            <a:avLst>
              <a:gd name="adj1" fmla="val 32000"/>
              <a:gd name="adj2" fmla="val 25313"/>
            </a:avLst>
          </a:prstGeom>
          <a:blipFill>
            <a:blip r:embed="rId3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20" name="Arrow"/>
          <p:cNvSpPr/>
          <p:nvPr/>
        </p:nvSpPr>
        <p:spPr>
          <a:xfrm rot="5400000">
            <a:off x="16734880" y="8599247"/>
            <a:ext cx="1422401" cy="501714"/>
          </a:xfrm>
          <a:prstGeom prst="rightArrow">
            <a:avLst>
              <a:gd name="adj1" fmla="val 32000"/>
              <a:gd name="adj2" fmla="val 25313"/>
            </a:avLst>
          </a:prstGeom>
          <a:blipFill>
            <a:blip r:embed="rId3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21" name="Arrow"/>
          <p:cNvSpPr/>
          <p:nvPr/>
        </p:nvSpPr>
        <p:spPr>
          <a:xfrm rot="5400000">
            <a:off x="11892770" y="8389767"/>
            <a:ext cx="939801" cy="501714"/>
          </a:xfrm>
          <a:prstGeom prst="rightArrow">
            <a:avLst>
              <a:gd name="adj1" fmla="val 32000"/>
              <a:gd name="adj2" fmla="val 25313"/>
            </a:avLst>
          </a:prstGeom>
          <a:blipFill>
            <a:blip r:embed="rId3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22" name="Arrow"/>
          <p:cNvSpPr/>
          <p:nvPr/>
        </p:nvSpPr>
        <p:spPr>
          <a:xfrm rot="16200000">
            <a:off x="12373962" y="7194418"/>
            <a:ext cx="393701" cy="477039"/>
          </a:xfrm>
          <a:prstGeom prst="rightArrow">
            <a:avLst>
              <a:gd name="adj1" fmla="val 32000"/>
              <a:gd name="adj2" fmla="val 32258"/>
            </a:avLst>
          </a:prstGeom>
          <a:blipFill>
            <a:blip r:embed="rId3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23" name="Arrow"/>
          <p:cNvSpPr/>
          <p:nvPr/>
        </p:nvSpPr>
        <p:spPr>
          <a:xfrm rot="16200000">
            <a:off x="14166095" y="7201546"/>
            <a:ext cx="127001" cy="477039"/>
          </a:xfrm>
          <a:prstGeom prst="rightArrow">
            <a:avLst>
              <a:gd name="adj1" fmla="val 32000"/>
              <a:gd name="adj2" fmla="val 100000"/>
            </a:avLst>
          </a:prstGeom>
          <a:blipFill>
            <a:blip r:embed="rId3">
              <a:alphaModFix amt="40000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24" name="Arrow"/>
          <p:cNvSpPr/>
          <p:nvPr/>
        </p:nvSpPr>
        <p:spPr>
          <a:xfrm rot="16200000">
            <a:off x="17501201" y="7201546"/>
            <a:ext cx="101601" cy="477039"/>
          </a:xfrm>
          <a:prstGeom prst="rightArrow">
            <a:avLst>
              <a:gd name="adj1" fmla="val 32000"/>
              <a:gd name="adj2" fmla="val 125000"/>
            </a:avLst>
          </a:prstGeom>
          <a:blipFill>
            <a:blip r:embed="rId3">
              <a:alphaModFix amt="40000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25" name="Arrow"/>
          <p:cNvSpPr/>
          <p:nvPr/>
        </p:nvSpPr>
        <p:spPr>
          <a:xfrm rot="16200000">
            <a:off x="19118524" y="7201546"/>
            <a:ext cx="114301" cy="477039"/>
          </a:xfrm>
          <a:prstGeom prst="rightArrow">
            <a:avLst>
              <a:gd name="adj1" fmla="val 32000"/>
              <a:gd name="adj2" fmla="val 111111"/>
            </a:avLst>
          </a:prstGeom>
          <a:blipFill>
            <a:blip r:embed="rId3">
              <a:alphaModFix amt="40000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26" name="Arrow"/>
          <p:cNvSpPr/>
          <p:nvPr/>
        </p:nvSpPr>
        <p:spPr>
          <a:xfrm rot="16200000">
            <a:off x="15583636" y="7194418"/>
            <a:ext cx="101601" cy="477039"/>
          </a:xfrm>
          <a:prstGeom prst="rightArrow">
            <a:avLst>
              <a:gd name="adj1" fmla="val 32000"/>
              <a:gd name="adj2" fmla="val 125000"/>
            </a:avLst>
          </a:prstGeom>
          <a:blipFill>
            <a:blip r:embed="rId3">
              <a:alphaModFix amt="40000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22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3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3" presetClass="entr" presetSubtype="5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3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3" presetClass="entr" presetSubtype="5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3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3" presetClass="entr" presetSubtype="5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3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3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"/>
                            </p:stCondLst>
                            <p:childTnLst>
                              <p:par>
                                <p:cTn id="26" presetID="3" presetClass="entr" presetSubtype="5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3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id="30" presetID="3" presetClass="entr" presetSubtype="5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3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3" presetClass="entr" presetSubtype="5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3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3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"/>
                            </p:stCondLst>
                            <p:childTnLst>
                              <p:par>
                                <p:cTn id="43" presetID="3" presetClass="entr" presetSubtype="5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3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"/>
                            </p:stCondLst>
                            <p:childTnLst>
                              <p:par>
                                <p:cTn id="47" presetID="3" presetClass="entr" presetSubtype="5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3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900"/>
                            </p:stCondLst>
                            <p:childTnLst>
                              <p:par>
                                <p:cTn id="51" presetID="3" presetClass="entr" presetSubtype="5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3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" grpId="3" animBg="1" advAuto="0"/>
      <p:bldP spid="416" grpId="8" animBg="1" advAuto="0"/>
      <p:bldP spid="417" grpId="1" animBg="1" advAuto="0"/>
      <p:bldP spid="418" grpId="7" animBg="1" advAuto="0"/>
      <p:bldP spid="419" grpId="12" animBg="1" advAuto="0"/>
      <p:bldP spid="420" grpId="11" animBg="1" advAuto="0"/>
      <p:bldP spid="421" grpId="4" animBg="1" advAuto="0"/>
      <p:bldP spid="422" grpId="2" animBg="1" advAuto="0"/>
      <p:bldP spid="423" grpId="5" animBg="1" advAuto="0"/>
      <p:bldP spid="424" grpId="10" animBg="1" advAuto="0"/>
      <p:bldP spid="425" grpId="9" animBg="1" advAuto="0"/>
      <p:bldP spid="426" grpId="6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A. Grietas en “Afecto” [Datos observacion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A. Grietas en “Afecto”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observacionales</a:t>
            </a:r>
            <a:r>
              <a:t>]</a:t>
            </a:r>
          </a:p>
        </p:txBody>
      </p:sp>
      <p:sp>
        <p:nvSpPr>
          <p:cNvPr id="430" name="2. Por identidad regional"/>
          <p:cNvSpPr txBox="1"/>
          <p:nvPr/>
        </p:nvSpPr>
        <p:spPr>
          <a:xfrm>
            <a:off x="1619684" y="2250136"/>
            <a:ext cx="5315174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2. Por identidad regional</a:t>
            </a:r>
          </a:p>
        </p:txBody>
      </p:sp>
      <p:sp>
        <p:nvSpPr>
          <p:cNvPr id="431" name="a) La Paz vs Santa Cruz"/>
          <p:cNvSpPr txBox="1"/>
          <p:nvPr/>
        </p:nvSpPr>
        <p:spPr>
          <a:xfrm>
            <a:off x="1614185" y="12196124"/>
            <a:ext cx="6149441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a) La Paz vs Santa Cruz</a:t>
            </a:r>
          </a:p>
        </p:txBody>
      </p:sp>
      <p:sp>
        <p:nvSpPr>
          <p:cNvPr id="432" name="b) Oeste vs. Este"/>
          <p:cNvSpPr txBox="1"/>
          <p:nvPr/>
        </p:nvSpPr>
        <p:spPr>
          <a:xfrm>
            <a:off x="9711824" y="12196124"/>
            <a:ext cx="6149441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b) Oeste vs. Este</a:t>
            </a:r>
          </a:p>
        </p:txBody>
      </p:sp>
      <p:sp>
        <p:nvSpPr>
          <p:cNvPr id="433" name="c) Por auto-identificación"/>
          <p:cNvSpPr txBox="1"/>
          <p:nvPr/>
        </p:nvSpPr>
        <p:spPr>
          <a:xfrm>
            <a:off x="16876771" y="12196124"/>
            <a:ext cx="6149441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c) Por auto-identificación</a:t>
            </a:r>
          </a:p>
        </p:txBody>
      </p:sp>
      <p:sp>
        <p:nvSpPr>
          <p:cNvPr id="4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23</a:t>
            </a:fld>
            <a:endParaRPr/>
          </a:p>
        </p:txBody>
      </p:sp>
      <p:pic>
        <p:nvPicPr>
          <p:cNvPr id="43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6018" y="4523647"/>
            <a:ext cx="9125776" cy="6083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43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223657" y="4523647"/>
            <a:ext cx="9125774" cy="6083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43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5829278" y="4523647"/>
            <a:ext cx="9125774" cy="60838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A. Grietas en “Afecto” [Datos observacion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A. Grietas en “Afecto”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observacionales</a:t>
            </a:r>
            <a:r>
              <a:t>]</a:t>
            </a:r>
          </a:p>
        </p:txBody>
      </p:sp>
      <p:sp>
        <p:nvSpPr>
          <p:cNvPr id="440" name="2. Por identidad regional"/>
          <p:cNvSpPr txBox="1"/>
          <p:nvPr/>
        </p:nvSpPr>
        <p:spPr>
          <a:xfrm>
            <a:off x="1619684" y="2250136"/>
            <a:ext cx="5315174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2. Por identidad regional</a:t>
            </a:r>
          </a:p>
        </p:txBody>
      </p:sp>
      <p:pic>
        <p:nvPicPr>
          <p:cNvPr id="441" name="Screenshot 2022-10-26 at 8.48.18 AM.png" descr="Screenshot 2022-10-26 at 8.48.18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38" y="3224822"/>
            <a:ext cx="18250009" cy="9467728"/>
          </a:xfrm>
          <a:prstGeom prst="rect">
            <a:avLst/>
          </a:prstGeom>
          <a:ln w="12700">
            <a:miter lim="400000"/>
          </a:ln>
        </p:spPr>
      </p:pic>
      <p:sp>
        <p:nvSpPr>
          <p:cNvPr id="442" name="Terminator"/>
          <p:cNvSpPr/>
          <p:nvPr/>
        </p:nvSpPr>
        <p:spPr>
          <a:xfrm>
            <a:off x="8872597" y="48094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43" name="Terminator"/>
          <p:cNvSpPr/>
          <p:nvPr/>
        </p:nvSpPr>
        <p:spPr>
          <a:xfrm>
            <a:off x="10649856" y="48094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44" name="Terminator"/>
          <p:cNvSpPr/>
          <p:nvPr/>
        </p:nvSpPr>
        <p:spPr>
          <a:xfrm>
            <a:off x="8872597" y="8140843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45" name="Terminator"/>
          <p:cNvSpPr/>
          <p:nvPr/>
        </p:nvSpPr>
        <p:spPr>
          <a:xfrm>
            <a:off x="14204376" y="48094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46" name="Terminator"/>
          <p:cNvSpPr/>
          <p:nvPr/>
        </p:nvSpPr>
        <p:spPr>
          <a:xfrm>
            <a:off x="15815757" y="48094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47" name="Terminator"/>
          <p:cNvSpPr/>
          <p:nvPr/>
        </p:nvSpPr>
        <p:spPr>
          <a:xfrm>
            <a:off x="17498229" y="48094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48" name="Terminator"/>
          <p:cNvSpPr/>
          <p:nvPr/>
        </p:nvSpPr>
        <p:spPr>
          <a:xfrm>
            <a:off x="12427116" y="48094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49" name="Terminator"/>
          <p:cNvSpPr/>
          <p:nvPr/>
        </p:nvSpPr>
        <p:spPr>
          <a:xfrm>
            <a:off x="10649856" y="8140843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50" name="Terminator"/>
          <p:cNvSpPr/>
          <p:nvPr/>
        </p:nvSpPr>
        <p:spPr>
          <a:xfrm>
            <a:off x="12293451" y="8140843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51" name="Terminator"/>
          <p:cNvSpPr/>
          <p:nvPr/>
        </p:nvSpPr>
        <p:spPr>
          <a:xfrm>
            <a:off x="14023317" y="8140843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52" name="Terminator"/>
          <p:cNvSpPr/>
          <p:nvPr/>
        </p:nvSpPr>
        <p:spPr>
          <a:xfrm>
            <a:off x="15714305" y="8140843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53" name="Terminator"/>
          <p:cNvSpPr/>
          <p:nvPr/>
        </p:nvSpPr>
        <p:spPr>
          <a:xfrm>
            <a:off x="17498229" y="8140843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54" name="Arrow"/>
          <p:cNvSpPr/>
          <p:nvPr/>
        </p:nvSpPr>
        <p:spPr>
          <a:xfrm rot="5400000">
            <a:off x="10232665" y="8175374"/>
            <a:ext cx="5461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55" name="Arrow"/>
          <p:cNvSpPr/>
          <p:nvPr/>
        </p:nvSpPr>
        <p:spPr>
          <a:xfrm rot="5400000">
            <a:off x="11918950" y="8175374"/>
            <a:ext cx="546100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56" name="Arrow"/>
          <p:cNvSpPr/>
          <p:nvPr/>
        </p:nvSpPr>
        <p:spPr>
          <a:xfrm rot="5400000">
            <a:off x="13694134" y="8086474"/>
            <a:ext cx="368301" cy="477039"/>
          </a:xfrm>
          <a:prstGeom prst="rightArrow">
            <a:avLst>
              <a:gd name="adj1" fmla="val 32000"/>
              <a:gd name="adj2" fmla="val 3448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57" name="Arrow"/>
          <p:cNvSpPr/>
          <p:nvPr/>
        </p:nvSpPr>
        <p:spPr>
          <a:xfrm rot="5400000">
            <a:off x="15465187" y="8086474"/>
            <a:ext cx="368301" cy="477039"/>
          </a:xfrm>
          <a:prstGeom prst="rightArrow">
            <a:avLst>
              <a:gd name="adj1" fmla="val 32000"/>
              <a:gd name="adj2" fmla="val 3448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58" name="Arrow"/>
          <p:cNvSpPr/>
          <p:nvPr/>
        </p:nvSpPr>
        <p:spPr>
          <a:xfrm rot="5400000">
            <a:off x="16874290" y="8448424"/>
            <a:ext cx="10922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59" name="Arrow"/>
          <p:cNvSpPr/>
          <p:nvPr/>
        </p:nvSpPr>
        <p:spPr>
          <a:xfrm rot="5400000">
            <a:off x="18560575" y="8448424"/>
            <a:ext cx="10922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60" name="Arrow"/>
          <p:cNvSpPr/>
          <p:nvPr/>
        </p:nvSpPr>
        <p:spPr>
          <a:xfrm rot="16200000">
            <a:off x="10010415" y="7050140"/>
            <a:ext cx="9906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61" name="Arrow"/>
          <p:cNvSpPr/>
          <p:nvPr/>
        </p:nvSpPr>
        <p:spPr>
          <a:xfrm rot="16200000">
            <a:off x="11684000" y="7037440"/>
            <a:ext cx="1016000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62" name="Arrow"/>
          <p:cNvSpPr/>
          <p:nvPr/>
        </p:nvSpPr>
        <p:spPr>
          <a:xfrm rot="16200000">
            <a:off x="13427434" y="7094590"/>
            <a:ext cx="9017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63" name="Arrow"/>
          <p:cNvSpPr/>
          <p:nvPr/>
        </p:nvSpPr>
        <p:spPr>
          <a:xfrm rot="16200000">
            <a:off x="15192137" y="7088240"/>
            <a:ext cx="9144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64" name="Arrow"/>
          <p:cNvSpPr/>
          <p:nvPr/>
        </p:nvSpPr>
        <p:spPr>
          <a:xfrm rot="16200000">
            <a:off x="16766340" y="6891390"/>
            <a:ext cx="13081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65" name="Arrow"/>
          <p:cNvSpPr/>
          <p:nvPr/>
        </p:nvSpPr>
        <p:spPr>
          <a:xfrm rot="16200000">
            <a:off x="18458975" y="6897740"/>
            <a:ext cx="12954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1357" y="13109828"/>
            <a:ext cx="429083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24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3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3" presetClass="entr" presetSubtype="5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3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3" presetClass="entr" presetSubtype="5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3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3" presetClass="entr" presetSubtype="5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3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3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"/>
                            </p:stCondLst>
                            <p:childTnLst>
                              <p:par>
                                <p:cTn id="26" presetID="3" presetClass="entr" presetSubtype="5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3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id="30" presetID="3" presetClass="entr" presetSubtype="5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3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3" presetClass="entr" presetSubtype="5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3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3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"/>
                            </p:stCondLst>
                            <p:childTnLst>
                              <p:par>
                                <p:cTn id="43" presetID="3" presetClass="entr" presetSubtype="5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3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"/>
                            </p:stCondLst>
                            <p:childTnLst>
                              <p:par>
                                <p:cTn id="47" presetID="3" presetClass="entr" presetSubtype="5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3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900"/>
                            </p:stCondLst>
                            <p:childTnLst>
                              <p:par>
                                <p:cTn id="51" presetID="3" presetClass="entr" presetSubtype="5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3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" grpId="3" animBg="1" advAuto="0"/>
      <p:bldP spid="455" grpId="4" animBg="1" advAuto="0"/>
      <p:bldP spid="456" grpId="7" animBg="1" advAuto="0"/>
      <p:bldP spid="457" grpId="8" animBg="1" advAuto="0"/>
      <p:bldP spid="458" grpId="11" animBg="1" advAuto="0"/>
      <p:bldP spid="459" grpId="12" animBg="1" advAuto="0"/>
      <p:bldP spid="460" grpId="1" animBg="1" advAuto="0"/>
      <p:bldP spid="461" grpId="2" animBg="1" advAuto="0"/>
      <p:bldP spid="462" grpId="5" animBg="1" advAuto="0"/>
      <p:bldP spid="463" grpId="6" animBg="1" advAuto="0"/>
      <p:bldP spid="464" grpId="9" animBg="1" advAuto="0"/>
      <p:bldP spid="465" grpId="10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A. Grietas en “Afecto” [Datos observacion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A. Grietas en “Afecto”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observacionales</a:t>
            </a:r>
            <a:r>
              <a:t>]</a:t>
            </a:r>
          </a:p>
        </p:txBody>
      </p:sp>
      <p:sp>
        <p:nvSpPr>
          <p:cNvPr id="469" name="3. Por identidad de clase [estrato de ingreso]"/>
          <p:cNvSpPr txBox="1"/>
          <p:nvPr/>
        </p:nvSpPr>
        <p:spPr>
          <a:xfrm>
            <a:off x="1725679" y="2226439"/>
            <a:ext cx="9510788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>
                <a:solidFill>
                  <a:schemeClr val="accent5"/>
                </a:solidFill>
              </a:defRPr>
            </a:pPr>
            <a:r>
              <a:t>3. Por identidad de clase [</a:t>
            </a:r>
            <a:r>
              <a:rPr>
                <a:solidFill>
                  <a:srgbClr val="FFFFFF"/>
                </a:solidFill>
              </a:rPr>
              <a:t>estrato de ingreso</a:t>
            </a:r>
            <a:r>
              <a:t>]</a:t>
            </a:r>
          </a:p>
        </p:txBody>
      </p:sp>
      <p:sp>
        <p:nvSpPr>
          <p:cNvPr id="470" name="a) Auto-evaluación"/>
          <p:cNvSpPr txBox="1"/>
          <p:nvPr/>
        </p:nvSpPr>
        <p:spPr>
          <a:xfrm>
            <a:off x="4291923" y="12370517"/>
            <a:ext cx="6149441" cy="684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a) Auto-evaluación</a:t>
            </a:r>
          </a:p>
        </p:txBody>
      </p:sp>
      <p:sp>
        <p:nvSpPr>
          <p:cNvPr id="471" name="b) Índice de activos"/>
          <p:cNvSpPr txBox="1"/>
          <p:nvPr/>
        </p:nvSpPr>
        <p:spPr>
          <a:xfrm>
            <a:off x="15281236" y="12370517"/>
            <a:ext cx="6149441" cy="684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b) Índice de activos</a:t>
            </a:r>
          </a:p>
        </p:txBody>
      </p:sp>
      <p:sp>
        <p:nvSpPr>
          <p:cNvPr id="4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25</a:t>
            </a:fld>
            <a:endParaRPr/>
          </a:p>
        </p:txBody>
      </p:sp>
      <p:pic>
        <p:nvPicPr>
          <p:cNvPr id="4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11249" y="4444376"/>
            <a:ext cx="9510788" cy="6340526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3600562" y="4444376"/>
            <a:ext cx="9510787" cy="63405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A. Grietas en “Afecto” [Datos observacion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A. Grietas en “Afecto”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observacionales</a:t>
            </a:r>
            <a:r>
              <a:t>]</a:t>
            </a:r>
          </a:p>
        </p:txBody>
      </p:sp>
      <p:sp>
        <p:nvSpPr>
          <p:cNvPr id="477" name="3. Por identidad de clase [estrato de ingreso]"/>
          <p:cNvSpPr txBox="1"/>
          <p:nvPr/>
        </p:nvSpPr>
        <p:spPr>
          <a:xfrm>
            <a:off x="1725679" y="2226439"/>
            <a:ext cx="9510788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>
                <a:solidFill>
                  <a:schemeClr val="accent5"/>
                </a:solidFill>
              </a:defRPr>
            </a:pPr>
            <a:r>
              <a:t>3. Por identidad de clase [</a:t>
            </a:r>
            <a:r>
              <a:rPr>
                <a:solidFill>
                  <a:srgbClr val="FFFFFF"/>
                </a:solidFill>
              </a:rPr>
              <a:t>estrato de ingreso</a:t>
            </a:r>
            <a:r>
              <a:t>]</a:t>
            </a:r>
          </a:p>
        </p:txBody>
      </p:sp>
      <p:pic>
        <p:nvPicPr>
          <p:cNvPr id="478" name="Screenshot 2022-10-26 at 8.48.56 AM.png" descr="Screenshot 2022-10-26 at 8.48.56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140" y="3355756"/>
            <a:ext cx="18527754" cy="9425644"/>
          </a:xfrm>
          <a:prstGeom prst="rect">
            <a:avLst/>
          </a:prstGeom>
          <a:ln w="12700">
            <a:miter lim="400000"/>
          </a:ln>
        </p:spPr>
      </p:pic>
      <p:sp>
        <p:nvSpPr>
          <p:cNvPr id="479" name="Terminator"/>
          <p:cNvSpPr/>
          <p:nvPr/>
        </p:nvSpPr>
        <p:spPr>
          <a:xfrm>
            <a:off x="11631110" y="4927951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20383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80" name="Terminator"/>
          <p:cNvSpPr/>
          <p:nvPr/>
        </p:nvSpPr>
        <p:spPr>
          <a:xfrm>
            <a:off x="13185413" y="4927951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76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81" name="Terminator"/>
          <p:cNvSpPr/>
          <p:nvPr/>
        </p:nvSpPr>
        <p:spPr>
          <a:xfrm>
            <a:off x="14820492" y="4927951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5071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82" name="Terminator"/>
          <p:cNvSpPr/>
          <p:nvPr/>
        </p:nvSpPr>
        <p:spPr>
          <a:xfrm>
            <a:off x="16597751" y="4927951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50715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83" name="Terminator"/>
          <p:cNvSpPr/>
          <p:nvPr/>
        </p:nvSpPr>
        <p:spPr>
          <a:xfrm>
            <a:off x="11631110" y="8198108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953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84" name="Terminator"/>
          <p:cNvSpPr/>
          <p:nvPr/>
        </p:nvSpPr>
        <p:spPr>
          <a:xfrm>
            <a:off x="13185413" y="8198108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60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85" name="Terminator"/>
          <p:cNvSpPr/>
          <p:nvPr/>
        </p:nvSpPr>
        <p:spPr>
          <a:xfrm>
            <a:off x="16597751" y="8198108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823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86" name="Terminator"/>
          <p:cNvSpPr/>
          <p:nvPr/>
        </p:nvSpPr>
        <p:spPr>
          <a:xfrm>
            <a:off x="14891582" y="8198108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29025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87" name="Arrow"/>
          <p:cNvSpPr/>
          <p:nvPr/>
        </p:nvSpPr>
        <p:spPr>
          <a:xfrm rot="16200000">
            <a:off x="13007762" y="7210031"/>
            <a:ext cx="355601" cy="477039"/>
          </a:xfrm>
          <a:prstGeom prst="rightArrow">
            <a:avLst>
              <a:gd name="adj1" fmla="val 32000"/>
              <a:gd name="adj2" fmla="val 35714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88" name="Arrow"/>
          <p:cNvSpPr/>
          <p:nvPr/>
        </p:nvSpPr>
        <p:spPr>
          <a:xfrm rot="16200000">
            <a:off x="14634010" y="7216381"/>
            <a:ext cx="342901" cy="477039"/>
          </a:xfrm>
          <a:prstGeom prst="rightArrow">
            <a:avLst>
              <a:gd name="adj1" fmla="val 32000"/>
              <a:gd name="adj2" fmla="val 37037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89" name="Arrow"/>
          <p:cNvSpPr/>
          <p:nvPr/>
        </p:nvSpPr>
        <p:spPr>
          <a:xfrm rot="16200000">
            <a:off x="16225417" y="7006831"/>
            <a:ext cx="7620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90" name="Arrow"/>
          <p:cNvSpPr/>
          <p:nvPr/>
        </p:nvSpPr>
        <p:spPr>
          <a:xfrm rot="16200000">
            <a:off x="18026372" y="7006831"/>
            <a:ext cx="7620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91" name="Arrow"/>
          <p:cNvSpPr/>
          <p:nvPr/>
        </p:nvSpPr>
        <p:spPr>
          <a:xfrm rot="5400000">
            <a:off x="13071262" y="8087714"/>
            <a:ext cx="228601" cy="477040"/>
          </a:xfrm>
          <a:prstGeom prst="rightArrow">
            <a:avLst>
              <a:gd name="adj1" fmla="val 32000"/>
              <a:gd name="adj2" fmla="val 55556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92" name="Arrow"/>
          <p:cNvSpPr/>
          <p:nvPr/>
        </p:nvSpPr>
        <p:spPr>
          <a:xfrm rot="5400000">
            <a:off x="14665760" y="8113114"/>
            <a:ext cx="279401" cy="477040"/>
          </a:xfrm>
          <a:prstGeom prst="rightArrow">
            <a:avLst>
              <a:gd name="adj1" fmla="val 32000"/>
              <a:gd name="adj2" fmla="val 45455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93" name="Arrow"/>
          <p:cNvSpPr/>
          <p:nvPr/>
        </p:nvSpPr>
        <p:spPr>
          <a:xfrm rot="5400000">
            <a:off x="16475616" y="8062314"/>
            <a:ext cx="177801" cy="477040"/>
          </a:xfrm>
          <a:prstGeom prst="rightArrow">
            <a:avLst>
              <a:gd name="adj1" fmla="val 32000"/>
              <a:gd name="adj2" fmla="val 71429"/>
            </a:avLst>
          </a:prstGeom>
          <a:blipFill>
            <a:blip r:embed="rId4">
              <a:alphaModFix amt="40000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94" name="Arrow"/>
          <p:cNvSpPr/>
          <p:nvPr/>
        </p:nvSpPr>
        <p:spPr>
          <a:xfrm rot="5400000">
            <a:off x="18276273" y="8087714"/>
            <a:ext cx="228601" cy="477040"/>
          </a:xfrm>
          <a:prstGeom prst="rightArrow">
            <a:avLst>
              <a:gd name="adj1" fmla="val 32000"/>
              <a:gd name="adj2" fmla="val 55556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4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26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3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3" presetClass="entr" presetSubtype="5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3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3" presetClass="entr" presetSubtype="5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3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3" presetClass="entr" presetSubtype="5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3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3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"/>
                            </p:stCondLst>
                            <p:childTnLst>
                              <p:par>
                                <p:cTn id="26" presetID="3" presetClass="entr" presetSubtype="5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3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id="30" presetID="3" presetClass="entr" presetSubtype="5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3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3" presetClass="entr" presetSubtype="5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3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" grpId="1" animBg="1" advAuto="0"/>
      <p:bldP spid="488" grpId="2" animBg="1" advAuto="0"/>
      <p:bldP spid="489" grpId="5" animBg="1" advAuto="0"/>
      <p:bldP spid="490" grpId="6" animBg="1" advAuto="0"/>
      <p:bldP spid="491" grpId="3" animBg="1" advAuto="0"/>
      <p:bldP spid="492" grpId="4" animBg="1" advAuto="0"/>
      <p:bldP spid="493" grpId="7" animBg="1" advAuto="0"/>
      <p:bldP spid="494" grpId="8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A. Grietas en “Afecto” [Datos observacion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A. Grietas en “Afecto”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observacionales</a:t>
            </a:r>
            <a:r>
              <a:t>]</a:t>
            </a:r>
          </a:p>
        </p:txBody>
      </p:sp>
      <p:sp>
        <p:nvSpPr>
          <p:cNvPr id="498" name="4. Por identidad partidaria"/>
          <p:cNvSpPr txBox="1"/>
          <p:nvPr/>
        </p:nvSpPr>
        <p:spPr>
          <a:xfrm>
            <a:off x="1815328" y="2202742"/>
            <a:ext cx="5682184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4. Por identidad partidaria</a:t>
            </a:r>
          </a:p>
        </p:txBody>
      </p:sp>
      <p:sp>
        <p:nvSpPr>
          <p:cNvPr id="499" name="a) Preferencia de voto 2020"/>
          <p:cNvSpPr txBox="1"/>
          <p:nvPr/>
        </p:nvSpPr>
        <p:spPr>
          <a:xfrm>
            <a:off x="4291923" y="12370517"/>
            <a:ext cx="6149441" cy="684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a) Preferencia de voto 2020</a:t>
            </a:r>
          </a:p>
        </p:txBody>
      </p:sp>
      <p:sp>
        <p:nvSpPr>
          <p:cNvPr id="500" name="b) Preferencia de voto 2022"/>
          <p:cNvSpPr txBox="1"/>
          <p:nvPr/>
        </p:nvSpPr>
        <p:spPr>
          <a:xfrm>
            <a:off x="15281236" y="12370517"/>
            <a:ext cx="6149441" cy="684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b) Preferencia de voto 2022</a:t>
            </a:r>
          </a:p>
        </p:txBody>
      </p:sp>
      <p:sp>
        <p:nvSpPr>
          <p:cNvPr id="5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700" y="13109828"/>
            <a:ext cx="424740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27</a:t>
            </a:fld>
            <a:endParaRPr/>
          </a:p>
        </p:txBody>
      </p:sp>
      <p:pic>
        <p:nvPicPr>
          <p:cNvPr id="50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106756" y="4716311"/>
            <a:ext cx="8962879" cy="5975253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3874517" y="4716311"/>
            <a:ext cx="8962879" cy="59752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A. Grietas en “Afecto” [Datos observacion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A. Grietas en “Afecto”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observacionales</a:t>
            </a:r>
            <a:r>
              <a:t>]</a:t>
            </a:r>
          </a:p>
        </p:txBody>
      </p:sp>
      <p:sp>
        <p:nvSpPr>
          <p:cNvPr id="506" name="4. Por identidad partidaria"/>
          <p:cNvSpPr txBox="1"/>
          <p:nvPr/>
        </p:nvSpPr>
        <p:spPr>
          <a:xfrm>
            <a:off x="1815328" y="2250136"/>
            <a:ext cx="5682184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4. Por identidad partidaria</a:t>
            </a:r>
          </a:p>
        </p:txBody>
      </p:sp>
      <p:pic>
        <p:nvPicPr>
          <p:cNvPr id="507" name="Screenshot 2022-10-26 at 8.49.34 AM.png" descr="Screenshot 2022-10-26 at 8.49.34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409" y="3150406"/>
            <a:ext cx="18711182" cy="9960325"/>
          </a:xfrm>
          <a:prstGeom prst="rect">
            <a:avLst/>
          </a:prstGeom>
          <a:ln w="12700">
            <a:miter lim="400000"/>
          </a:ln>
        </p:spPr>
      </p:pic>
      <p:sp>
        <p:nvSpPr>
          <p:cNvPr id="508" name="Terminator"/>
          <p:cNvSpPr/>
          <p:nvPr/>
        </p:nvSpPr>
        <p:spPr>
          <a:xfrm>
            <a:off x="10483979" y="48094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09" name="Terminator"/>
          <p:cNvSpPr/>
          <p:nvPr/>
        </p:nvSpPr>
        <p:spPr>
          <a:xfrm>
            <a:off x="12308632" y="48094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10" name="Terminator"/>
          <p:cNvSpPr/>
          <p:nvPr/>
        </p:nvSpPr>
        <p:spPr>
          <a:xfrm>
            <a:off x="14133286" y="48094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11" name="Terminator"/>
          <p:cNvSpPr/>
          <p:nvPr/>
        </p:nvSpPr>
        <p:spPr>
          <a:xfrm>
            <a:off x="16194906" y="4809467"/>
            <a:ext cx="1653814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6842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12" name="Terminator"/>
          <p:cNvSpPr/>
          <p:nvPr/>
        </p:nvSpPr>
        <p:spPr>
          <a:xfrm>
            <a:off x="10483979" y="85061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60868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13" name="Terminator"/>
          <p:cNvSpPr/>
          <p:nvPr/>
        </p:nvSpPr>
        <p:spPr>
          <a:xfrm>
            <a:off x="12308632" y="85061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60868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14" name="Terminator"/>
          <p:cNvSpPr/>
          <p:nvPr/>
        </p:nvSpPr>
        <p:spPr>
          <a:xfrm>
            <a:off x="14133286" y="85061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60868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15" name="Terminator"/>
          <p:cNvSpPr/>
          <p:nvPr/>
        </p:nvSpPr>
        <p:spPr>
          <a:xfrm>
            <a:off x="16194906" y="8506167"/>
            <a:ext cx="1653814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60868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16" name="Arrow"/>
          <p:cNvSpPr/>
          <p:nvPr/>
        </p:nvSpPr>
        <p:spPr>
          <a:xfrm rot="5400000">
            <a:off x="16465362" y="9406548"/>
            <a:ext cx="3111501" cy="477039"/>
          </a:xfrm>
          <a:prstGeom prst="rightArrow">
            <a:avLst>
              <a:gd name="adj1" fmla="val 32000"/>
              <a:gd name="adj2" fmla="val 53245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17" name="Arrow"/>
          <p:cNvSpPr/>
          <p:nvPr/>
        </p:nvSpPr>
        <p:spPr>
          <a:xfrm rot="5400000">
            <a:off x="10863892" y="9223124"/>
            <a:ext cx="2641601" cy="477039"/>
          </a:xfrm>
          <a:prstGeom prst="rightArrow">
            <a:avLst>
              <a:gd name="adj1" fmla="val 32000"/>
              <a:gd name="adj2" fmla="val 53245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18" name="Arrow"/>
          <p:cNvSpPr/>
          <p:nvPr/>
        </p:nvSpPr>
        <p:spPr>
          <a:xfrm rot="5400000">
            <a:off x="12834766" y="9221421"/>
            <a:ext cx="2590801" cy="477039"/>
          </a:xfrm>
          <a:prstGeom prst="rightArrow">
            <a:avLst>
              <a:gd name="adj1" fmla="val 32000"/>
              <a:gd name="adj2" fmla="val 53245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19" name="Arrow"/>
          <p:cNvSpPr/>
          <p:nvPr/>
        </p:nvSpPr>
        <p:spPr>
          <a:xfrm rot="5400000">
            <a:off x="14481788" y="9434955"/>
            <a:ext cx="3187701" cy="477040"/>
          </a:xfrm>
          <a:prstGeom prst="rightArrow">
            <a:avLst>
              <a:gd name="adj1" fmla="val 32000"/>
              <a:gd name="adj2" fmla="val 53245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20" name="Arrow"/>
          <p:cNvSpPr/>
          <p:nvPr/>
        </p:nvSpPr>
        <p:spPr>
          <a:xfrm rot="16200000">
            <a:off x="15091388" y="6619481"/>
            <a:ext cx="1968501" cy="477039"/>
          </a:xfrm>
          <a:prstGeom prst="rightArrow">
            <a:avLst>
              <a:gd name="adj1" fmla="val 32000"/>
              <a:gd name="adj2" fmla="val 53245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21" name="Arrow"/>
          <p:cNvSpPr/>
          <p:nvPr/>
        </p:nvSpPr>
        <p:spPr>
          <a:xfrm rot="16200000">
            <a:off x="17043212" y="6624326"/>
            <a:ext cx="1955801" cy="477039"/>
          </a:xfrm>
          <a:prstGeom prst="rightArrow">
            <a:avLst>
              <a:gd name="adj1" fmla="val 32000"/>
              <a:gd name="adj2" fmla="val 53245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22" name="Arrow"/>
          <p:cNvSpPr/>
          <p:nvPr/>
        </p:nvSpPr>
        <p:spPr>
          <a:xfrm rot="16200000">
            <a:off x="13368165" y="6839101"/>
            <a:ext cx="1524001" cy="477040"/>
          </a:xfrm>
          <a:prstGeom prst="rightArrow">
            <a:avLst>
              <a:gd name="adj1" fmla="val 32000"/>
              <a:gd name="adj2" fmla="val 53245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23" name="Arrow"/>
          <p:cNvSpPr/>
          <p:nvPr/>
        </p:nvSpPr>
        <p:spPr>
          <a:xfrm rot="16200000">
            <a:off x="11398250" y="6832751"/>
            <a:ext cx="1536701" cy="477040"/>
          </a:xfrm>
          <a:prstGeom prst="rightArrow">
            <a:avLst>
              <a:gd name="adj1" fmla="val 32000"/>
              <a:gd name="adj2" fmla="val 53245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28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3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3" presetClass="entr" presetSubtype="5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3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3" presetClass="entr" presetSubtype="5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3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3" presetClass="entr" presetSubtype="5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3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3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"/>
                            </p:stCondLst>
                            <p:childTnLst>
                              <p:par>
                                <p:cTn id="26" presetID="3" presetClass="entr" presetSubtype="5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3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id="30" presetID="3" presetClass="entr" presetSubtype="5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3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3" presetClass="entr" presetSubtype="5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3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" grpId="8" animBg="1" advAuto="0"/>
      <p:bldP spid="517" grpId="3" animBg="1" advAuto="0"/>
      <p:bldP spid="518" grpId="4" animBg="1" advAuto="0"/>
      <p:bldP spid="519" grpId="7" animBg="1" advAuto="0"/>
      <p:bldP spid="520" grpId="5" animBg="1" advAuto="0"/>
      <p:bldP spid="521" grpId="6" animBg="1" advAuto="0"/>
      <p:bldP spid="522" grpId="2" animBg="1" advAuto="0"/>
      <p:bldP spid="523" grpId="1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B. Grietas en “Afecto” [Datos observacionales]"/>
          <p:cNvSpPr txBox="1">
            <a:spLocks noGrp="1"/>
          </p:cNvSpPr>
          <p:nvPr>
            <p:ph type="title"/>
          </p:nvPr>
        </p:nvSpPr>
        <p:spPr>
          <a:xfrm>
            <a:off x="6653700" y="166025"/>
            <a:ext cx="11076600" cy="1546555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B. Grietas en “Afecto”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observacionales</a:t>
            </a:r>
            <a:r>
              <a:t>]</a:t>
            </a:r>
          </a:p>
        </p:txBody>
      </p:sp>
      <p:sp>
        <p:nvSpPr>
          <p:cNvPr id="527" name="1. Por identidad étnica"/>
          <p:cNvSpPr txBox="1"/>
          <p:nvPr/>
        </p:nvSpPr>
        <p:spPr>
          <a:xfrm>
            <a:off x="1637882" y="1727658"/>
            <a:ext cx="6149441" cy="684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1. Por identidad étnica</a:t>
            </a:r>
          </a:p>
        </p:txBody>
      </p:sp>
      <p:graphicFrame>
        <p:nvGraphicFramePr>
          <p:cNvPr id="528" name="Interactive Bar Chart"/>
          <p:cNvGraphicFramePr/>
          <p:nvPr>
            <p:extLst>
              <p:ext uri="{D42A27DB-BD31-4B8C-83A1-F6EECF244321}">
                <p14:modId xmlns:p14="http://schemas.microsoft.com/office/powerpoint/2010/main" val="2125563596"/>
              </p:ext>
            </p:extLst>
          </p:nvPr>
        </p:nvGraphicFramePr>
        <p:xfrm>
          <a:off x="1949673" y="2883971"/>
          <a:ext cx="6927683" cy="3192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29" name="2. Por identidad regional"/>
          <p:cNvSpPr txBox="1"/>
          <p:nvPr/>
        </p:nvSpPr>
        <p:spPr>
          <a:xfrm>
            <a:off x="12780874" y="1727658"/>
            <a:ext cx="5315174" cy="684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2. Por identidad regional</a:t>
            </a:r>
          </a:p>
        </p:txBody>
      </p:sp>
      <p:graphicFrame>
        <p:nvGraphicFramePr>
          <p:cNvPr id="530" name="Interactive Bar Chart"/>
          <p:cNvGraphicFramePr/>
          <p:nvPr>
            <p:extLst>
              <p:ext uri="{D42A27DB-BD31-4B8C-83A1-F6EECF244321}">
                <p14:modId xmlns:p14="http://schemas.microsoft.com/office/powerpoint/2010/main" val="3142223159"/>
              </p:ext>
            </p:extLst>
          </p:nvPr>
        </p:nvGraphicFramePr>
        <p:xfrm>
          <a:off x="13068089" y="2622170"/>
          <a:ext cx="6923628" cy="3466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31" name="3. Por identidad de clase [estrato de ingreso]"/>
          <p:cNvSpPr txBox="1"/>
          <p:nvPr/>
        </p:nvSpPr>
        <p:spPr>
          <a:xfrm>
            <a:off x="1148617" y="8193622"/>
            <a:ext cx="9510787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>
                <a:solidFill>
                  <a:schemeClr val="accent5"/>
                </a:solidFill>
              </a:defRPr>
            </a:pPr>
            <a:r>
              <a:rPr dirty="0"/>
              <a:t>3. Por </a:t>
            </a:r>
            <a:r>
              <a:rPr dirty="0" err="1"/>
              <a:t>identidad</a:t>
            </a:r>
            <a:r>
              <a:rPr dirty="0"/>
              <a:t> de </a:t>
            </a:r>
            <a:r>
              <a:rPr dirty="0" err="1"/>
              <a:t>clase</a:t>
            </a:r>
            <a:r>
              <a:rPr dirty="0"/>
              <a:t> [</a:t>
            </a:r>
            <a:r>
              <a:rPr dirty="0" err="1">
                <a:solidFill>
                  <a:srgbClr val="FFFFFF"/>
                </a:solidFill>
              </a:rPr>
              <a:t>estrato</a:t>
            </a:r>
            <a:r>
              <a:rPr dirty="0">
                <a:solidFill>
                  <a:srgbClr val="FFFFFF"/>
                </a:solidFill>
              </a:rPr>
              <a:t> de </a:t>
            </a:r>
            <a:r>
              <a:rPr dirty="0" err="1">
                <a:solidFill>
                  <a:srgbClr val="FFFFFF"/>
                </a:solidFill>
              </a:rPr>
              <a:t>ingreso</a:t>
            </a:r>
            <a:r>
              <a:rPr dirty="0"/>
              <a:t>]</a:t>
            </a:r>
          </a:p>
        </p:txBody>
      </p:sp>
      <p:graphicFrame>
        <p:nvGraphicFramePr>
          <p:cNvPr id="532" name="Interactive Bar Chart"/>
          <p:cNvGraphicFramePr/>
          <p:nvPr>
            <p:extLst>
              <p:ext uri="{D42A27DB-BD31-4B8C-83A1-F6EECF244321}">
                <p14:modId xmlns:p14="http://schemas.microsoft.com/office/powerpoint/2010/main" val="1371470227"/>
              </p:ext>
            </p:extLst>
          </p:nvPr>
        </p:nvGraphicFramePr>
        <p:xfrm>
          <a:off x="1788802" y="9236026"/>
          <a:ext cx="7088554" cy="3873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33" name="4. Por identidad partidaria"/>
          <p:cNvSpPr txBox="1"/>
          <p:nvPr/>
        </p:nvSpPr>
        <p:spPr>
          <a:xfrm>
            <a:off x="13068089" y="8199462"/>
            <a:ext cx="5682185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rPr dirty="0"/>
              <a:t>4. Por </a:t>
            </a:r>
            <a:r>
              <a:rPr dirty="0" err="1"/>
              <a:t>identidad</a:t>
            </a:r>
            <a:r>
              <a:rPr dirty="0"/>
              <a:t> </a:t>
            </a:r>
            <a:r>
              <a:rPr dirty="0" err="1"/>
              <a:t>partidaria</a:t>
            </a:r>
            <a:endParaRPr dirty="0"/>
          </a:p>
        </p:txBody>
      </p:sp>
      <p:graphicFrame>
        <p:nvGraphicFramePr>
          <p:cNvPr id="534" name="Interactive Bar Chart"/>
          <p:cNvGraphicFramePr/>
          <p:nvPr>
            <p:extLst>
              <p:ext uri="{D42A27DB-BD31-4B8C-83A1-F6EECF244321}">
                <p14:modId xmlns:p14="http://schemas.microsoft.com/office/powerpoint/2010/main" val="247101453"/>
              </p:ext>
            </p:extLst>
          </p:nvPr>
        </p:nvGraphicFramePr>
        <p:xfrm>
          <a:off x="12826255" y="9236027"/>
          <a:ext cx="7220330" cy="3220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29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8" grpId="1" animBg="1" advAuto="0"/>
      <p:bldP spid="530" grpId="2" animBg="1" advAuto="0"/>
      <p:bldP spid="532" grpId="3" animBg="1" advAuto="0"/>
      <p:bldP spid="534" grpId="4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B. Grietas en “Confianza” [Datos experiment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B. Grietas en “Confianza”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experimentales</a:t>
            </a:r>
            <a:r>
              <a:t>]</a:t>
            </a:r>
          </a:p>
        </p:txBody>
      </p:sp>
      <p:sp>
        <p:nvSpPr>
          <p:cNvPr id="538" name="1. Por identidad étnica"/>
          <p:cNvSpPr txBox="1"/>
          <p:nvPr/>
        </p:nvSpPr>
        <p:spPr>
          <a:xfrm>
            <a:off x="1614185" y="2250136"/>
            <a:ext cx="6149441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1. Por identidad étnica</a:t>
            </a:r>
          </a:p>
        </p:txBody>
      </p:sp>
      <p:sp>
        <p:nvSpPr>
          <p:cNvPr id="539" name="a) Por herencia"/>
          <p:cNvSpPr txBox="1"/>
          <p:nvPr/>
        </p:nvSpPr>
        <p:spPr>
          <a:xfrm>
            <a:off x="2546876" y="11974337"/>
            <a:ext cx="6149441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a) Por herencia</a:t>
            </a:r>
          </a:p>
        </p:txBody>
      </p:sp>
      <p:sp>
        <p:nvSpPr>
          <p:cNvPr id="540" name="b) Por idioma"/>
          <p:cNvSpPr txBox="1"/>
          <p:nvPr/>
        </p:nvSpPr>
        <p:spPr>
          <a:xfrm>
            <a:off x="9545946" y="11974337"/>
            <a:ext cx="6149441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b) Por idioma</a:t>
            </a:r>
          </a:p>
        </p:txBody>
      </p:sp>
      <p:sp>
        <p:nvSpPr>
          <p:cNvPr id="541" name="c) Por auto-identificación"/>
          <p:cNvSpPr txBox="1"/>
          <p:nvPr/>
        </p:nvSpPr>
        <p:spPr>
          <a:xfrm>
            <a:off x="16545016" y="11974337"/>
            <a:ext cx="6149441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c) Por auto-identificación</a:t>
            </a:r>
          </a:p>
        </p:txBody>
      </p:sp>
      <p:pic>
        <p:nvPicPr>
          <p:cNvPr id="54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335358" y="4597185"/>
            <a:ext cx="8572477" cy="5714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4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250832" y="4564751"/>
            <a:ext cx="8669779" cy="5779853"/>
          </a:xfrm>
          <a:prstGeom prst="rect">
            <a:avLst/>
          </a:prstGeom>
          <a:ln w="12700">
            <a:miter lim="400000"/>
          </a:ln>
        </p:spPr>
      </p:pic>
      <p:pic>
        <p:nvPicPr>
          <p:cNvPr id="544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981">
            <a:off x="15230541" y="4528547"/>
            <a:ext cx="8778392" cy="5852261"/>
          </a:xfrm>
          <a:prstGeom prst="rect">
            <a:avLst/>
          </a:prstGeom>
          <a:ln w="12700">
            <a:miter lim="400000"/>
          </a:ln>
        </p:spPr>
      </p:pic>
      <p:sp>
        <p:nvSpPr>
          <p:cNvPr id="5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30</a:t>
            </a:fld>
            <a:endParaRPr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Screenshot 2022-10-26 at 8.44.09 AM.png" descr="Screenshot 2022-10-26 at 8.44.09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99" y="3049490"/>
            <a:ext cx="17449645" cy="10036127"/>
          </a:xfrm>
          <a:prstGeom prst="rect">
            <a:avLst/>
          </a:prstGeom>
          <a:ln w="12700">
            <a:miter lim="400000"/>
          </a:ln>
        </p:spPr>
      </p:pic>
      <p:sp>
        <p:nvSpPr>
          <p:cNvPr id="548" name="B. Grietas en “Confianza” [Datos experiment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B. Grietas en “Confianza”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experimentales</a:t>
            </a:r>
            <a:r>
              <a:t>]</a:t>
            </a:r>
          </a:p>
        </p:txBody>
      </p:sp>
      <p:sp>
        <p:nvSpPr>
          <p:cNvPr id="549" name="1. Por identidad étnica"/>
          <p:cNvSpPr txBox="1"/>
          <p:nvPr/>
        </p:nvSpPr>
        <p:spPr>
          <a:xfrm>
            <a:off x="1614185" y="2250136"/>
            <a:ext cx="6149441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1. Por identidad étnica</a:t>
            </a:r>
          </a:p>
        </p:txBody>
      </p:sp>
      <p:sp>
        <p:nvSpPr>
          <p:cNvPr id="550" name="Terminator"/>
          <p:cNvSpPr/>
          <p:nvPr/>
        </p:nvSpPr>
        <p:spPr>
          <a:xfrm>
            <a:off x="6526614" y="5188616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536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51" name="Terminator"/>
          <p:cNvSpPr/>
          <p:nvPr/>
        </p:nvSpPr>
        <p:spPr>
          <a:xfrm>
            <a:off x="8264997" y="5188616"/>
            <a:ext cx="1653814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536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52" name="Terminator"/>
          <p:cNvSpPr/>
          <p:nvPr/>
        </p:nvSpPr>
        <p:spPr>
          <a:xfrm>
            <a:off x="11365093" y="6444546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536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53" name="Terminator"/>
          <p:cNvSpPr/>
          <p:nvPr/>
        </p:nvSpPr>
        <p:spPr>
          <a:xfrm>
            <a:off x="12885871" y="6444546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536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54" name="Terminator"/>
          <p:cNvSpPr/>
          <p:nvPr/>
        </p:nvSpPr>
        <p:spPr>
          <a:xfrm>
            <a:off x="11365093" y="4012788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55" name="Terminator"/>
          <p:cNvSpPr/>
          <p:nvPr/>
        </p:nvSpPr>
        <p:spPr>
          <a:xfrm>
            <a:off x="12885871" y="4012788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56" name="Terminator"/>
          <p:cNvSpPr/>
          <p:nvPr/>
        </p:nvSpPr>
        <p:spPr>
          <a:xfrm>
            <a:off x="14377286" y="4012788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57" name="Terminator"/>
          <p:cNvSpPr/>
          <p:nvPr/>
        </p:nvSpPr>
        <p:spPr>
          <a:xfrm>
            <a:off x="15926094" y="4012788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58" name="Terminator"/>
          <p:cNvSpPr/>
          <p:nvPr/>
        </p:nvSpPr>
        <p:spPr>
          <a:xfrm>
            <a:off x="17759263" y="4012788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59" name="Terminator"/>
          <p:cNvSpPr/>
          <p:nvPr/>
        </p:nvSpPr>
        <p:spPr>
          <a:xfrm>
            <a:off x="19071104" y="4012788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60" name="Terminator"/>
          <p:cNvSpPr/>
          <p:nvPr/>
        </p:nvSpPr>
        <p:spPr>
          <a:xfrm>
            <a:off x="6824674" y="4012788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61" name="Terminator"/>
          <p:cNvSpPr/>
          <p:nvPr/>
        </p:nvSpPr>
        <p:spPr>
          <a:xfrm>
            <a:off x="8349564" y="4012788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62" name="Terminator"/>
          <p:cNvSpPr/>
          <p:nvPr/>
        </p:nvSpPr>
        <p:spPr>
          <a:xfrm>
            <a:off x="9855272" y="4012788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63" name="Terminator"/>
          <p:cNvSpPr/>
          <p:nvPr/>
        </p:nvSpPr>
        <p:spPr>
          <a:xfrm>
            <a:off x="9620896" y="5188616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64" name="Terminator"/>
          <p:cNvSpPr/>
          <p:nvPr/>
        </p:nvSpPr>
        <p:spPr>
          <a:xfrm>
            <a:off x="11137491" y="52286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65" name="Terminator"/>
          <p:cNvSpPr/>
          <p:nvPr/>
        </p:nvSpPr>
        <p:spPr>
          <a:xfrm>
            <a:off x="12885871" y="52286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66" name="Terminator"/>
          <p:cNvSpPr/>
          <p:nvPr/>
        </p:nvSpPr>
        <p:spPr>
          <a:xfrm>
            <a:off x="14377286" y="52286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67" name="Terminator"/>
          <p:cNvSpPr/>
          <p:nvPr/>
        </p:nvSpPr>
        <p:spPr>
          <a:xfrm>
            <a:off x="15926094" y="52286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68" name="Terminator"/>
          <p:cNvSpPr/>
          <p:nvPr/>
        </p:nvSpPr>
        <p:spPr>
          <a:xfrm>
            <a:off x="17506745" y="52286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69" name="Terminator"/>
          <p:cNvSpPr/>
          <p:nvPr/>
        </p:nvSpPr>
        <p:spPr>
          <a:xfrm>
            <a:off x="18966318" y="5228667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70" name="Rounded Rectangle"/>
          <p:cNvSpPr/>
          <p:nvPr/>
        </p:nvSpPr>
        <p:spPr>
          <a:xfrm>
            <a:off x="15964034" y="6367631"/>
            <a:ext cx="4870055" cy="980738"/>
          </a:xfrm>
          <a:prstGeom prst="roundRect">
            <a:avLst>
              <a:gd name="adj" fmla="val 19247"/>
            </a:avLst>
          </a:prstGeom>
          <a:blipFill>
            <a:blip r:embed="rId4">
              <a:alphaModFix amt="19902"/>
            </a:blip>
          </a:blipFill>
          <a:ln w="127000">
            <a:solidFill>
              <a:schemeClr val="accent2">
                <a:alpha val="1990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71" name="Rounded Rectangle"/>
          <p:cNvSpPr/>
          <p:nvPr/>
        </p:nvSpPr>
        <p:spPr>
          <a:xfrm>
            <a:off x="6722285" y="6508046"/>
            <a:ext cx="4493296" cy="980738"/>
          </a:xfrm>
          <a:prstGeom prst="roundRect">
            <a:avLst>
              <a:gd name="adj" fmla="val 19247"/>
            </a:avLst>
          </a:prstGeom>
          <a:blipFill>
            <a:blip r:embed="rId4">
              <a:alphaModFix amt="19902"/>
            </a:blip>
          </a:blipFill>
          <a:ln w="127000">
            <a:solidFill>
              <a:schemeClr val="accent2">
                <a:alpha val="1990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72" name="Terminator"/>
          <p:cNvSpPr/>
          <p:nvPr/>
        </p:nvSpPr>
        <p:spPr>
          <a:xfrm>
            <a:off x="14377286" y="6444546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7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79874" y="13109828"/>
            <a:ext cx="410566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31</a:t>
            </a:fld>
            <a:endParaRPr/>
          </a:p>
        </p:txBody>
      </p:sp>
      <p:sp>
        <p:nvSpPr>
          <p:cNvPr id="574" name="Arrow"/>
          <p:cNvSpPr/>
          <p:nvPr/>
        </p:nvSpPr>
        <p:spPr>
          <a:xfrm rot="5400000">
            <a:off x="12545438" y="6543916"/>
            <a:ext cx="469901" cy="477040"/>
          </a:xfrm>
          <a:prstGeom prst="rightArrow">
            <a:avLst>
              <a:gd name="adj1" fmla="val 32000"/>
              <a:gd name="adj2" fmla="val 27027"/>
            </a:avLst>
          </a:prstGeom>
          <a:blipFill>
            <a:blip r:embed="rId3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75" name="Arrow"/>
          <p:cNvSpPr/>
          <p:nvPr/>
        </p:nvSpPr>
        <p:spPr>
          <a:xfrm rot="5400000">
            <a:off x="14269220" y="6499466"/>
            <a:ext cx="381001" cy="477039"/>
          </a:xfrm>
          <a:prstGeom prst="rightArrow">
            <a:avLst>
              <a:gd name="adj1" fmla="val 32000"/>
              <a:gd name="adj2" fmla="val 33333"/>
            </a:avLst>
          </a:prstGeom>
          <a:blipFill>
            <a:blip r:embed="rId3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76" name="Arrow"/>
          <p:cNvSpPr/>
          <p:nvPr/>
        </p:nvSpPr>
        <p:spPr>
          <a:xfrm rot="16200000">
            <a:off x="8003486" y="5134203"/>
            <a:ext cx="431801" cy="477039"/>
          </a:xfrm>
          <a:prstGeom prst="rightArrow">
            <a:avLst>
              <a:gd name="adj1" fmla="val 32000"/>
              <a:gd name="adj2" fmla="val 29412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77" name="Arrow"/>
          <p:cNvSpPr/>
          <p:nvPr/>
        </p:nvSpPr>
        <p:spPr>
          <a:xfrm rot="16200000">
            <a:off x="9594498" y="5146903"/>
            <a:ext cx="406401" cy="477039"/>
          </a:xfrm>
          <a:prstGeom prst="rightArrow">
            <a:avLst>
              <a:gd name="adj1" fmla="val 32000"/>
              <a:gd name="adj2" fmla="val 31250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3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3" presetClass="entr" presetSubtype="5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3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3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3" presetClass="entr" presetSubtype="5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3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" grpId="3" animBg="1" advAuto="0"/>
      <p:bldP spid="575" grpId="4" animBg="1" advAuto="0"/>
      <p:bldP spid="576" grpId="1" animBg="1" advAuto="0"/>
      <p:bldP spid="577" grpId="2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B. Grietas en “Confianza” [Datos experiment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B. Grietas en “Confianza”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experimentales</a:t>
            </a:r>
            <a:r>
              <a:t>]</a:t>
            </a:r>
          </a:p>
        </p:txBody>
      </p:sp>
      <p:sp>
        <p:nvSpPr>
          <p:cNvPr id="580" name="2. Por identidad regional"/>
          <p:cNvSpPr txBox="1"/>
          <p:nvPr/>
        </p:nvSpPr>
        <p:spPr>
          <a:xfrm>
            <a:off x="1614185" y="2250136"/>
            <a:ext cx="6149441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2. Por identidad regional</a:t>
            </a:r>
          </a:p>
        </p:txBody>
      </p:sp>
      <p:sp>
        <p:nvSpPr>
          <p:cNvPr id="581" name="a) La Paz vs Santa Cruz"/>
          <p:cNvSpPr txBox="1"/>
          <p:nvPr/>
        </p:nvSpPr>
        <p:spPr>
          <a:xfrm>
            <a:off x="1614185" y="12196124"/>
            <a:ext cx="6149441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a) La Paz vs Santa Cruz</a:t>
            </a:r>
          </a:p>
        </p:txBody>
      </p:sp>
      <p:sp>
        <p:nvSpPr>
          <p:cNvPr id="582" name="b) Oeste vs. Este"/>
          <p:cNvSpPr txBox="1"/>
          <p:nvPr/>
        </p:nvSpPr>
        <p:spPr>
          <a:xfrm>
            <a:off x="9711824" y="12196124"/>
            <a:ext cx="6149441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b) Oeste vs. Este</a:t>
            </a:r>
          </a:p>
        </p:txBody>
      </p:sp>
      <p:sp>
        <p:nvSpPr>
          <p:cNvPr id="583" name="c) Por auto-identificación"/>
          <p:cNvSpPr txBox="1"/>
          <p:nvPr/>
        </p:nvSpPr>
        <p:spPr>
          <a:xfrm>
            <a:off x="16876771" y="12196124"/>
            <a:ext cx="6149441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c) Por auto-identificación</a:t>
            </a:r>
          </a:p>
        </p:txBody>
      </p:sp>
      <p:pic>
        <p:nvPicPr>
          <p:cNvPr id="58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38869" y="4798880"/>
            <a:ext cx="8300073" cy="5533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58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243665" y="4798880"/>
            <a:ext cx="8300072" cy="5533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58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5801455" y="4798880"/>
            <a:ext cx="8300074" cy="5533383"/>
          </a:xfrm>
          <a:prstGeom prst="rect">
            <a:avLst/>
          </a:prstGeom>
          <a:ln w="12700">
            <a:miter lim="400000"/>
          </a:ln>
        </p:spPr>
      </p:pic>
      <p:sp>
        <p:nvSpPr>
          <p:cNvPr id="5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32</a:t>
            </a:fld>
            <a:endParaRPr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Screenshot 2022-10-26 at 8.45.04 AM.png" descr="Screenshot 2022-10-26 at 8.45.04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222" y="3318548"/>
            <a:ext cx="17296528" cy="9212504"/>
          </a:xfrm>
          <a:prstGeom prst="rect">
            <a:avLst/>
          </a:prstGeom>
          <a:ln w="12700">
            <a:miter lim="400000"/>
          </a:ln>
        </p:spPr>
      </p:pic>
      <p:sp>
        <p:nvSpPr>
          <p:cNvPr id="590" name="B. Grietas en “Confianza” [Datos experiment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B. Grietas en “Confianza”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experimentales</a:t>
            </a:r>
            <a:r>
              <a:t>]</a:t>
            </a:r>
          </a:p>
        </p:txBody>
      </p:sp>
      <p:sp>
        <p:nvSpPr>
          <p:cNvPr id="591" name="2. Por identidad regional"/>
          <p:cNvSpPr txBox="1"/>
          <p:nvPr/>
        </p:nvSpPr>
        <p:spPr>
          <a:xfrm>
            <a:off x="1614185" y="2250136"/>
            <a:ext cx="6149441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2. Por identidad regional</a:t>
            </a:r>
          </a:p>
        </p:txBody>
      </p:sp>
      <p:sp>
        <p:nvSpPr>
          <p:cNvPr id="592" name="Terminator"/>
          <p:cNvSpPr/>
          <p:nvPr/>
        </p:nvSpPr>
        <p:spPr>
          <a:xfrm>
            <a:off x="16013847" y="4254569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536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93" name="Terminator"/>
          <p:cNvSpPr/>
          <p:nvPr/>
        </p:nvSpPr>
        <p:spPr>
          <a:xfrm>
            <a:off x="16013847" y="539201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536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94" name="Terminator"/>
          <p:cNvSpPr/>
          <p:nvPr/>
        </p:nvSpPr>
        <p:spPr>
          <a:xfrm>
            <a:off x="17704835" y="4254569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536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95" name="Terminator"/>
          <p:cNvSpPr/>
          <p:nvPr/>
        </p:nvSpPr>
        <p:spPr>
          <a:xfrm>
            <a:off x="17704835" y="539201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536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96" name="Terminator"/>
          <p:cNvSpPr/>
          <p:nvPr/>
        </p:nvSpPr>
        <p:spPr>
          <a:xfrm>
            <a:off x="19395823" y="4254569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536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97" name="Terminator"/>
          <p:cNvSpPr/>
          <p:nvPr/>
        </p:nvSpPr>
        <p:spPr>
          <a:xfrm>
            <a:off x="19395823" y="539201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536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98" name="Terminator"/>
          <p:cNvSpPr/>
          <p:nvPr/>
        </p:nvSpPr>
        <p:spPr>
          <a:xfrm>
            <a:off x="6824674" y="4254570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599" name="Terminator"/>
          <p:cNvSpPr/>
          <p:nvPr/>
        </p:nvSpPr>
        <p:spPr>
          <a:xfrm>
            <a:off x="14597222" y="539201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00" name="Terminator"/>
          <p:cNvSpPr/>
          <p:nvPr/>
        </p:nvSpPr>
        <p:spPr>
          <a:xfrm>
            <a:off x="8329420" y="4254569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01" name="Terminator"/>
          <p:cNvSpPr/>
          <p:nvPr/>
        </p:nvSpPr>
        <p:spPr>
          <a:xfrm>
            <a:off x="10020408" y="4254569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02" name="Terminator"/>
          <p:cNvSpPr/>
          <p:nvPr/>
        </p:nvSpPr>
        <p:spPr>
          <a:xfrm>
            <a:off x="11711396" y="4254569"/>
            <a:ext cx="1653814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03" name="Terminator"/>
          <p:cNvSpPr/>
          <p:nvPr/>
        </p:nvSpPr>
        <p:spPr>
          <a:xfrm>
            <a:off x="12828478" y="4254569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04" name="Terminator"/>
          <p:cNvSpPr/>
          <p:nvPr/>
        </p:nvSpPr>
        <p:spPr>
          <a:xfrm>
            <a:off x="14322859" y="4254569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05" name="Terminator"/>
          <p:cNvSpPr/>
          <p:nvPr/>
        </p:nvSpPr>
        <p:spPr>
          <a:xfrm>
            <a:off x="13199112" y="539201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06" name="Terminator"/>
          <p:cNvSpPr/>
          <p:nvPr/>
        </p:nvSpPr>
        <p:spPr>
          <a:xfrm>
            <a:off x="11489609" y="539201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07" name="Terminator"/>
          <p:cNvSpPr/>
          <p:nvPr/>
        </p:nvSpPr>
        <p:spPr>
          <a:xfrm>
            <a:off x="9780107" y="539201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08" name="Terminator"/>
          <p:cNvSpPr/>
          <p:nvPr/>
        </p:nvSpPr>
        <p:spPr>
          <a:xfrm>
            <a:off x="8329420" y="539201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09" name="Terminator"/>
          <p:cNvSpPr/>
          <p:nvPr/>
        </p:nvSpPr>
        <p:spPr>
          <a:xfrm>
            <a:off x="6824674" y="539201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10" name="Rounded Rectangle"/>
          <p:cNvSpPr/>
          <p:nvPr/>
        </p:nvSpPr>
        <p:spPr>
          <a:xfrm>
            <a:off x="6679852" y="6529461"/>
            <a:ext cx="13951068" cy="980738"/>
          </a:xfrm>
          <a:prstGeom prst="roundRect">
            <a:avLst>
              <a:gd name="adj" fmla="val 19247"/>
            </a:avLst>
          </a:prstGeom>
          <a:blipFill>
            <a:blip r:embed="rId4">
              <a:alphaModFix amt="19902"/>
            </a:blip>
          </a:blipFill>
          <a:ln w="127000">
            <a:solidFill>
              <a:schemeClr val="accent2">
                <a:alpha val="1990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33</a:t>
            </a:fld>
            <a:endParaRPr/>
          </a:p>
        </p:txBody>
      </p:sp>
      <p:sp>
        <p:nvSpPr>
          <p:cNvPr id="612" name="Arrow"/>
          <p:cNvSpPr/>
          <p:nvPr/>
        </p:nvSpPr>
        <p:spPr>
          <a:xfrm rot="16200000">
            <a:off x="17213242" y="4499354"/>
            <a:ext cx="431801" cy="477039"/>
          </a:xfrm>
          <a:prstGeom prst="rightArrow">
            <a:avLst>
              <a:gd name="adj1" fmla="val 32000"/>
              <a:gd name="adj2" fmla="val 29412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13" name="Arrow"/>
          <p:cNvSpPr/>
          <p:nvPr/>
        </p:nvSpPr>
        <p:spPr>
          <a:xfrm rot="16200000">
            <a:off x="18929630" y="4524754"/>
            <a:ext cx="381001" cy="477039"/>
          </a:xfrm>
          <a:prstGeom prst="rightArrow">
            <a:avLst>
              <a:gd name="adj1" fmla="val 32000"/>
              <a:gd name="adj2" fmla="val 3333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14" name="Arrow"/>
          <p:cNvSpPr/>
          <p:nvPr/>
        </p:nvSpPr>
        <p:spPr>
          <a:xfrm rot="16200000">
            <a:off x="20639668" y="4543804"/>
            <a:ext cx="342901" cy="477039"/>
          </a:xfrm>
          <a:prstGeom prst="rightArrow">
            <a:avLst>
              <a:gd name="adj1" fmla="val 32000"/>
              <a:gd name="adj2" fmla="val 37037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15" name="Arrow"/>
          <p:cNvSpPr/>
          <p:nvPr/>
        </p:nvSpPr>
        <p:spPr>
          <a:xfrm rot="5400000">
            <a:off x="17156092" y="5427250"/>
            <a:ext cx="5461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16" name="Arrow"/>
          <p:cNvSpPr/>
          <p:nvPr/>
        </p:nvSpPr>
        <p:spPr>
          <a:xfrm rot="5400000">
            <a:off x="20598804" y="5332000"/>
            <a:ext cx="355601" cy="477039"/>
          </a:xfrm>
          <a:prstGeom prst="rightArrow">
            <a:avLst>
              <a:gd name="adj1" fmla="val 32000"/>
              <a:gd name="adj2" fmla="val 35714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17" name="Arrow"/>
          <p:cNvSpPr/>
          <p:nvPr/>
        </p:nvSpPr>
        <p:spPr>
          <a:xfrm rot="5400000">
            <a:off x="18967730" y="5560600"/>
            <a:ext cx="5588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3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3" presetClass="entr" presetSubtype="5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3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3" presetClass="entr" presetSubtype="5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3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3" presetClass="entr" presetSubtype="5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3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3" presetClass="entr" presetSubtype="5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3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3" presetClass="entr" presetSubtype="5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3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" grpId="1" animBg="1" advAuto="0"/>
      <p:bldP spid="613" grpId="2" animBg="1" advAuto="0"/>
      <p:bldP spid="614" grpId="3" animBg="1" advAuto="0"/>
      <p:bldP spid="615" grpId="4" animBg="1" advAuto="0"/>
      <p:bldP spid="616" grpId="5" animBg="1" advAuto="0"/>
      <p:bldP spid="617" grpId="6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B. Grietas en “Confianza” [Datos experiment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B. Grietas en “Confianza”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experimentales</a:t>
            </a:r>
            <a:r>
              <a:t>]</a:t>
            </a:r>
          </a:p>
        </p:txBody>
      </p:sp>
      <p:sp>
        <p:nvSpPr>
          <p:cNvPr id="620" name="3. Por identidad de clase [estrato ingreso/riqueza]"/>
          <p:cNvSpPr txBox="1"/>
          <p:nvPr/>
        </p:nvSpPr>
        <p:spPr>
          <a:xfrm>
            <a:off x="1617399" y="2202742"/>
            <a:ext cx="10675219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>
                <a:solidFill>
                  <a:schemeClr val="accent5"/>
                </a:solidFill>
              </a:defRPr>
            </a:pPr>
            <a:r>
              <a:t>3. Por identidad de clase [</a:t>
            </a:r>
            <a:r>
              <a:rPr>
                <a:solidFill>
                  <a:srgbClr val="FFFFFF"/>
                </a:solidFill>
              </a:rPr>
              <a:t>estrato ingreso/riqueza</a:t>
            </a:r>
            <a:r>
              <a:t>]</a:t>
            </a:r>
          </a:p>
        </p:txBody>
      </p:sp>
      <p:pic>
        <p:nvPicPr>
          <p:cNvPr id="6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934342" y="4834910"/>
            <a:ext cx="8737257" cy="5824838"/>
          </a:xfrm>
          <a:prstGeom prst="rect">
            <a:avLst/>
          </a:prstGeom>
          <a:ln w="12700">
            <a:miter lim="400000"/>
          </a:ln>
        </p:spPr>
      </p:pic>
      <p:pic>
        <p:nvPicPr>
          <p:cNvPr id="62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4148742" y="4882141"/>
            <a:ext cx="8595564" cy="5730376"/>
          </a:xfrm>
          <a:prstGeom prst="rect">
            <a:avLst/>
          </a:prstGeom>
          <a:ln w="12700">
            <a:miter lim="400000"/>
          </a:ln>
        </p:spPr>
      </p:pic>
      <p:sp>
        <p:nvSpPr>
          <p:cNvPr id="623" name="a) Auto-evaluación"/>
          <p:cNvSpPr txBox="1"/>
          <p:nvPr/>
        </p:nvSpPr>
        <p:spPr>
          <a:xfrm>
            <a:off x="4291923" y="12370517"/>
            <a:ext cx="6149441" cy="684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a) Auto-evaluación</a:t>
            </a:r>
          </a:p>
        </p:txBody>
      </p:sp>
      <p:sp>
        <p:nvSpPr>
          <p:cNvPr id="624" name="b) Índice de activos"/>
          <p:cNvSpPr txBox="1"/>
          <p:nvPr/>
        </p:nvSpPr>
        <p:spPr>
          <a:xfrm>
            <a:off x="15281236" y="12370517"/>
            <a:ext cx="6149441" cy="684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b) Índice de activos</a:t>
            </a:r>
          </a:p>
        </p:txBody>
      </p:sp>
      <p:sp>
        <p:nvSpPr>
          <p:cNvPr id="6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1586" y="13109828"/>
            <a:ext cx="428854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34</a:t>
            </a:fld>
            <a:endParaRPr/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B. Grietas en “Confianza” [Datos experiment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B. Grietas en “Confianza”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experimentales</a:t>
            </a:r>
            <a:r>
              <a:t>]</a:t>
            </a:r>
          </a:p>
        </p:txBody>
      </p:sp>
      <p:sp>
        <p:nvSpPr>
          <p:cNvPr id="628" name="3. Por identidad de clase [estrato ingreso/riqueza]"/>
          <p:cNvSpPr txBox="1"/>
          <p:nvPr/>
        </p:nvSpPr>
        <p:spPr>
          <a:xfrm>
            <a:off x="1617399" y="2202742"/>
            <a:ext cx="10675219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>
                <a:solidFill>
                  <a:schemeClr val="accent5"/>
                </a:solidFill>
              </a:defRPr>
            </a:pPr>
            <a:r>
              <a:t>3. Por identidad de clase [</a:t>
            </a:r>
            <a:r>
              <a:rPr>
                <a:solidFill>
                  <a:srgbClr val="FFFFFF"/>
                </a:solidFill>
              </a:rPr>
              <a:t>estrato ingreso/riqueza</a:t>
            </a:r>
            <a:r>
              <a:t>]</a:t>
            </a:r>
          </a:p>
        </p:txBody>
      </p:sp>
      <p:pic>
        <p:nvPicPr>
          <p:cNvPr id="629" name="Screenshot 2022-10-26 at 8.45.44 AM.png" descr="Screenshot 2022-10-26 at 8.45.44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422" y="3454324"/>
            <a:ext cx="16817156" cy="9477294"/>
          </a:xfrm>
          <a:prstGeom prst="rect">
            <a:avLst/>
          </a:prstGeom>
          <a:ln w="12700">
            <a:miter lim="400000"/>
          </a:ln>
        </p:spPr>
      </p:pic>
      <p:sp>
        <p:nvSpPr>
          <p:cNvPr id="630" name="Terminator"/>
          <p:cNvSpPr/>
          <p:nvPr/>
        </p:nvSpPr>
        <p:spPr>
          <a:xfrm>
            <a:off x="16946537" y="4799596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536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31" name="Terminator"/>
          <p:cNvSpPr/>
          <p:nvPr/>
        </p:nvSpPr>
        <p:spPr>
          <a:xfrm>
            <a:off x="16946537" y="591334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429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32" name="Terminator"/>
          <p:cNvSpPr/>
          <p:nvPr/>
        </p:nvSpPr>
        <p:spPr>
          <a:xfrm>
            <a:off x="12254572" y="591334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00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33" name="Terminator"/>
          <p:cNvSpPr/>
          <p:nvPr/>
        </p:nvSpPr>
        <p:spPr>
          <a:xfrm>
            <a:off x="15358853" y="4799596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536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34" name="Terminator"/>
          <p:cNvSpPr/>
          <p:nvPr/>
        </p:nvSpPr>
        <p:spPr>
          <a:xfrm>
            <a:off x="9031809" y="4799596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536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35" name="Terminator"/>
          <p:cNvSpPr/>
          <p:nvPr/>
        </p:nvSpPr>
        <p:spPr>
          <a:xfrm>
            <a:off x="10595797" y="4799596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536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36" name="Terminator"/>
          <p:cNvSpPr/>
          <p:nvPr/>
        </p:nvSpPr>
        <p:spPr>
          <a:xfrm>
            <a:off x="13771168" y="4799596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536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37" name="Terminator"/>
          <p:cNvSpPr/>
          <p:nvPr/>
        </p:nvSpPr>
        <p:spPr>
          <a:xfrm>
            <a:off x="10595797" y="591334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30000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38" name="Terminator"/>
          <p:cNvSpPr/>
          <p:nvPr/>
        </p:nvSpPr>
        <p:spPr>
          <a:xfrm>
            <a:off x="9031809" y="591334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30217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39" name="Terminator"/>
          <p:cNvSpPr/>
          <p:nvPr/>
        </p:nvSpPr>
        <p:spPr>
          <a:xfrm>
            <a:off x="16946537" y="7027094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00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40" name="Terminator"/>
          <p:cNvSpPr/>
          <p:nvPr/>
        </p:nvSpPr>
        <p:spPr>
          <a:xfrm>
            <a:off x="12381572" y="7027094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15000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41" name="Terminator"/>
          <p:cNvSpPr/>
          <p:nvPr/>
        </p:nvSpPr>
        <p:spPr>
          <a:xfrm>
            <a:off x="13771168" y="7027094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30000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42" name="Terminator"/>
          <p:cNvSpPr/>
          <p:nvPr/>
        </p:nvSpPr>
        <p:spPr>
          <a:xfrm>
            <a:off x="15358853" y="7027094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30000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43" name="Terminator"/>
          <p:cNvSpPr/>
          <p:nvPr/>
        </p:nvSpPr>
        <p:spPr>
          <a:xfrm>
            <a:off x="12254572" y="4799596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5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44" name="Terminator"/>
          <p:cNvSpPr/>
          <p:nvPr/>
        </p:nvSpPr>
        <p:spPr>
          <a:xfrm>
            <a:off x="13771168" y="591334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5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45" name="Terminator"/>
          <p:cNvSpPr/>
          <p:nvPr/>
        </p:nvSpPr>
        <p:spPr>
          <a:xfrm>
            <a:off x="15477337" y="591334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5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46" name="Terminator"/>
          <p:cNvSpPr/>
          <p:nvPr/>
        </p:nvSpPr>
        <p:spPr>
          <a:xfrm>
            <a:off x="9241747" y="7027094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5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47" name="Terminator"/>
          <p:cNvSpPr/>
          <p:nvPr/>
        </p:nvSpPr>
        <p:spPr>
          <a:xfrm>
            <a:off x="10595797" y="7027094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5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35</a:t>
            </a:fld>
            <a:endParaRPr/>
          </a:p>
        </p:txBody>
      </p:sp>
      <p:sp>
        <p:nvSpPr>
          <p:cNvPr id="649" name="Arrow"/>
          <p:cNvSpPr/>
          <p:nvPr/>
        </p:nvSpPr>
        <p:spPr>
          <a:xfrm rot="16200000">
            <a:off x="18350794" y="4800058"/>
            <a:ext cx="292101" cy="477039"/>
          </a:xfrm>
          <a:prstGeom prst="rightArrow">
            <a:avLst>
              <a:gd name="adj1" fmla="val 32000"/>
              <a:gd name="adj2" fmla="val 43478"/>
            </a:avLst>
          </a:pr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50" name="Arrow"/>
          <p:cNvSpPr/>
          <p:nvPr/>
        </p:nvSpPr>
        <p:spPr>
          <a:xfrm rot="16200000">
            <a:off x="16627755" y="4698458"/>
            <a:ext cx="4953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51" name="Arrow"/>
          <p:cNvSpPr/>
          <p:nvPr/>
        </p:nvSpPr>
        <p:spPr>
          <a:xfrm rot="16200000">
            <a:off x="14999968" y="4692108"/>
            <a:ext cx="5080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52" name="Arrow"/>
          <p:cNvSpPr/>
          <p:nvPr/>
        </p:nvSpPr>
        <p:spPr>
          <a:xfrm rot="16200000">
            <a:off x="11913868" y="4781008"/>
            <a:ext cx="406401" cy="477039"/>
          </a:xfrm>
          <a:prstGeom prst="rightArrow">
            <a:avLst>
              <a:gd name="adj1" fmla="val 32000"/>
              <a:gd name="adj2" fmla="val 31250"/>
            </a:avLst>
          </a:pr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53" name="Arrow"/>
          <p:cNvSpPr/>
          <p:nvPr/>
        </p:nvSpPr>
        <p:spPr>
          <a:xfrm rot="16200000">
            <a:off x="10365153" y="4737890"/>
            <a:ext cx="393701" cy="477039"/>
          </a:xfrm>
          <a:prstGeom prst="rightArrow">
            <a:avLst>
              <a:gd name="adj1" fmla="val 32000"/>
              <a:gd name="adj2" fmla="val 32258"/>
            </a:avLst>
          </a:pr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54" name="Arrow"/>
          <p:cNvSpPr/>
          <p:nvPr/>
        </p:nvSpPr>
        <p:spPr>
          <a:xfrm rot="16200000">
            <a:off x="10181003" y="5861657"/>
            <a:ext cx="7620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55" name="Arrow"/>
          <p:cNvSpPr/>
          <p:nvPr/>
        </p:nvSpPr>
        <p:spPr>
          <a:xfrm rot="16200000">
            <a:off x="11673253" y="5829907"/>
            <a:ext cx="7747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56" name="Arrow"/>
          <p:cNvSpPr/>
          <p:nvPr/>
        </p:nvSpPr>
        <p:spPr>
          <a:xfrm rot="16200000">
            <a:off x="13439153" y="5909776"/>
            <a:ext cx="469901" cy="477039"/>
          </a:xfrm>
          <a:prstGeom prst="rightArrow">
            <a:avLst>
              <a:gd name="adj1" fmla="val 32000"/>
              <a:gd name="adj2" fmla="val 27027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57" name="Arrow"/>
          <p:cNvSpPr/>
          <p:nvPr/>
        </p:nvSpPr>
        <p:spPr>
          <a:xfrm rot="16200000">
            <a:off x="18344444" y="5992326"/>
            <a:ext cx="304801" cy="477039"/>
          </a:xfrm>
          <a:prstGeom prst="rightArrow">
            <a:avLst>
              <a:gd name="adj1" fmla="val 32000"/>
              <a:gd name="adj2" fmla="val 41667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58" name="Arrow"/>
          <p:cNvSpPr/>
          <p:nvPr/>
        </p:nvSpPr>
        <p:spPr>
          <a:xfrm rot="16200000">
            <a:off x="18185694" y="7125828"/>
            <a:ext cx="6223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59" name="Arrow"/>
          <p:cNvSpPr/>
          <p:nvPr/>
        </p:nvSpPr>
        <p:spPr>
          <a:xfrm rot="16200000">
            <a:off x="16867559" y="7119478"/>
            <a:ext cx="6350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60" name="Arrow"/>
          <p:cNvSpPr/>
          <p:nvPr/>
        </p:nvSpPr>
        <p:spPr>
          <a:xfrm rot="16200000">
            <a:off x="15186162" y="7132178"/>
            <a:ext cx="6096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3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3" presetClass="entr" presetSubtype="5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3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3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3" presetClass="entr" presetSubtype="5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3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"/>
                            </p:stCondLst>
                            <p:childTnLst>
                              <p:par>
                                <p:cTn id="22" presetID="3" presetClass="entr" presetSubtype="5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3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3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"/>
                            </p:stCondLst>
                            <p:childTnLst>
                              <p:par>
                                <p:cTn id="31" presetID="3" presetClass="entr" presetSubtype="5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3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"/>
                            </p:stCondLst>
                            <p:childTnLst>
                              <p:par>
                                <p:cTn id="35" presetID="3" presetClass="entr" presetSubtype="5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3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3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3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"/>
                            </p:stCondLst>
                            <p:childTnLst>
                              <p:par>
                                <p:cTn id="49" presetID="3" presetClass="entr" presetSubtype="5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3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"/>
                            </p:stCondLst>
                            <p:childTnLst>
                              <p:par>
                                <p:cTn id="53" presetID="3" presetClass="entr" presetSubtype="5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3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9" grpId="8" animBg="1" advAuto="0"/>
      <p:bldP spid="650" grpId="7" animBg="1" advAuto="0"/>
      <p:bldP spid="651" grpId="6" animBg="1" advAuto="0"/>
      <p:bldP spid="652" grpId="2" animBg="1" advAuto="0"/>
      <p:bldP spid="653" grpId="1" animBg="1" advAuto="0"/>
      <p:bldP spid="654" grpId="3" animBg="1" advAuto="0"/>
      <p:bldP spid="655" grpId="4" animBg="1" advAuto="0"/>
      <p:bldP spid="656" grpId="5" animBg="1" advAuto="0"/>
      <p:bldP spid="657" grpId="9" animBg="1" advAuto="0"/>
      <p:bldP spid="658" grpId="12" animBg="1" advAuto="0"/>
      <p:bldP spid="659" grpId="11" animBg="1" advAuto="0"/>
      <p:bldP spid="660" grpId="10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B. Grietas en “Confianza” [Datos experiment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B. Grietas en “Confianza”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experimentales</a:t>
            </a:r>
            <a:r>
              <a:t>]</a:t>
            </a:r>
          </a:p>
        </p:txBody>
      </p:sp>
      <p:sp>
        <p:nvSpPr>
          <p:cNvPr id="663" name="4. Por identidad partidaria"/>
          <p:cNvSpPr txBox="1"/>
          <p:nvPr/>
        </p:nvSpPr>
        <p:spPr>
          <a:xfrm>
            <a:off x="1744237" y="2250136"/>
            <a:ext cx="5682185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4. Por identidad partidaria</a:t>
            </a:r>
          </a:p>
        </p:txBody>
      </p:sp>
      <p:pic>
        <p:nvPicPr>
          <p:cNvPr id="66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28496" y="4611007"/>
            <a:ext cx="8925932" cy="5950622"/>
          </a:xfrm>
          <a:prstGeom prst="rect">
            <a:avLst/>
          </a:prstGeom>
          <a:ln w="12700">
            <a:miter lim="400000"/>
          </a:ln>
        </p:spPr>
      </p:pic>
      <p:pic>
        <p:nvPicPr>
          <p:cNvPr id="66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3892989" y="4611007"/>
            <a:ext cx="8925933" cy="5950622"/>
          </a:xfrm>
          <a:prstGeom prst="rect">
            <a:avLst/>
          </a:prstGeom>
          <a:ln w="12700">
            <a:miter lim="400000"/>
          </a:ln>
        </p:spPr>
      </p:pic>
      <p:sp>
        <p:nvSpPr>
          <p:cNvPr id="666" name="a) Preferencia de voto 2020"/>
          <p:cNvSpPr txBox="1"/>
          <p:nvPr/>
        </p:nvSpPr>
        <p:spPr>
          <a:xfrm>
            <a:off x="4291923" y="12370517"/>
            <a:ext cx="6149441" cy="684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a) Preferencia de voto 2020</a:t>
            </a:r>
          </a:p>
        </p:txBody>
      </p:sp>
      <p:sp>
        <p:nvSpPr>
          <p:cNvPr id="667" name="b) Preferencia de voto 2022"/>
          <p:cNvSpPr txBox="1"/>
          <p:nvPr/>
        </p:nvSpPr>
        <p:spPr>
          <a:xfrm>
            <a:off x="15281236" y="12370517"/>
            <a:ext cx="6149441" cy="684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r>
              <a:t>b) Preferencia de voto 2022</a:t>
            </a:r>
          </a:p>
        </p:txBody>
      </p:sp>
      <p:sp>
        <p:nvSpPr>
          <p:cNvPr id="6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36</a:t>
            </a:fld>
            <a:endParaRPr/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B. Grietas en “Confianza” [Datos experiment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B. Grietas en “Confianza”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experimentales</a:t>
            </a:r>
            <a:r>
              <a:t>]</a:t>
            </a:r>
          </a:p>
        </p:txBody>
      </p:sp>
      <p:sp>
        <p:nvSpPr>
          <p:cNvPr id="671" name="4. Por identidad partidaria"/>
          <p:cNvSpPr txBox="1"/>
          <p:nvPr/>
        </p:nvSpPr>
        <p:spPr>
          <a:xfrm>
            <a:off x="1696844" y="2250136"/>
            <a:ext cx="5682184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4. Por identidad partidaria</a:t>
            </a:r>
          </a:p>
        </p:txBody>
      </p:sp>
      <p:pic>
        <p:nvPicPr>
          <p:cNvPr id="672" name="Screenshot 2022-10-26 at 8.46.31 AM.png" descr="Screenshot 2022-10-26 at 8.46.31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686" y="3330784"/>
            <a:ext cx="17438250" cy="9445720"/>
          </a:xfrm>
          <a:prstGeom prst="rect">
            <a:avLst/>
          </a:prstGeom>
          <a:ln w="12700">
            <a:miter lim="400000"/>
          </a:ln>
        </p:spPr>
      </p:pic>
      <p:sp>
        <p:nvSpPr>
          <p:cNvPr id="673" name="Terminator"/>
          <p:cNvSpPr/>
          <p:nvPr/>
        </p:nvSpPr>
        <p:spPr>
          <a:xfrm>
            <a:off x="8700054" y="5723771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49577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74" name="Terminator"/>
          <p:cNvSpPr/>
          <p:nvPr/>
        </p:nvSpPr>
        <p:spPr>
          <a:xfrm>
            <a:off x="10438436" y="5723771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49577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75" name="Terminator"/>
          <p:cNvSpPr/>
          <p:nvPr/>
        </p:nvSpPr>
        <p:spPr>
          <a:xfrm>
            <a:off x="12176817" y="5723771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49577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76" name="Terminator"/>
          <p:cNvSpPr/>
          <p:nvPr/>
        </p:nvSpPr>
        <p:spPr>
          <a:xfrm>
            <a:off x="13684896" y="5723771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49577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77" name="Terminator"/>
          <p:cNvSpPr/>
          <p:nvPr/>
        </p:nvSpPr>
        <p:spPr>
          <a:xfrm>
            <a:off x="15485853" y="5723771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49577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78" name="Terminator"/>
          <p:cNvSpPr/>
          <p:nvPr/>
        </p:nvSpPr>
        <p:spPr>
          <a:xfrm>
            <a:off x="17286809" y="5723771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49577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79" name="Terminator"/>
          <p:cNvSpPr/>
          <p:nvPr/>
        </p:nvSpPr>
        <p:spPr>
          <a:xfrm>
            <a:off x="17286809" y="6988216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6012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80" name="Terminator"/>
          <p:cNvSpPr/>
          <p:nvPr/>
        </p:nvSpPr>
        <p:spPr>
          <a:xfrm>
            <a:off x="12176817" y="6988216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4">
              <a:alphaModFix amt="30000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81" name="Terminator"/>
          <p:cNvSpPr/>
          <p:nvPr/>
        </p:nvSpPr>
        <p:spPr>
          <a:xfrm>
            <a:off x="17286809" y="445932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29835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82" name="Terminator"/>
          <p:cNvSpPr/>
          <p:nvPr/>
        </p:nvSpPr>
        <p:spPr>
          <a:xfrm>
            <a:off x="12010941" y="445932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29835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83" name="Terminator"/>
          <p:cNvSpPr/>
          <p:nvPr/>
        </p:nvSpPr>
        <p:spPr>
          <a:xfrm>
            <a:off x="10438436" y="445932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29835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84" name="Terminator"/>
          <p:cNvSpPr/>
          <p:nvPr/>
        </p:nvSpPr>
        <p:spPr>
          <a:xfrm>
            <a:off x="8700054" y="4459325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5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85" name="Terminator"/>
          <p:cNvSpPr/>
          <p:nvPr/>
        </p:nvSpPr>
        <p:spPr>
          <a:xfrm>
            <a:off x="8700054" y="6988216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5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86" name="Terminator"/>
          <p:cNvSpPr/>
          <p:nvPr/>
        </p:nvSpPr>
        <p:spPr>
          <a:xfrm>
            <a:off x="10651707" y="6988216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5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87" name="Terminator"/>
          <p:cNvSpPr/>
          <p:nvPr/>
        </p:nvSpPr>
        <p:spPr>
          <a:xfrm>
            <a:off x="13862622" y="4633718"/>
            <a:ext cx="1653814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5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88" name="Terminator"/>
          <p:cNvSpPr/>
          <p:nvPr/>
        </p:nvSpPr>
        <p:spPr>
          <a:xfrm>
            <a:off x="15574716" y="4633718"/>
            <a:ext cx="1653814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5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89" name="Terminator"/>
          <p:cNvSpPr/>
          <p:nvPr/>
        </p:nvSpPr>
        <p:spPr>
          <a:xfrm>
            <a:off x="13862622" y="6988216"/>
            <a:ext cx="1653814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5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90" name="Terminator"/>
          <p:cNvSpPr/>
          <p:nvPr/>
        </p:nvSpPr>
        <p:spPr>
          <a:xfrm>
            <a:off x="15485853" y="6988216"/>
            <a:ext cx="1653815" cy="826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5">
              <a:alphaModFix amt="150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9587" y="13109828"/>
            <a:ext cx="420853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37</a:t>
            </a:fld>
            <a:endParaRPr/>
          </a:p>
        </p:txBody>
      </p:sp>
      <p:sp>
        <p:nvSpPr>
          <p:cNvPr id="692" name="Arrow"/>
          <p:cNvSpPr/>
          <p:nvPr/>
        </p:nvSpPr>
        <p:spPr>
          <a:xfrm rot="16200000">
            <a:off x="18494734" y="4884852"/>
            <a:ext cx="609601" cy="477040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93" name="Arrow"/>
          <p:cNvSpPr/>
          <p:nvPr/>
        </p:nvSpPr>
        <p:spPr>
          <a:xfrm rot="16200000">
            <a:off x="13534589" y="4903902"/>
            <a:ext cx="571501" cy="477040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94" name="Arrow"/>
          <p:cNvSpPr/>
          <p:nvPr/>
        </p:nvSpPr>
        <p:spPr>
          <a:xfrm rot="16200000">
            <a:off x="11764643" y="4986452"/>
            <a:ext cx="406401" cy="477040"/>
          </a:xfrm>
          <a:prstGeom prst="rightArrow">
            <a:avLst>
              <a:gd name="adj1" fmla="val 32000"/>
              <a:gd name="adj2" fmla="val 31250"/>
            </a:avLst>
          </a:pr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95" name="Arrow"/>
          <p:cNvSpPr/>
          <p:nvPr/>
        </p:nvSpPr>
        <p:spPr>
          <a:xfrm rot="5400000">
            <a:off x="18348684" y="5936102"/>
            <a:ext cx="9017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96" name="Arrow"/>
          <p:cNvSpPr/>
          <p:nvPr/>
        </p:nvSpPr>
        <p:spPr>
          <a:xfrm rot="5400000">
            <a:off x="16769826" y="5935102"/>
            <a:ext cx="8001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97" name="Arrow"/>
          <p:cNvSpPr/>
          <p:nvPr/>
        </p:nvSpPr>
        <p:spPr>
          <a:xfrm rot="5400000">
            <a:off x="14968244" y="5947802"/>
            <a:ext cx="8255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98" name="Arrow"/>
          <p:cNvSpPr/>
          <p:nvPr/>
        </p:nvSpPr>
        <p:spPr>
          <a:xfrm rot="5400000">
            <a:off x="13267889" y="6087502"/>
            <a:ext cx="11049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699" name="Arrow"/>
          <p:cNvSpPr/>
          <p:nvPr/>
        </p:nvSpPr>
        <p:spPr>
          <a:xfrm rot="5400000">
            <a:off x="11454232" y="6100202"/>
            <a:ext cx="11303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00" name="Arrow"/>
          <p:cNvSpPr/>
          <p:nvPr/>
        </p:nvSpPr>
        <p:spPr>
          <a:xfrm rot="5400000">
            <a:off x="9735939" y="6081152"/>
            <a:ext cx="10922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01" name="Arrow"/>
          <p:cNvSpPr/>
          <p:nvPr/>
        </p:nvSpPr>
        <p:spPr>
          <a:xfrm rot="16200000">
            <a:off x="18355034" y="6927498"/>
            <a:ext cx="8890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02" name="Arrow"/>
          <p:cNvSpPr/>
          <p:nvPr/>
        </p:nvSpPr>
        <p:spPr>
          <a:xfrm rot="16200000">
            <a:off x="13579039" y="7130698"/>
            <a:ext cx="482601" cy="477039"/>
          </a:xfrm>
          <a:prstGeom prst="rightArrow">
            <a:avLst>
              <a:gd name="adj1" fmla="val 32000"/>
              <a:gd name="adj2" fmla="val 26623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3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3" presetClass="entr" presetSubtype="5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3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3" presetClass="entr" presetSubtype="5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3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3" presetClass="entr" presetSubtype="5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3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3" presetClass="entr" presetSubtype="5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3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3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"/>
                            </p:stCondLst>
                            <p:childTnLst>
                              <p:par>
                                <p:cTn id="30" presetID="3" presetClass="entr" presetSubtype="5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3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"/>
                            </p:stCondLst>
                            <p:childTnLst>
                              <p:par>
                                <p:cTn id="34" presetID="3" presetClass="entr" presetSubtype="5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3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900"/>
                            </p:stCondLst>
                            <p:childTnLst>
                              <p:par>
                                <p:cTn id="38" presetID="3" presetClass="entr" presetSubtype="5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3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3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"/>
                            </p:stCondLst>
                            <p:childTnLst>
                              <p:par>
                                <p:cTn id="47" presetID="3" presetClass="entr" presetSubtype="5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3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" grpId="6" animBg="1" advAuto="0"/>
      <p:bldP spid="693" grpId="2" animBg="1" advAuto="0"/>
      <p:bldP spid="694" grpId="1" animBg="1" advAuto="0"/>
      <p:bldP spid="695" grpId="9" animBg="1" advAuto="0"/>
      <p:bldP spid="696" grpId="8" animBg="1" advAuto="0"/>
      <p:bldP spid="697" grpId="7" animBg="1" advAuto="0"/>
      <p:bldP spid="698" grpId="5" animBg="1" advAuto="0"/>
      <p:bldP spid="699" grpId="4" animBg="1" advAuto="0"/>
      <p:bldP spid="700" grpId="3" animBg="1" advAuto="0"/>
      <p:bldP spid="701" grpId="11" animBg="1" advAuto="0"/>
      <p:bldP spid="702" grpId="10" animBg="1" advAuto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B. Grietas en “Confianza” [Datos experimentales]"/>
          <p:cNvSpPr txBox="1">
            <a:spLocks noGrp="1"/>
          </p:cNvSpPr>
          <p:nvPr>
            <p:ph type="title"/>
          </p:nvPr>
        </p:nvSpPr>
        <p:spPr>
          <a:xfrm>
            <a:off x="6653700" y="166025"/>
            <a:ext cx="11076600" cy="1546555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B. Grietas en “Confianza”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experimentales</a:t>
            </a:r>
            <a:r>
              <a:t>]</a:t>
            </a:r>
          </a:p>
        </p:txBody>
      </p:sp>
      <p:sp>
        <p:nvSpPr>
          <p:cNvPr id="705" name="1. Por identidad étnica"/>
          <p:cNvSpPr txBox="1"/>
          <p:nvPr/>
        </p:nvSpPr>
        <p:spPr>
          <a:xfrm>
            <a:off x="1637882" y="1727658"/>
            <a:ext cx="6149441" cy="684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1. Por identidad étnica</a:t>
            </a:r>
          </a:p>
        </p:txBody>
      </p:sp>
      <p:graphicFrame>
        <p:nvGraphicFramePr>
          <p:cNvPr id="706" name="Interactive Bar Chart"/>
          <p:cNvGraphicFramePr/>
          <p:nvPr>
            <p:extLst>
              <p:ext uri="{D42A27DB-BD31-4B8C-83A1-F6EECF244321}">
                <p14:modId xmlns:p14="http://schemas.microsoft.com/office/powerpoint/2010/main" val="3985227262"/>
              </p:ext>
            </p:extLst>
          </p:nvPr>
        </p:nvGraphicFramePr>
        <p:xfrm>
          <a:off x="1743885" y="2622170"/>
          <a:ext cx="6927683" cy="3192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07" name="2. Por identidad regional"/>
          <p:cNvSpPr txBox="1"/>
          <p:nvPr/>
        </p:nvSpPr>
        <p:spPr>
          <a:xfrm>
            <a:off x="12780874" y="1727658"/>
            <a:ext cx="5315174" cy="684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2. Por identidad regional</a:t>
            </a:r>
          </a:p>
        </p:txBody>
      </p:sp>
      <p:graphicFrame>
        <p:nvGraphicFramePr>
          <p:cNvPr id="708" name="Interactive Bar Chart"/>
          <p:cNvGraphicFramePr/>
          <p:nvPr>
            <p:extLst>
              <p:ext uri="{D42A27DB-BD31-4B8C-83A1-F6EECF244321}">
                <p14:modId xmlns:p14="http://schemas.microsoft.com/office/powerpoint/2010/main" val="567842470"/>
              </p:ext>
            </p:extLst>
          </p:nvPr>
        </p:nvGraphicFramePr>
        <p:xfrm>
          <a:off x="13068089" y="2622170"/>
          <a:ext cx="6923628" cy="3192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09" name="3. Por identidad de clase [estrato de ingreso]"/>
          <p:cNvSpPr txBox="1"/>
          <p:nvPr/>
        </p:nvSpPr>
        <p:spPr>
          <a:xfrm>
            <a:off x="1034317" y="8814148"/>
            <a:ext cx="9510787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>
                <a:solidFill>
                  <a:schemeClr val="accent5"/>
                </a:solidFill>
              </a:defRPr>
            </a:pPr>
            <a:r>
              <a:t>3. Por identidad de clase [</a:t>
            </a:r>
            <a:r>
              <a:rPr>
                <a:solidFill>
                  <a:srgbClr val="FFFFFF"/>
                </a:solidFill>
              </a:rPr>
              <a:t>estrato de ingreso</a:t>
            </a:r>
            <a:r>
              <a:t>]</a:t>
            </a:r>
          </a:p>
        </p:txBody>
      </p:sp>
      <p:graphicFrame>
        <p:nvGraphicFramePr>
          <p:cNvPr id="710" name="Interactive Bar Chart"/>
          <p:cNvGraphicFramePr/>
          <p:nvPr>
            <p:extLst>
              <p:ext uri="{D42A27DB-BD31-4B8C-83A1-F6EECF244321}">
                <p14:modId xmlns:p14="http://schemas.microsoft.com/office/powerpoint/2010/main" val="3508182799"/>
              </p:ext>
            </p:extLst>
          </p:nvPr>
        </p:nvGraphicFramePr>
        <p:xfrm>
          <a:off x="1637882" y="9566908"/>
          <a:ext cx="7033686" cy="26586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11" name="4. Por identidad partidaria"/>
          <p:cNvSpPr txBox="1"/>
          <p:nvPr/>
        </p:nvSpPr>
        <p:spPr>
          <a:xfrm>
            <a:off x="12952821" y="8814148"/>
            <a:ext cx="5682185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4. Por identidad partidaria</a:t>
            </a:r>
          </a:p>
        </p:txBody>
      </p:sp>
      <p:graphicFrame>
        <p:nvGraphicFramePr>
          <p:cNvPr id="712" name="Interactive Bar Chart"/>
          <p:cNvGraphicFramePr/>
          <p:nvPr>
            <p:extLst>
              <p:ext uri="{D42A27DB-BD31-4B8C-83A1-F6EECF244321}">
                <p14:modId xmlns:p14="http://schemas.microsoft.com/office/powerpoint/2010/main" val="475908906"/>
              </p:ext>
            </p:extLst>
          </p:nvPr>
        </p:nvGraphicFramePr>
        <p:xfrm>
          <a:off x="12826255" y="9459331"/>
          <a:ext cx="7165462" cy="26586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38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" grpId="1" animBg="1" advAuto="0"/>
      <p:bldP spid="708" grpId="2" animBg="1" advAuto="0"/>
      <p:bldP spid="710" grpId="3" animBg="1" advAuto="0"/>
      <p:bldP spid="712" grpId="4" animBg="1" advAuto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B. Grietas Idiológicas [Datos observacion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B. Grietas Idiológicas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observacionales</a:t>
            </a:r>
            <a:r>
              <a:t>]</a:t>
            </a:r>
          </a:p>
        </p:txBody>
      </p:sp>
      <p:pic>
        <p:nvPicPr>
          <p:cNvPr id="71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180696" y="3852902"/>
            <a:ext cx="10119327" cy="6746219"/>
          </a:xfrm>
          <a:prstGeom prst="rect">
            <a:avLst/>
          </a:prstGeom>
          <a:ln w="12700">
            <a:miter lim="400000"/>
          </a:ln>
        </p:spPr>
      </p:pic>
      <p:pic>
        <p:nvPicPr>
          <p:cNvPr id="71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321289" y="3852902"/>
            <a:ext cx="10119328" cy="6746219"/>
          </a:xfrm>
          <a:prstGeom prst="rect">
            <a:avLst/>
          </a:prstGeom>
          <a:ln w="12700">
            <a:miter lim="400000"/>
          </a:ln>
        </p:spPr>
      </p:pic>
      <p:pic>
        <p:nvPicPr>
          <p:cNvPr id="72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4695760" y="3816934"/>
            <a:ext cx="10227233" cy="6818155"/>
          </a:xfrm>
          <a:prstGeom prst="rect">
            <a:avLst/>
          </a:prstGeom>
          <a:ln w="12700">
            <a:miter lim="400000"/>
          </a:ln>
        </p:spPr>
      </p:pic>
      <p:sp>
        <p:nvSpPr>
          <p:cNvPr id="721" name="1. Por preferencias políticas"/>
          <p:cNvSpPr txBox="1"/>
          <p:nvPr/>
        </p:nvSpPr>
        <p:spPr>
          <a:xfrm>
            <a:off x="11536950" y="1189281"/>
            <a:ext cx="5859885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1. Por preferencias políticas</a:t>
            </a:r>
          </a:p>
        </p:txBody>
      </p:sp>
      <p:sp>
        <p:nvSpPr>
          <p:cNvPr id="722" name="a) Identifica con socialismo [vs.sapitalismo]"/>
          <p:cNvSpPr txBox="1"/>
          <p:nvPr/>
        </p:nvSpPr>
        <p:spPr>
          <a:xfrm>
            <a:off x="1804247" y="12893847"/>
            <a:ext cx="6149441" cy="474279"/>
          </a:xfrm>
          <a:prstGeom prst="rect">
            <a:avLst/>
          </a:prstGeom>
          <a:blipFill>
            <a:blip r:embed="rId5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a) Identifica con socialismo [vs.sapitalismo]</a:t>
            </a:r>
          </a:p>
        </p:txBody>
      </p:sp>
      <p:sp>
        <p:nvSpPr>
          <p:cNvPr id="723" name="b) Identifica con dem. participativa [vs. dem.representativa]"/>
          <p:cNvSpPr txBox="1"/>
          <p:nvPr/>
        </p:nvSpPr>
        <p:spPr>
          <a:xfrm>
            <a:off x="9306232" y="12703347"/>
            <a:ext cx="6149441" cy="855279"/>
          </a:xfrm>
          <a:prstGeom prst="rect">
            <a:avLst/>
          </a:prstGeom>
          <a:blipFill>
            <a:blip r:embed="rId5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b) Identifica con dem. participativa [vs. dem.representativa]</a:t>
            </a:r>
          </a:p>
        </p:txBody>
      </p:sp>
      <p:sp>
        <p:nvSpPr>
          <p:cNvPr id="724" name="c) Identifica con responsabilidad gubernamental por trabajos y calidad de vida [vs. resp. individual]"/>
          <p:cNvSpPr txBox="1"/>
          <p:nvPr/>
        </p:nvSpPr>
        <p:spPr>
          <a:xfrm>
            <a:off x="16808217" y="12563647"/>
            <a:ext cx="6149441" cy="1236279"/>
          </a:xfrm>
          <a:prstGeom prst="rect">
            <a:avLst/>
          </a:prstGeom>
          <a:blipFill>
            <a:blip r:embed="rId5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c) Identifica con responsabilidad gubernamental por trabajos y calidad de vida [vs. resp. individual]</a:t>
            </a:r>
          </a:p>
        </p:txBody>
      </p:sp>
      <p:sp>
        <p:nvSpPr>
          <p:cNvPr id="725" name="Line"/>
          <p:cNvSpPr/>
          <p:nvPr/>
        </p:nvSpPr>
        <p:spPr>
          <a:xfrm>
            <a:off x="4789041" y="3567848"/>
            <a:ext cx="2124082" cy="1"/>
          </a:xfrm>
          <a:prstGeom prst="line">
            <a:avLst/>
          </a:prstGeom>
          <a:ln w="76200">
            <a:solidFill>
              <a:srgbClr val="4B64FF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26" name="Line"/>
          <p:cNvSpPr/>
          <p:nvPr/>
        </p:nvSpPr>
        <p:spPr>
          <a:xfrm flipV="1">
            <a:off x="5990781" y="3270303"/>
            <a:ext cx="1" cy="8658240"/>
          </a:xfrm>
          <a:prstGeom prst="line">
            <a:avLst/>
          </a:prstGeom>
          <a:ln w="12700">
            <a:solidFill>
              <a:srgbClr val="FF2600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27" name="Line"/>
          <p:cNvSpPr/>
          <p:nvPr/>
        </p:nvSpPr>
        <p:spPr>
          <a:xfrm flipV="1">
            <a:off x="13534877" y="3270303"/>
            <a:ext cx="1" cy="8658240"/>
          </a:xfrm>
          <a:prstGeom prst="line">
            <a:avLst/>
          </a:prstGeom>
          <a:ln w="12700">
            <a:solidFill>
              <a:srgbClr val="FF2600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28" name="Line"/>
          <p:cNvSpPr/>
          <p:nvPr/>
        </p:nvSpPr>
        <p:spPr>
          <a:xfrm flipV="1">
            <a:off x="20951196" y="3270303"/>
            <a:ext cx="1" cy="8658240"/>
          </a:xfrm>
          <a:prstGeom prst="line">
            <a:avLst/>
          </a:prstGeom>
          <a:ln w="12700">
            <a:solidFill>
              <a:srgbClr val="FF2600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29" name="Line"/>
          <p:cNvSpPr/>
          <p:nvPr/>
        </p:nvSpPr>
        <p:spPr>
          <a:xfrm>
            <a:off x="11793470" y="3567848"/>
            <a:ext cx="797061" cy="1"/>
          </a:xfrm>
          <a:prstGeom prst="line">
            <a:avLst/>
          </a:prstGeom>
          <a:ln w="76200">
            <a:solidFill>
              <a:srgbClr val="4B64FF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30" name="Line"/>
          <p:cNvSpPr/>
          <p:nvPr/>
        </p:nvSpPr>
        <p:spPr>
          <a:xfrm>
            <a:off x="19208084" y="3580548"/>
            <a:ext cx="797062" cy="1"/>
          </a:xfrm>
          <a:prstGeom prst="line">
            <a:avLst/>
          </a:prstGeom>
          <a:ln w="76200">
            <a:solidFill>
              <a:srgbClr val="4B64FF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39</a:t>
            </a:fld>
            <a:endParaRPr/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B. Grietas Idiológicas [Datos observacion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B. Grietas Idiológicas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observacionales</a:t>
            </a:r>
            <a:r>
              <a:t>]</a:t>
            </a:r>
          </a:p>
        </p:txBody>
      </p:sp>
      <p:pic>
        <p:nvPicPr>
          <p:cNvPr id="73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96792" y="4294197"/>
            <a:ext cx="10000422" cy="6666948"/>
          </a:xfrm>
          <a:prstGeom prst="rect">
            <a:avLst/>
          </a:prstGeom>
          <a:ln w="12700">
            <a:miter lim="400000"/>
          </a:ln>
        </p:spPr>
      </p:pic>
      <p:pic>
        <p:nvPicPr>
          <p:cNvPr id="73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753413" y="4294197"/>
            <a:ext cx="10000422" cy="6666948"/>
          </a:xfrm>
          <a:prstGeom prst="rect">
            <a:avLst/>
          </a:prstGeom>
          <a:ln w="12700">
            <a:miter lim="400000"/>
          </a:ln>
        </p:spPr>
      </p:pic>
      <p:pic>
        <p:nvPicPr>
          <p:cNvPr id="738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5275873" y="4294197"/>
            <a:ext cx="10000423" cy="6666948"/>
          </a:xfrm>
          <a:prstGeom prst="rect">
            <a:avLst/>
          </a:prstGeom>
          <a:ln w="12700">
            <a:miter lim="400000"/>
          </a:ln>
        </p:spPr>
      </p:pic>
      <p:sp>
        <p:nvSpPr>
          <p:cNvPr id="739" name="1. Por preferencias políticas"/>
          <p:cNvSpPr txBox="1"/>
          <p:nvPr/>
        </p:nvSpPr>
        <p:spPr>
          <a:xfrm>
            <a:off x="11394769" y="1232834"/>
            <a:ext cx="5859885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1. Por preferencias políticas</a:t>
            </a:r>
          </a:p>
        </p:txBody>
      </p:sp>
      <p:sp>
        <p:nvSpPr>
          <p:cNvPr id="740" name="d) Identifica con responsabilidad del gobierno de ayudar a la población indígena [valerse por si mismas]"/>
          <p:cNvSpPr txBox="1"/>
          <p:nvPr/>
        </p:nvSpPr>
        <p:spPr>
          <a:xfrm>
            <a:off x="1879108" y="12631329"/>
            <a:ext cx="6854538" cy="1236279"/>
          </a:xfrm>
          <a:prstGeom prst="rect">
            <a:avLst/>
          </a:prstGeom>
          <a:blipFill>
            <a:blip r:embed="rId5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d) Identifica con responsabilidad del gobierno de ayudar a la población indígena [valerse por si mismas]</a:t>
            </a:r>
          </a:p>
        </p:txBody>
      </p:sp>
      <p:sp>
        <p:nvSpPr>
          <p:cNvPr id="741" name="e) Identifica a favor del matrimonio gay"/>
          <p:cNvSpPr txBox="1"/>
          <p:nvPr/>
        </p:nvSpPr>
        <p:spPr>
          <a:xfrm>
            <a:off x="9678903" y="13012329"/>
            <a:ext cx="6149441" cy="474279"/>
          </a:xfrm>
          <a:prstGeom prst="rect">
            <a:avLst/>
          </a:prstGeom>
          <a:blipFill>
            <a:blip r:embed="rId6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e) Identifica a favor del matrimonio gay</a:t>
            </a:r>
          </a:p>
        </p:txBody>
      </p:sp>
      <p:sp>
        <p:nvSpPr>
          <p:cNvPr id="742" name="f) Identifica en contra de la legalidad del aborto"/>
          <p:cNvSpPr txBox="1"/>
          <p:nvPr/>
        </p:nvSpPr>
        <p:spPr>
          <a:xfrm>
            <a:off x="17201365" y="12821829"/>
            <a:ext cx="6149441" cy="855279"/>
          </a:xfrm>
          <a:prstGeom prst="rect">
            <a:avLst/>
          </a:prstGeom>
          <a:blipFill>
            <a:blip r:embed="rId6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f) Identifica en contra de la legalidad del aborto</a:t>
            </a:r>
          </a:p>
        </p:txBody>
      </p:sp>
      <p:sp>
        <p:nvSpPr>
          <p:cNvPr id="74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40</a:t>
            </a:fld>
            <a:endParaRPr/>
          </a:p>
        </p:txBody>
      </p:sp>
      <p:sp>
        <p:nvSpPr>
          <p:cNvPr id="744" name="Line"/>
          <p:cNvSpPr/>
          <p:nvPr/>
        </p:nvSpPr>
        <p:spPr>
          <a:xfrm flipV="1">
            <a:off x="6428998" y="3397303"/>
            <a:ext cx="1" cy="8658240"/>
          </a:xfrm>
          <a:prstGeom prst="line">
            <a:avLst/>
          </a:prstGeom>
          <a:ln w="12700">
            <a:solidFill>
              <a:srgbClr val="FF2600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45" name="Line"/>
          <p:cNvSpPr/>
          <p:nvPr/>
        </p:nvSpPr>
        <p:spPr>
          <a:xfrm flipV="1">
            <a:off x="13906696" y="3397303"/>
            <a:ext cx="1" cy="8658240"/>
          </a:xfrm>
          <a:prstGeom prst="line">
            <a:avLst/>
          </a:prstGeom>
          <a:ln w="12700">
            <a:solidFill>
              <a:srgbClr val="FF2600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46" name="Line"/>
          <p:cNvSpPr/>
          <p:nvPr/>
        </p:nvSpPr>
        <p:spPr>
          <a:xfrm flipV="1">
            <a:off x="21384396" y="3595680"/>
            <a:ext cx="1" cy="8658240"/>
          </a:xfrm>
          <a:prstGeom prst="line">
            <a:avLst/>
          </a:prstGeom>
          <a:ln w="12700">
            <a:solidFill>
              <a:srgbClr val="FF2600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C. Grietas Idiológicas [Datos observacionales]"/>
          <p:cNvSpPr txBox="1">
            <a:spLocks noGrp="1"/>
          </p:cNvSpPr>
          <p:nvPr>
            <p:ph type="title"/>
          </p:nvPr>
        </p:nvSpPr>
        <p:spPr>
          <a:xfrm>
            <a:off x="1141444" y="758445"/>
            <a:ext cx="11076600" cy="1546554"/>
          </a:xfrm>
          <a:prstGeom prst="rect">
            <a:avLst/>
          </a:prstGeom>
        </p:spPr>
        <p:txBody>
          <a:bodyPr/>
          <a:lstStyle/>
          <a:p>
            <a:pPr>
              <a:defRPr sz="3600"/>
            </a:pPr>
            <a:r>
              <a:t>C. Grietas Idiológicas [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Datos observacionales</a:t>
            </a:r>
            <a:r>
              <a:t>]</a:t>
            </a:r>
          </a:p>
        </p:txBody>
      </p:sp>
      <p:sp>
        <p:nvSpPr>
          <p:cNvPr id="749" name="1. Por preferencias políticas"/>
          <p:cNvSpPr txBox="1"/>
          <p:nvPr/>
        </p:nvSpPr>
        <p:spPr>
          <a:xfrm>
            <a:off x="11394769" y="1232834"/>
            <a:ext cx="5859885" cy="68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t>1. Por preferencias políticas</a:t>
            </a:r>
          </a:p>
        </p:txBody>
      </p:sp>
      <p:pic>
        <p:nvPicPr>
          <p:cNvPr id="750" name="Screenshot 2022-10-26 at 9.06.00 AM.png" descr="Screenshot 2022-10-26 at 9.06.00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412379" y="-2690669"/>
            <a:ext cx="10928713" cy="21230938"/>
          </a:xfrm>
          <a:prstGeom prst="rect">
            <a:avLst/>
          </a:prstGeom>
          <a:ln w="12700">
            <a:miter lim="400000"/>
          </a:ln>
        </p:spPr>
      </p:pic>
      <p:sp>
        <p:nvSpPr>
          <p:cNvPr id="751" name="Terminator"/>
          <p:cNvSpPr/>
          <p:nvPr/>
        </p:nvSpPr>
        <p:spPr>
          <a:xfrm>
            <a:off x="4955961" y="3922659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49577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52" name="Terminator"/>
          <p:cNvSpPr/>
          <p:nvPr/>
        </p:nvSpPr>
        <p:spPr>
          <a:xfrm>
            <a:off x="6338890" y="3922659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49577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53" name="Terminator"/>
          <p:cNvSpPr/>
          <p:nvPr/>
        </p:nvSpPr>
        <p:spPr>
          <a:xfrm>
            <a:off x="4955961" y="4570988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991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54" name="Terminator"/>
          <p:cNvSpPr/>
          <p:nvPr/>
        </p:nvSpPr>
        <p:spPr>
          <a:xfrm>
            <a:off x="6338890" y="4570988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991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55" name="Terminator"/>
          <p:cNvSpPr/>
          <p:nvPr/>
        </p:nvSpPr>
        <p:spPr>
          <a:xfrm>
            <a:off x="7721820" y="4570988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991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56" name="Terminator"/>
          <p:cNvSpPr/>
          <p:nvPr/>
        </p:nvSpPr>
        <p:spPr>
          <a:xfrm>
            <a:off x="9104751" y="4570988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991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57" name="Terminator"/>
          <p:cNvSpPr/>
          <p:nvPr/>
        </p:nvSpPr>
        <p:spPr>
          <a:xfrm>
            <a:off x="10565436" y="3922659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49577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58" name="Terminator"/>
          <p:cNvSpPr/>
          <p:nvPr/>
        </p:nvSpPr>
        <p:spPr>
          <a:xfrm>
            <a:off x="11916153" y="3922659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49577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59" name="Terminator"/>
          <p:cNvSpPr/>
          <p:nvPr/>
        </p:nvSpPr>
        <p:spPr>
          <a:xfrm>
            <a:off x="13236509" y="3922659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991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60" name="Terminator"/>
          <p:cNvSpPr/>
          <p:nvPr/>
        </p:nvSpPr>
        <p:spPr>
          <a:xfrm>
            <a:off x="14727555" y="3922659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991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61" name="Terminator"/>
          <p:cNvSpPr/>
          <p:nvPr/>
        </p:nvSpPr>
        <p:spPr>
          <a:xfrm>
            <a:off x="6338890" y="8101810"/>
            <a:ext cx="1369766" cy="68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991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62" name="Terminator"/>
          <p:cNvSpPr/>
          <p:nvPr/>
        </p:nvSpPr>
        <p:spPr>
          <a:xfrm>
            <a:off x="7911395" y="7521860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991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63" name="Terminator"/>
          <p:cNvSpPr/>
          <p:nvPr/>
        </p:nvSpPr>
        <p:spPr>
          <a:xfrm>
            <a:off x="9285809" y="7521860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991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64" name="Terminator"/>
          <p:cNvSpPr/>
          <p:nvPr/>
        </p:nvSpPr>
        <p:spPr>
          <a:xfrm>
            <a:off x="9412809" y="7648860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991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65" name="Terminator"/>
          <p:cNvSpPr/>
          <p:nvPr/>
        </p:nvSpPr>
        <p:spPr>
          <a:xfrm>
            <a:off x="10565436" y="7521860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49577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66" name="Terminator"/>
          <p:cNvSpPr/>
          <p:nvPr/>
        </p:nvSpPr>
        <p:spPr>
          <a:xfrm>
            <a:off x="11916153" y="7521860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49577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67" name="Terminator"/>
          <p:cNvSpPr/>
          <p:nvPr/>
        </p:nvSpPr>
        <p:spPr>
          <a:xfrm>
            <a:off x="4955961" y="7521860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49577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68" name="Terminator"/>
          <p:cNvSpPr/>
          <p:nvPr/>
        </p:nvSpPr>
        <p:spPr>
          <a:xfrm>
            <a:off x="6332308" y="7521860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49577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69" name="Terminator"/>
          <p:cNvSpPr/>
          <p:nvPr/>
        </p:nvSpPr>
        <p:spPr>
          <a:xfrm>
            <a:off x="5621322" y="2577746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94908F">
              <a:alpha val="26000"/>
            </a:srgbClr>
          </a:solidFill>
          <a:ln w="12700">
            <a:miter lim="400000"/>
          </a:ln>
          <a:effectLst>
            <a:outerShdw blurRad="101600" dist="381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70" name="Terminator"/>
          <p:cNvSpPr/>
          <p:nvPr/>
        </p:nvSpPr>
        <p:spPr>
          <a:xfrm>
            <a:off x="2999494" y="11235591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94908F">
              <a:alpha val="26000"/>
            </a:srgbClr>
          </a:solidFill>
          <a:ln w="12700">
            <a:miter lim="400000"/>
          </a:ln>
          <a:effectLst>
            <a:outerShdw blurRad="101600" dist="381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71" name="Terminator"/>
          <p:cNvSpPr/>
          <p:nvPr/>
        </p:nvSpPr>
        <p:spPr>
          <a:xfrm>
            <a:off x="11119904" y="2577746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94908F">
              <a:alpha val="26000"/>
            </a:srgbClr>
          </a:solidFill>
          <a:ln w="12700">
            <a:miter lim="400000"/>
          </a:ln>
          <a:effectLst>
            <a:outerShdw blurRad="101600" dist="381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72" name="Terminator"/>
          <p:cNvSpPr/>
          <p:nvPr/>
        </p:nvSpPr>
        <p:spPr>
          <a:xfrm>
            <a:off x="19414707" y="2704746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94908F">
              <a:alpha val="26000"/>
            </a:srgbClr>
          </a:solidFill>
          <a:ln w="12700">
            <a:miter lim="400000"/>
          </a:ln>
          <a:effectLst>
            <a:outerShdw blurRad="101600" dist="381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73" name="Terminator"/>
          <p:cNvSpPr/>
          <p:nvPr/>
        </p:nvSpPr>
        <p:spPr>
          <a:xfrm>
            <a:off x="16618486" y="2577746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94908F">
              <a:alpha val="26000"/>
            </a:srgbClr>
          </a:solidFill>
          <a:ln w="12700">
            <a:miter lim="400000"/>
          </a:ln>
          <a:effectLst>
            <a:outerShdw blurRad="101600" dist="381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74" name="Terminator"/>
          <p:cNvSpPr/>
          <p:nvPr/>
        </p:nvSpPr>
        <p:spPr>
          <a:xfrm>
            <a:off x="13822264" y="2577746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94908F">
              <a:alpha val="26000"/>
            </a:srgbClr>
          </a:solidFill>
          <a:ln w="12700">
            <a:miter lim="400000"/>
          </a:ln>
          <a:effectLst>
            <a:outerShdw blurRad="101600" dist="381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75" name="Terminator"/>
          <p:cNvSpPr/>
          <p:nvPr/>
        </p:nvSpPr>
        <p:spPr>
          <a:xfrm>
            <a:off x="13949264" y="2704746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94908F">
              <a:alpha val="26000"/>
            </a:srgbClr>
          </a:solidFill>
          <a:ln w="12700">
            <a:miter lim="400000"/>
          </a:ln>
          <a:effectLst>
            <a:outerShdw blurRad="101600" dist="381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76" name="Terminator"/>
          <p:cNvSpPr/>
          <p:nvPr/>
        </p:nvSpPr>
        <p:spPr>
          <a:xfrm>
            <a:off x="8290543" y="2704746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94908F">
              <a:alpha val="26000"/>
            </a:srgbClr>
          </a:solidFill>
          <a:ln w="12700">
            <a:miter lim="400000"/>
          </a:ln>
          <a:effectLst>
            <a:outerShdw blurRad="101600" dist="381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77" name="Terminator"/>
          <p:cNvSpPr/>
          <p:nvPr/>
        </p:nvSpPr>
        <p:spPr>
          <a:xfrm>
            <a:off x="14727555" y="11235591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94908F">
              <a:alpha val="26000"/>
            </a:srgbClr>
          </a:solidFill>
          <a:ln w="12700">
            <a:miter lim="400000"/>
          </a:ln>
          <a:effectLst>
            <a:outerShdw blurRad="101600" dist="381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78" name="Terminator"/>
          <p:cNvSpPr/>
          <p:nvPr/>
        </p:nvSpPr>
        <p:spPr>
          <a:xfrm>
            <a:off x="10352165" y="11575863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94908F">
              <a:alpha val="26000"/>
            </a:srgbClr>
          </a:solidFill>
          <a:ln w="12700">
            <a:miter lim="400000"/>
          </a:ln>
          <a:effectLst>
            <a:outerShdw blurRad="101600" dist="381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79" name="Terminator"/>
          <p:cNvSpPr/>
          <p:nvPr/>
        </p:nvSpPr>
        <p:spPr>
          <a:xfrm>
            <a:off x="17704835" y="11987224"/>
            <a:ext cx="1369765" cy="68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94908F">
              <a:alpha val="26000"/>
            </a:srgbClr>
          </a:solidFill>
          <a:ln w="12700">
            <a:miter lim="400000"/>
          </a:ln>
          <a:effectLst>
            <a:outerShdw blurRad="101600" dist="381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80" name="Terminator"/>
          <p:cNvSpPr/>
          <p:nvPr/>
        </p:nvSpPr>
        <p:spPr>
          <a:xfrm>
            <a:off x="5621322" y="11987224"/>
            <a:ext cx="1369765" cy="68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94908F">
              <a:alpha val="26000"/>
            </a:srgbClr>
          </a:solidFill>
          <a:ln w="12700">
            <a:miter lim="400000"/>
          </a:ln>
          <a:effectLst>
            <a:outerShdw blurRad="101600" dist="381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81" name="Callout"/>
          <p:cNvSpPr/>
          <p:nvPr/>
        </p:nvSpPr>
        <p:spPr>
          <a:xfrm>
            <a:off x="9772977" y="11392278"/>
            <a:ext cx="4888707" cy="3960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4" y="0"/>
                </a:moveTo>
                <a:cubicBezTo>
                  <a:pt x="974" y="0"/>
                  <a:pt x="875" y="1216"/>
                  <a:pt x="875" y="2705"/>
                </a:cubicBezTo>
                <a:lnTo>
                  <a:pt x="875" y="11861"/>
                </a:lnTo>
                <a:lnTo>
                  <a:pt x="0" y="15929"/>
                </a:lnTo>
                <a:lnTo>
                  <a:pt x="903" y="20150"/>
                </a:lnTo>
                <a:cubicBezTo>
                  <a:pt x="940" y="20995"/>
                  <a:pt x="1011" y="21600"/>
                  <a:pt x="1094" y="21600"/>
                </a:cubicBezTo>
                <a:lnTo>
                  <a:pt x="21381" y="21600"/>
                </a:lnTo>
                <a:cubicBezTo>
                  <a:pt x="21502" y="21600"/>
                  <a:pt x="21600" y="20384"/>
                  <a:pt x="21600" y="18895"/>
                </a:cubicBezTo>
                <a:lnTo>
                  <a:pt x="21600" y="2705"/>
                </a:lnTo>
                <a:cubicBezTo>
                  <a:pt x="21600" y="1216"/>
                  <a:pt x="21502" y="0"/>
                  <a:pt x="21381" y="0"/>
                </a:cubicBezTo>
                <a:lnTo>
                  <a:pt x="1094" y="0"/>
                </a:lnTo>
                <a:close/>
              </a:path>
            </a:pathLst>
          </a:custGeom>
          <a:blipFill>
            <a:blip r:embed="rId4">
              <a:alphaModFix amt="2978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82" name="Callout"/>
          <p:cNvSpPr/>
          <p:nvPr/>
        </p:nvSpPr>
        <p:spPr>
          <a:xfrm>
            <a:off x="1485912" y="11758692"/>
            <a:ext cx="8859442" cy="3960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04" y="0"/>
                </a:moveTo>
                <a:cubicBezTo>
                  <a:pt x="537" y="0"/>
                  <a:pt x="483" y="1216"/>
                  <a:pt x="483" y="2705"/>
                </a:cubicBezTo>
                <a:lnTo>
                  <a:pt x="483" y="11861"/>
                </a:lnTo>
                <a:lnTo>
                  <a:pt x="0" y="15951"/>
                </a:lnTo>
                <a:lnTo>
                  <a:pt x="499" y="20172"/>
                </a:lnTo>
                <a:cubicBezTo>
                  <a:pt x="520" y="21009"/>
                  <a:pt x="558" y="21600"/>
                  <a:pt x="604" y="21600"/>
                </a:cubicBezTo>
                <a:lnTo>
                  <a:pt x="21479" y="21600"/>
                </a:lnTo>
                <a:cubicBezTo>
                  <a:pt x="21546" y="21600"/>
                  <a:pt x="21600" y="20384"/>
                  <a:pt x="21600" y="18895"/>
                </a:cubicBezTo>
                <a:lnTo>
                  <a:pt x="21600" y="2705"/>
                </a:lnTo>
                <a:cubicBezTo>
                  <a:pt x="21600" y="1216"/>
                  <a:pt x="21546" y="0"/>
                  <a:pt x="21479" y="0"/>
                </a:cubicBezTo>
                <a:lnTo>
                  <a:pt x="604" y="0"/>
                </a:lnTo>
                <a:close/>
              </a:path>
            </a:pathLst>
          </a:custGeom>
          <a:blipFill>
            <a:blip r:embed="rId4">
              <a:alphaModFix amt="30097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83" name="Callout"/>
          <p:cNvSpPr/>
          <p:nvPr/>
        </p:nvSpPr>
        <p:spPr>
          <a:xfrm>
            <a:off x="17704835" y="11745417"/>
            <a:ext cx="4401345" cy="3960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5" y="0"/>
                </a:moveTo>
                <a:cubicBezTo>
                  <a:pt x="1081" y="0"/>
                  <a:pt x="972" y="1216"/>
                  <a:pt x="972" y="2705"/>
                </a:cubicBezTo>
                <a:lnTo>
                  <a:pt x="972" y="11817"/>
                </a:lnTo>
                <a:lnTo>
                  <a:pt x="0" y="15929"/>
                </a:lnTo>
                <a:lnTo>
                  <a:pt x="1005" y="20172"/>
                </a:lnTo>
                <a:cubicBezTo>
                  <a:pt x="1046" y="21009"/>
                  <a:pt x="1123" y="21600"/>
                  <a:pt x="1215" y="21600"/>
                </a:cubicBezTo>
                <a:lnTo>
                  <a:pt x="21357" y="21600"/>
                </a:lnTo>
                <a:cubicBezTo>
                  <a:pt x="21491" y="21600"/>
                  <a:pt x="21600" y="20384"/>
                  <a:pt x="21600" y="18895"/>
                </a:cubicBezTo>
                <a:lnTo>
                  <a:pt x="21600" y="2705"/>
                </a:lnTo>
                <a:cubicBezTo>
                  <a:pt x="21600" y="1216"/>
                  <a:pt x="21491" y="0"/>
                  <a:pt x="21357" y="0"/>
                </a:cubicBezTo>
                <a:lnTo>
                  <a:pt x="1215" y="0"/>
                </a:lnTo>
                <a:close/>
              </a:path>
            </a:pathLst>
          </a:custGeom>
          <a:blipFill>
            <a:blip r:embed="rId4">
              <a:alphaModFix amt="2978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84" name="Callout"/>
          <p:cNvSpPr/>
          <p:nvPr/>
        </p:nvSpPr>
        <p:spPr>
          <a:xfrm>
            <a:off x="1244080" y="12144250"/>
            <a:ext cx="4401345" cy="3960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5" y="0"/>
                </a:moveTo>
                <a:cubicBezTo>
                  <a:pt x="1081" y="0"/>
                  <a:pt x="972" y="1216"/>
                  <a:pt x="972" y="2705"/>
                </a:cubicBezTo>
                <a:lnTo>
                  <a:pt x="972" y="11817"/>
                </a:lnTo>
                <a:lnTo>
                  <a:pt x="0" y="15908"/>
                </a:lnTo>
                <a:lnTo>
                  <a:pt x="1003" y="20150"/>
                </a:lnTo>
                <a:cubicBezTo>
                  <a:pt x="1044" y="20995"/>
                  <a:pt x="1123" y="21600"/>
                  <a:pt x="1215" y="21600"/>
                </a:cubicBezTo>
                <a:lnTo>
                  <a:pt x="21357" y="21600"/>
                </a:lnTo>
                <a:cubicBezTo>
                  <a:pt x="21491" y="21600"/>
                  <a:pt x="21600" y="20384"/>
                  <a:pt x="21600" y="18895"/>
                </a:cubicBezTo>
                <a:lnTo>
                  <a:pt x="21600" y="2705"/>
                </a:lnTo>
                <a:cubicBezTo>
                  <a:pt x="21600" y="1216"/>
                  <a:pt x="21491" y="0"/>
                  <a:pt x="21357" y="0"/>
                </a:cubicBezTo>
                <a:lnTo>
                  <a:pt x="1215" y="0"/>
                </a:lnTo>
                <a:close/>
              </a:path>
            </a:pathLst>
          </a:custGeom>
          <a:blipFill>
            <a:blip r:embed="rId4">
              <a:alphaModFix amt="2978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85" name="Callout"/>
          <p:cNvSpPr/>
          <p:nvPr/>
        </p:nvSpPr>
        <p:spPr>
          <a:xfrm>
            <a:off x="16811987" y="12440177"/>
            <a:ext cx="2311798" cy="3960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314" y="0"/>
                </a:moveTo>
                <a:cubicBezTo>
                  <a:pt x="2059" y="0"/>
                  <a:pt x="1850" y="1216"/>
                  <a:pt x="1850" y="2705"/>
                </a:cubicBezTo>
                <a:lnTo>
                  <a:pt x="1850" y="11817"/>
                </a:lnTo>
                <a:lnTo>
                  <a:pt x="0" y="15929"/>
                </a:lnTo>
                <a:lnTo>
                  <a:pt x="1910" y="20150"/>
                </a:lnTo>
                <a:cubicBezTo>
                  <a:pt x="1988" y="20995"/>
                  <a:pt x="2138" y="21600"/>
                  <a:pt x="2314" y="21600"/>
                </a:cubicBezTo>
                <a:lnTo>
                  <a:pt x="21136" y="21600"/>
                </a:lnTo>
                <a:cubicBezTo>
                  <a:pt x="21392" y="21600"/>
                  <a:pt x="21600" y="20384"/>
                  <a:pt x="21600" y="18895"/>
                </a:cubicBezTo>
                <a:lnTo>
                  <a:pt x="21600" y="2705"/>
                </a:lnTo>
                <a:cubicBezTo>
                  <a:pt x="21600" y="1216"/>
                  <a:pt x="21392" y="0"/>
                  <a:pt x="21136" y="0"/>
                </a:cubicBezTo>
                <a:lnTo>
                  <a:pt x="2314" y="0"/>
                </a:lnTo>
                <a:close/>
              </a:path>
            </a:pathLst>
          </a:custGeom>
          <a:blipFill>
            <a:blip r:embed="rId5">
              <a:alphaModFix amt="40000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86" name="Callout"/>
          <p:cNvSpPr/>
          <p:nvPr/>
        </p:nvSpPr>
        <p:spPr>
          <a:xfrm>
            <a:off x="7122601" y="12463724"/>
            <a:ext cx="2800748" cy="4738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01" y="0"/>
                </a:moveTo>
                <a:cubicBezTo>
                  <a:pt x="1691" y="0"/>
                  <a:pt x="1521" y="1001"/>
                  <a:pt x="1521" y="2243"/>
                </a:cubicBezTo>
                <a:lnTo>
                  <a:pt x="1521" y="13459"/>
                </a:lnTo>
                <a:lnTo>
                  <a:pt x="0" y="16878"/>
                </a:lnTo>
                <a:lnTo>
                  <a:pt x="1570" y="20388"/>
                </a:lnTo>
                <a:cubicBezTo>
                  <a:pt x="1634" y="21099"/>
                  <a:pt x="1755" y="21600"/>
                  <a:pt x="1901" y="21600"/>
                </a:cubicBezTo>
                <a:lnTo>
                  <a:pt x="21220" y="21600"/>
                </a:lnTo>
                <a:cubicBezTo>
                  <a:pt x="21431" y="21600"/>
                  <a:pt x="21600" y="20599"/>
                  <a:pt x="21600" y="19357"/>
                </a:cubicBezTo>
                <a:lnTo>
                  <a:pt x="21600" y="2243"/>
                </a:lnTo>
                <a:cubicBezTo>
                  <a:pt x="21600" y="1001"/>
                  <a:pt x="21431" y="0"/>
                  <a:pt x="21220" y="0"/>
                </a:cubicBezTo>
                <a:lnTo>
                  <a:pt x="1901" y="0"/>
                </a:lnTo>
                <a:close/>
              </a:path>
            </a:pathLst>
          </a:custGeom>
          <a:blipFill>
            <a:blip r:embed="rId5">
              <a:alphaModFix amt="40000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87" name="Socialismo vs.Capitalismo"/>
          <p:cNvSpPr txBox="1"/>
          <p:nvPr/>
        </p:nvSpPr>
        <p:spPr>
          <a:xfrm>
            <a:off x="5423317" y="2103728"/>
            <a:ext cx="1765775" cy="779835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/>
            </a:lvl1pPr>
          </a:lstStyle>
          <a:p>
            <a:r>
              <a:t>Socialismo vs.Capitalismo</a:t>
            </a:r>
          </a:p>
        </p:txBody>
      </p:sp>
      <p:sp>
        <p:nvSpPr>
          <p:cNvPr id="788" name="Dem.repres. vs. Dem.part."/>
          <p:cNvSpPr txBox="1"/>
          <p:nvPr/>
        </p:nvSpPr>
        <p:spPr>
          <a:xfrm>
            <a:off x="8271610" y="2103728"/>
            <a:ext cx="1765775" cy="779835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/>
            </a:lvl1pPr>
          </a:lstStyle>
          <a:p>
            <a:r>
              <a:t>Dem.repres. vs. Dem.part.</a:t>
            </a:r>
          </a:p>
        </p:txBody>
      </p:sp>
      <p:sp>
        <p:nvSpPr>
          <p:cNvPr id="789" name="Res.gob trabajos y bienestar"/>
          <p:cNvSpPr txBox="1"/>
          <p:nvPr/>
        </p:nvSpPr>
        <p:spPr>
          <a:xfrm>
            <a:off x="10937953" y="2103727"/>
            <a:ext cx="2110743" cy="779836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/>
            </a:lvl1pPr>
          </a:lstStyle>
          <a:p>
            <a:r>
              <a:t>Res.gob trabajos y bienestar</a:t>
            </a:r>
          </a:p>
        </p:txBody>
      </p:sp>
      <p:sp>
        <p:nvSpPr>
          <p:cNvPr id="790" name="Ayuda pob. indígena"/>
          <p:cNvSpPr txBox="1"/>
          <p:nvPr/>
        </p:nvSpPr>
        <p:spPr>
          <a:xfrm>
            <a:off x="13734606" y="2103728"/>
            <a:ext cx="1584423" cy="779835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/>
            </a:lvl1pPr>
          </a:lstStyle>
          <a:p>
            <a:r>
              <a:t>Ayuda pob. indígena</a:t>
            </a:r>
          </a:p>
        </p:txBody>
      </p:sp>
      <p:sp>
        <p:nvSpPr>
          <p:cNvPr id="791" name="Matrimonio gay"/>
          <p:cNvSpPr txBox="1"/>
          <p:nvPr/>
        </p:nvSpPr>
        <p:spPr>
          <a:xfrm>
            <a:off x="16574656" y="2103728"/>
            <a:ext cx="1584423" cy="779835"/>
          </a:xfrm>
          <a:prstGeom prst="rect">
            <a:avLst/>
          </a:prstGeom>
          <a:blipFill>
            <a:blip r:embed="rId5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/>
            </a:lvl1pPr>
          </a:lstStyle>
          <a:p>
            <a:r>
              <a:t> Matrimonio gay</a:t>
            </a:r>
          </a:p>
        </p:txBody>
      </p:sp>
      <p:sp>
        <p:nvSpPr>
          <p:cNvPr id="792" name="Legalidad del aborto"/>
          <p:cNvSpPr txBox="1"/>
          <p:nvPr/>
        </p:nvSpPr>
        <p:spPr>
          <a:xfrm>
            <a:off x="19353984" y="2103728"/>
            <a:ext cx="1584423" cy="779835"/>
          </a:xfrm>
          <a:prstGeom prst="rect">
            <a:avLst/>
          </a:prstGeom>
          <a:blipFill>
            <a:blip r:embed="rId5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/>
            </a:lvl1pPr>
          </a:lstStyle>
          <a:p>
            <a:r>
              <a:t>Legalidad del aborto</a:t>
            </a:r>
          </a:p>
        </p:txBody>
      </p:sp>
      <p:sp>
        <p:nvSpPr>
          <p:cNvPr id="793" name="Terminator"/>
          <p:cNvSpPr/>
          <p:nvPr/>
        </p:nvSpPr>
        <p:spPr>
          <a:xfrm>
            <a:off x="16183258" y="3922659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94" name="Terminator"/>
          <p:cNvSpPr/>
          <p:nvPr/>
        </p:nvSpPr>
        <p:spPr>
          <a:xfrm>
            <a:off x="17493415" y="3922659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95" name="Terminator"/>
          <p:cNvSpPr/>
          <p:nvPr/>
        </p:nvSpPr>
        <p:spPr>
          <a:xfrm>
            <a:off x="18876345" y="3922659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96" name="Terminator"/>
          <p:cNvSpPr/>
          <p:nvPr/>
        </p:nvSpPr>
        <p:spPr>
          <a:xfrm>
            <a:off x="20134127" y="3922659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97" name="Terminator"/>
          <p:cNvSpPr/>
          <p:nvPr/>
        </p:nvSpPr>
        <p:spPr>
          <a:xfrm>
            <a:off x="16183258" y="4736865"/>
            <a:ext cx="1369766" cy="68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98" name="Terminator"/>
          <p:cNvSpPr/>
          <p:nvPr/>
        </p:nvSpPr>
        <p:spPr>
          <a:xfrm>
            <a:off x="17486833" y="4736865"/>
            <a:ext cx="1369765" cy="68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799" name="Terminator"/>
          <p:cNvSpPr/>
          <p:nvPr/>
        </p:nvSpPr>
        <p:spPr>
          <a:xfrm>
            <a:off x="18869762" y="4736865"/>
            <a:ext cx="1369766" cy="68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00" name="Terminator"/>
          <p:cNvSpPr/>
          <p:nvPr/>
        </p:nvSpPr>
        <p:spPr>
          <a:xfrm>
            <a:off x="20134127" y="4736865"/>
            <a:ext cx="1369766" cy="68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01" name="Terminator"/>
          <p:cNvSpPr/>
          <p:nvPr/>
        </p:nvSpPr>
        <p:spPr>
          <a:xfrm>
            <a:off x="14619439" y="4736865"/>
            <a:ext cx="1369765" cy="68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02" name="Terminator"/>
          <p:cNvSpPr/>
          <p:nvPr/>
        </p:nvSpPr>
        <p:spPr>
          <a:xfrm>
            <a:off x="13299082" y="4736865"/>
            <a:ext cx="1369766" cy="68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03" name="Terminator"/>
          <p:cNvSpPr/>
          <p:nvPr/>
        </p:nvSpPr>
        <p:spPr>
          <a:xfrm>
            <a:off x="11952540" y="4736865"/>
            <a:ext cx="1369765" cy="68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04" name="Terminator"/>
          <p:cNvSpPr/>
          <p:nvPr/>
        </p:nvSpPr>
        <p:spPr>
          <a:xfrm>
            <a:off x="10569178" y="4634488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05" name="Terminator"/>
          <p:cNvSpPr/>
          <p:nvPr/>
        </p:nvSpPr>
        <p:spPr>
          <a:xfrm>
            <a:off x="9285809" y="3922659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06" name="Terminator"/>
          <p:cNvSpPr/>
          <p:nvPr/>
        </p:nvSpPr>
        <p:spPr>
          <a:xfrm>
            <a:off x="7760698" y="3922659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07" name="Terminator"/>
          <p:cNvSpPr/>
          <p:nvPr/>
        </p:nvSpPr>
        <p:spPr>
          <a:xfrm>
            <a:off x="13299082" y="7521860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08" name="Terminator"/>
          <p:cNvSpPr/>
          <p:nvPr/>
        </p:nvSpPr>
        <p:spPr>
          <a:xfrm>
            <a:off x="14799896" y="7521860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09" name="Terminator"/>
          <p:cNvSpPr/>
          <p:nvPr/>
        </p:nvSpPr>
        <p:spPr>
          <a:xfrm>
            <a:off x="16032731" y="7521860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10" name="Terminator"/>
          <p:cNvSpPr/>
          <p:nvPr/>
        </p:nvSpPr>
        <p:spPr>
          <a:xfrm>
            <a:off x="17312357" y="7521860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11" name="Terminator"/>
          <p:cNvSpPr/>
          <p:nvPr/>
        </p:nvSpPr>
        <p:spPr>
          <a:xfrm>
            <a:off x="18686771" y="7521860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12" name="Terminator"/>
          <p:cNvSpPr/>
          <p:nvPr/>
        </p:nvSpPr>
        <p:spPr>
          <a:xfrm>
            <a:off x="20187584" y="7582358"/>
            <a:ext cx="1369766" cy="68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13" name="Terminator"/>
          <p:cNvSpPr/>
          <p:nvPr/>
        </p:nvSpPr>
        <p:spPr>
          <a:xfrm>
            <a:off x="13299082" y="8240897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14" name="Terminator"/>
          <p:cNvSpPr/>
          <p:nvPr/>
        </p:nvSpPr>
        <p:spPr>
          <a:xfrm>
            <a:off x="14619439" y="8240897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15" name="Terminator"/>
          <p:cNvSpPr/>
          <p:nvPr/>
        </p:nvSpPr>
        <p:spPr>
          <a:xfrm>
            <a:off x="16183258" y="8240897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16" name="Terminator"/>
          <p:cNvSpPr/>
          <p:nvPr/>
        </p:nvSpPr>
        <p:spPr>
          <a:xfrm>
            <a:off x="17493415" y="8240897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17" name="Terminator"/>
          <p:cNvSpPr/>
          <p:nvPr/>
        </p:nvSpPr>
        <p:spPr>
          <a:xfrm>
            <a:off x="18869762" y="8181417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18" name="Terminator"/>
          <p:cNvSpPr/>
          <p:nvPr/>
        </p:nvSpPr>
        <p:spPr>
          <a:xfrm>
            <a:off x="20134127" y="8181417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19" name="Terminator"/>
          <p:cNvSpPr/>
          <p:nvPr/>
        </p:nvSpPr>
        <p:spPr>
          <a:xfrm>
            <a:off x="11747717" y="8240897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20" name="Terminator"/>
          <p:cNvSpPr/>
          <p:nvPr/>
        </p:nvSpPr>
        <p:spPr>
          <a:xfrm>
            <a:off x="10600981" y="8181417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21" name="Terminator"/>
          <p:cNvSpPr/>
          <p:nvPr/>
        </p:nvSpPr>
        <p:spPr>
          <a:xfrm>
            <a:off x="9284912" y="8240897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22" name="Terminator"/>
          <p:cNvSpPr/>
          <p:nvPr/>
        </p:nvSpPr>
        <p:spPr>
          <a:xfrm>
            <a:off x="7838092" y="8246080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23" name="Terminator"/>
          <p:cNvSpPr/>
          <p:nvPr/>
        </p:nvSpPr>
        <p:spPr>
          <a:xfrm>
            <a:off x="4955961" y="8181417"/>
            <a:ext cx="1369765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6">
              <a:alphaModFix amt="20176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24" name="Terminator"/>
          <p:cNvSpPr/>
          <p:nvPr/>
        </p:nvSpPr>
        <p:spPr>
          <a:xfrm>
            <a:off x="5441763" y="6117741"/>
            <a:ext cx="947739" cy="4738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991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25" name="Terminator"/>
          <p:cNvSpPr/>
          <p:nvPr/>
        </p:nvSpPr>
        <p:spPr>
          <a:xfrm>
            <a:off x="7848820" y="4697988"/>
            <a:ext cx="1369766" cy="684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991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26" name="Terminator"/>
          <p:cNvSpPr/>
          <p:nvPr/>
        </p:nvSpPr>
        <p:spPr>
          <a:xfrm>
            <a:off x="6800997" y="6117741"/>
            <a:ext cx="947738" cy="4738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991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27" name="Terminator"/>
          <p:cNvSpPr/>
          <p:nvPr/>
        </p:nvSpPr>
        <p:spPr>
          <a:xfrm>
            <a:off x="5524536" y="9536429"/>
            <a:ext cx="782194" cy="391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991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28" name="Terminator"/>
          <p:cNvSpPr/>
          <p:nvPr/>
        </p:nvSpPr>
        <p:spPr>
          <a:xfrm>
            <a:off x="6878784" y="9533937"/>
            <a:ext cx="792164" cy="3960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19991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79645" y="13109828"/>
            <a:ext cx="410795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41</a:t>
            </a:fld>
            <a:endParaRPr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#5 Conclusio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#5 Conclusiones</a:t>
            </a:r>
          </a:p>
        </p:txBody>
      </p:sp>
      <p:sp>
        <p:nvSpPr>
          <p:cNvPr id="83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42</a:t>
            </a:fld>
            <a:endParaRPr/>
          </a:p>
        </p:txBody>
      </p:sp>
      <p:grpSp>
        <p:nvGrpSpPr>
          <p:cNvPr id="835" name="Screenshot 2022-10-25 at 11.32.16 PM.png"/>
          <p:cNvGrpSpPr/>
          <p:nvPr/>
        </p:nvGrpSpPr>
        <p:grpSpPr>
          <a:xfrm>
            <a:off x="523429" y="-341818"/>
            <a:ext cx="21890188" cy="14552036"/>
            <a:chOff x="0" y="0"/>
            <a:chExt cx="21890187" cy="14552035"/>
          </a:xfrm>
        </p:grpSpPr>
        <p:pic>
          <p:nvPicPr>
            <p:cNvPr id="834" name="Screenshot 2022-10-25 at 11.32.16 PM.png" descr="Screenshot 2022-10-25 at 11.32.16 PM.png"/>
            <p:cNvPicPr>
              <a:picLocks noChangeAspect="1"/>
            </p:cNvPicPr>
            <p:nvPr/>
          </p:nvPicPr>
          <p:blipFill>
            <a:blip r:embed="rId2">
              <a:alphaModFix amt="21092"/>
            </a:blip>
            <a:stretch>
              <a:fillRect/>
            </a:stretch>
          </p:blipFill>
          <p:spPr>
            <a:xfrm>
              <a:off x="127000" y="88900"/>
              <a:ext cx="21636188" cy="14221836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33" name="Screenshot 2022-10-25 at 11.32.16 PM.png" descr="Screenshot 2022-10-25 at 11.32.16 PM.png"/>
            <p:cNvPicPr>
              <a:picLocks/>
            </p:cNvPicPr>
            <p:nvPr/>
          </p:nvPicPr>
          <p:blipFill>
            <a:blip r:embed="rId3">
              <a:alphaModFix amt="21092"/>
            </a:blip>
            <a:stretch>
              <a:fillRect/>
            </a:stretch>
          </p:blipFill>
          <p:spPr>
            <a:xfrm>
              <a:off x="0" y="0"/>
              <a:ext cx="21890188" cy="14552036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Objetivos"/>
          <p:cNvSpPr txBox="1"/>
          <p:nvPr/>
        </p:nvSpPr>
        <p:spPr>
          <a:xfrm>
            <a:off x="10639167" y="1684648"/>
            <a:ext cx="3294126" cy="1057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Objetivos</a:t>
            </a:r>
          </a:p>
        </p:txBody>
      </p:sp>
      <p:sp>
        <p:nvSpPr>
          <p:cNvPr id="838" name="#2 ¿Cuánto? mediciones"/>
          <p:cNvSpPr txBox="1"/>
          <p:nvPr/>
        </p:nvSpPr>
        <p:spPr>
          <a:xfrm>
            <a:off x="16843610" y="3295988"/>
            <a:ext cx="5982740" cy="56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#2 ¿Cuánto? mediciones</a:t>
            </a:r>
          </a:p>
        </p:txBody>
      </p:sp>
      <p:sp>
        <p:nvSpPr>
          <p:cNvPr id="839" name="#1 ¿que nos divide?"/>
          <p:cNvSpPr txBox="1"/>
          <p:nvPr/>
        </p:nvSpPr>
        <p:spPr>
          <a:xfrm>
            <a:off x="1627904" y="3516325"/>
            <a:ext cx="7707517" cy="56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#1 ¿que nos divide?</a:t>
            </a:r>
          </a:p>
        </p:txBody>
      </p:sp>
      <p:sp>
        <p:nvSpPr>
          <p:cNvPr id="840" name="Grietas de afecto [Observacionales]…"/>
          <p:cNvSpPr txBox="1"/>
          <p:nvPr/>
        </p:nvSpPr>
        <p:spPr>
          <a:xfrm>
            <a:off x="17565961" y="4304395"/>
            <a:ext cx="4538038" cy="107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42900" indent="-342900" algn="l">
              <a:buSzPct val="100000"/>
              <a:buAutoNum type="alphaUcPeriod"/>
              <a:defRPr sz="1800"/>
            </a:pPr>
            <a:r>
              <a:t>Grietas de afecto </a:t>
            </a:r>
            <a:r>
              <a:rPr>
                <a:solidFill>
                  <a:schemeClr val="accent5"/>
                </a:solidFill>
              </a:rPr>
              <a:t>[Observacionales</a:t>
            </a:r>
            <a:r>
              <a:t>]</a:t>
            </a:r>
          </a:p>
          <a:p>
            <a:pPr marL="342900" indent="-342900" algn="l">
              <a:buSzPct val="100000"/>
              <a:buAutoNum type="alphaUcPeriod"/>
              <a:defRPr sz="1800"/>
            </a:pPr>
            <a:r>
              <a:t>Grietas de confianza [</a:t>
            </a:r>
            <a:r>
              <a:rPr sz="1900">
                <a:solidFill>
                  <a:schemeClr val="accent5"/>
                </a:solidFill>
              </a:rPr>
              <a:t>Experimentales</a:t>
            </a:r>
            <a:r>
              <a:t>]</a:t>
            </a:r>
          </a:p>
          <a:p>
            <a:pPr marL="342900" indent="-342900" algn="l">
              <a:buSzPct val="100000"/>
              <a:buAutoNum type="alphaUcPeriod"/>
              <a:defRPr sz="1800"/>
            </a:pPr>
            <a:r>
              <a:t>Grietas ideológicas [</a:t>
            </a:r>
            <a:r>
              <a:rPr sz="1900">
                <a:solidFill>
                  <a:schemeClr val="accent5"/>
                </a:solidFill>
              </a:rPr>
              <a:t>Experimentales</a:t>
            </a:r>
            <a:r>
              <a:t>]</a:t>
            </a:r>
          </a:p>
        </p:txBody>
      </p:sp>
      <p:sp>
        <p:nvSpPr>
          <p:cNvPr id="841" name="Identidades étnicos, racioles, culturales…"/>
          <p:cNvSpPr txBox="1"/>
          <p:nvPr/>
        </p:nvSpPr>
        <p:spPr>
          <a:xfrm>
            <a:off x="2713626" y="4350951"/>
            <a:ext cx="5536072" cy="1364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42900" indent="-342900" algn="l">
              <a:buSzPct val="100000"/>
              <a:buAutoNum type="alphaUcPeriod"/>
              <a:defRPr sz="1800"/>
            </a:pPr>
            <a:r>
              <a:t>Identidades étnicos, racioles, culturales</a:t>
            </a:r>
          </a:p>
          <a:p>
            <a:pPr marL="342900" indent="-342900" algn="l">
              <a:buSzPct val="100000"/>
              <a:buAutoNum type="alphaUcPeriod"/>
              <a:defRPr sz="1800"/>
            </a:pPr>
            <a:r>
              <a:t>Identidades regionales</a:t>
            </a:r>
          </a:p>
          <a:p>
            <a:pPr marL="342900" indent="-342900" algn="l">
              <a:buSzPct val="100000"/>
              <a:buAutoNum type="alphaUcPeriod"/>
              <a:defRPr sz="1800"/>
            </a:pPr>
            <a:r>
              <a:t>Identidades de clase [socioeconómicos-/riqueza]</a:t>
            </a:r>
          </a:p>
          <a:p>
            <a:pPr marL="342900" indent="-342900" algn="l">
              <a:buSzPct val="100000"/>
              <a:buAutoNum type="alphaUcPeriod"/>
              <a:defRPr sz="1800"/>
            </a:pPr>
            <a:r>
              <a:t>Identidades partidarias </a:t>
            </a:r>
          </a:p>
        </p:txBody>
      </p:sp>
      <p:sp>
        <p:nvSpPr>
          <p:cNvPr id="842" name="Conclusiones"/>
          <p:cNvSpPr txBox="1"/>
          <p:nvPr/>
        </p:nvSpPr>
        <p:spPr>
          <a:xfrm>
            <a:off x="10189080" y="1811648"/>
            <a:ext cx="4448300" cy="1057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Conclusiones</a:t>
            </a:r>
          </a:p>
        </p:txBody>
      </p:sp>
      <p:pic>
        <p:nvPicPr>
          <p:cNvPr id="84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119" y="5987553"/>
            <a:ext cx="9914222" cy="6609482"/>
          </a:xfrm>
          <a:prstGeom prst="rect">
            <a:avLst/>
          </a:prstGeom>
          <a:ln w="12700">
            <a:miter lim="400000"/>
          </a:ln>
        </p:spPr>
      </p:pic>
      <p:sp>
        <p:nvSpPr>
          <p:cNvPr id="84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43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" dur="1500" fill="hold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9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10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7" grpId="1" animBg="1" advAuto="0"/>
      <p:bldP spid="842" grpId="2" animBg="1" advAuto="0"/>
      <p:bldP spid="843" grpId="3" animBg="1" advAuto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Conclusiones"/>
          <p:cNvSpPr txBox="1"/>
          <p:nvPr/>
        </p:nvSpPr>
        <p:spPr>
          <a:xfrm>
            <a:off x="10062080" y="1684648"/>
            <a:ext cx="4448300" cy="1057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Conclusiones</a:t>
            </a:r>
          </a:p>
        </p:txBody>
      </p:sp>
      <p:sp>
        <p:nvSpPr>
          <p:cNvPr id="847" name="#4 Consecuencias"/>
          <p:cNvSpPr txBox="1"/>
          <p:nvPr/>
        </p:nvSpPr>
        <p:spPr>
          <a:xfrm>
            <a:off x="9287712" y="4398168"/>
            <a:ext cx="4556533" cy="56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#4 Consecuencias</a:t>
            </a:r>
          </a:p>
        </p:txBody>
      </p:sp>
      <p:sp>
        <p:nvSpPr>
          <p:cNvPr id="8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84106" y="12618821"/>
            <a:ext cx="430912" cy="41224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44</a:t>
            </a:fld>
            <a:endParaRPr/>
          </a:p>
        </p:txBody>
      </p:sp>
      <p:sp>
        <p:nvSpPr>
          <p:cNvPr id="849" name="No políticas…"/>
          <p:cNvSpPr txBox="1"/>
          <p:nvPr/>
        </p:nvSpPr>
        <p:spPr>
          <a:xfrm>
            <a:off x="8893239" y="5390121"/>
            <a:ext cx="4617096" cy="3750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42900" indent="-342900" algn="l">
              <a:buSzPct val="100000"/>
              <a:buAutoNum type="alphaUcPeriod"/>
              <a:defRPr sz="2400"/>
            </a:pPr>
            <a:r>
              <a:t>No políticas</a:t>
            </a:r>
          </a:p>
          <a:p>
            <a:pPr marL="1181100" lvl="1" indent="-228600" algn="l">
              <a:buSzPct val="100000"/>
              <a:buChar char="•"/>
              <a:defRPr sz="2400"/>
            </a:pPr>
            <a:r>
              <a:t>Interacciones sociales</a:t>
            </a:r>
          </a:p>
          <a:p>
            <a:pPr marL="1181100" lvl="1" indent="-228600" algn="l">
              <a:buSzPct val="100000"/>
              <a:buChar char="•"/>
              <a:defRPr sz="2400"/>
            </a:pPr>
            <a:r>
              <a:t>Mercado de bienes</a:t>
            </a:r>
          </a:p>
          <a:p>
            <a:pPr marL="1181100" lvl="1" indent="-228600" algn="l">
              <a:buSzPct val="100000"/>
              <a:buChar char="•"/>
              <a:defRPr sz="2400"/>
            </a:pPr>
            <a:r>
              <a:t>Mercado laboral</a:t>
            </a:r>
          </a:p>
          <a:p>
            <a:pPr marL="1181100" lvl="1" indent="-228600" algn="l">
              <a:buSzPct val="100000"/>
              <a:buChar char="•"/>
              <a:defRPr sz="2400"/>
            </a:pPr>
            <a:r>
              <a:t>Expectativas</a:t>
            </a:r>
          </a:p>
          <a:p>
            <a:pPr marL="342900" indent="-342900" algn="l">
              <a:buSzPct val="100000"/>
              <a:buAutoNum type="alphaUcPeriod"/>
              <a:defRPr sz="2400"/>
            </a:pPr>
            <a:r>
              <a:t>Políticas</a:t>
            </a:r>
          </a:p>
          <a:p>
            <a:pPr marL="1181100" lvl="1" indent="-228600" algn="l">
              <a:buSzPct val="100000"/>
              <a:buChar char="•"/>
              <a:defRPr sz="2400"/>
            </a:pPr>
            <a:r>
              <a:t>Actividad política</a:t>
            </a:r>
          </a:p>
          <a:p>
            <a:pPr marL="1181100" lvl="1" indent="-228600" algn="l">
              <a:buSzPct val="100000"/>
              <a:buChar char="•"/>
              <a:defRPr sz="2400"/>
            </a:pPr>
            <a:r>
              <a:t>Governabilidad</a:t>
            </a:r>
          </a:p>
          <a:p>
            <a:pPr marL="1181100" lvl="1" indent="-228600" algn="l">
              <a:buSzPct val="100000"/>
              <a:buChar char="•"/>
              <a:defRPr sz="2400"/>
            </a:pPr>
            <a:r>
              <a:t>Estabilidad democrática</a:t>
            </a:r>
          </a:p>
        </p:txBody>
      </p:sp>
      <p:sp>
        <p:nvSpPr>
          <p:cNvPr id="850" name="#3 Causas"/>
          <p:cNvSpPr txBox="1"/>
          <p:nvPr/>
        </p:nvSpPr>
        <p:spPr>
          <a:xfrm>
            <a:off x="2520952" y="4398168"/>
            <a:ext cx="4556533" cy="56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#3 Causas</a:t>
            </a:r>
          </a:p>
        </p:txBody>
      </p:sp>
      <p:sp>
        <p:nvSpPr>
          <p:cNvPr id="851" name="#5 ¿Qué hacemos?"/>
          <p:cNvSpPr txBox="1"/>
          <p:nvPr/>
        </p:nvSpPr>
        <p:spPr>
          <a:xfrm>
            <a:off x="16207314" y="4398168"/>
            <a:ext cx="4556533" cy="56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#5 ¿Qué hacemos?</a:t>
            </a:r>
          </a:p>
        </p:txBody>
      </p:sp>
      <p:sp>
        <p:nvSpPr>
          <p:cNvPr id="852" name="Monitoreo conflicto vs. Monitoreo de grietas…"/>
          <p:cNvSpPr txBox="1"/>
          <p:nvPr/>
        </p:nvSpPr>
        <p:spPr>
          <a:xfrm>
            <a:off x="15258879" y="5227089"/>
            <a:ext cx="7750845" cy="968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42900" indent="-342900" algn="l">
              <a:buSzPct val="100000"/>
              <a:buAutoNum type="alphaUcPeriod"/>
              <a:defRPr sz="2400"/>
            </a:pPr>
            <a:r>
              <a:t>Monitoreo conflicto vs. </a:t>
            </a:r>
            <a:r>
              <a:rPr sz="2800">
                <a:latin typeface="Futura Bold"/>
                <a:ea typeface="Futura Bold"/>
                <a:cs typeface="Futura Bold"/>
                <a:sym typeface="Futura Bold"/>
              </a:rPr>
              <a:t>Monitoreo de grietas</a:t>
            </a:r>
          </a:p>
          <a:p>
            <a:pPr marL="342900" indent="-342900" algn="l">
              <a:buSzPct val="100000"/>
              <a:buAutoNum type="alphaUcPeriod"/>
              <a:defRPr sz="2400"/>
            </a:pPr>
            <a:r>
              <a:t>Repensar políticas de cohesión [i.e. financiamiento]</a:t>
            </a:r>
          </a:p>
        </p:txBody>
      </p:sp>
      <p:sp>
        <p:nvSpPr>
          <p:cNvPr id="853" name="Acciones informadas por evidencia"/>
          <p:cNvSpPr txBox="1"/>
          <p:nvPr/>
        </p:nvSpPr>
        <p:spPr>
          <a:xfrm>
            <a:off x="20409535" y="6710790"/>
            <a:ext cx="3294126" cy="779835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/>
            </a:lvl1pPr>
          </a:lstStyle>
          <a:p>
            <a:r>
              <a:t>Acciones informadas por evidencia</a:t>
            </a:r>
          </a:p>
        </p:txBody>
      </p:sp>
      <p:sp>
        <p:nvSpPr>
          <p:cNvPr id="854" name="Acciones informadas por opinión/intuición"/>
          <p:cNvSpPr txBox="1"/>
          <p:nvPr/>
        </p:nvSpPr>
        <p:spPr>
          <a:xfrm>
            <a:off x="14564943" y="6710790"/>
            <a:ext cx="3294126" cy="779835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/>
            </a:lvl1pPr>
          </a:lstStyle>
          <a:p>
            <a:r>
              <a:t>Acciones informadas por opinión/intuición</a:t>
            </a:r>
          </a:p>
        </p:txBody>
      </p:sp>
      <p:sp>
        <p:nvSpPr>
          <p:cNvPr id="855" name="Arrow"/>
          <p:cNvSpPr/>
          <p:nvPr/>
        </p:nvSpPr>
        <p:spPr>
          <a:xfrm>
            <a:off x="18543944" y="6465706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5000"/>
            </a:pPr>
            <a:endParaRPr/>
          </a:p>
        </p:txBody>
      </p:sp>
      <p:sp>
        <p:nvSpPr>
          <p:cNvPr id="856" name="Fraude o no?"/>
          <p:cNvSpPr txBox="1"/>
          <p:nvPr/>
        </p:nvSpPr>
        <p:spPr>
          <a:xfrm rot="18900000">
            <a:off x="15879756" y="10031910"/>
            <a:ext cx="2136559" cy="1106253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Fraude o no?</a:t>
            </a:r>
          </a:p>
        </p:txBody>
      </p:sp>
      <p:sp>
        <p:nvSpPr>
          <p:cNvPr id="857" name="Golpe o no?"/>
          <p:cNvSpPr txBox="1"/>
          <p:nvPr/>
        </p:nvSpPr>
        <p:spPr>
          <a:xfrm rot="18900000">
            <a:off x="18486332" y="10031910"/>
            <a:ext cx="2136559" cy="1106253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Golpe o no?</a:t>
            </a:r>
          </a:p>
        </p:txBody>
      </p:sp>
      <p:sp>
        <p:nvSpPr>
          <p:cNvPr id="858" name="Censo 2023 o 2024?"/>
          <p:cNvSpPr txBox="1"/>
          <p:nvPr/>
        </p:nvSpPr>
        <p:spPr>
          <a:xfrm rot="18900000">
            <a:off x="21092909" y="10010995"/>
            <a:ext cx="2136559" cy="1614253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Censo 2023 o 2024?</a:t>
            </a:r>
          </a:p>
        </p:txBody>
      </p:sp>
      <p:sp>
        <p:nvSpPr>
          <p:cNvPr id="859" name="Instituciones ELectorales transparentes"/>
          <p:cNvSpPr txBox="1"/>
          <p:nvPr/>
        </p:nvSpPr>
        <p:spPr>
          <a:xfrm rot="2700000">
            <a:off x="15693082" y="9777910"/>
            <a:ext cx="2509906" cy="1614253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Instituciones ELectorales transparentes</a:t>
            </a:r>
          </a:p>
        </p:txBody>
      </p:sp>
      <p:sp>
        <p:nvSpPr>
          <p:cNvPr id="860" name="Reglas claras transmición de mando"/>
          <p:cNvSpPr txBox="1"/>
          <p:nvPr/>
        </p:nvSpPr>
        <p:spPr>
          <a:xfrm rot="2700000">
            <a:off x="18209855" y="9777910"/>
            <a:ext cx="2509907" cy="1614253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Reglas claras transmición de mando</a:t>
            </a:r>
          </a:p>
        </p:txBody>
      </p:sp>
      <p:sp>
        <p:nvSpPr>
          <p:cNvPr id="861" name="Autonomía del INE, formula $ o represent."/>
          <p:cNvSpPr txBox="1"/>
          <p:nvPr/>
        </p:nvSpPr>
        <p:spPr>
          <a:xfrm rot="2700000">
            <a:off x="21010540" y="9976763"/>
            <a:ext cx="2699001" cy="1614252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Autonomía del INE, formula $ o represent.</a:t>
            </a:r>
          </a:p>
        </p:txBody>
      </p:sp>
      <p:sp>
        <p:nvSpPr>
          <p:cNvPr id="862" name="DE Guerras POLÍTICAS [POLITICAL wars]…"/>
          <p:cNvSpPr txBox="1"/>
          <p:nvPr/>
        </p:nvSpPr>
        <p:spPr>
          <a:xfrm>
            <a:off x="15764816" y="8098491"/>
            <a:ext cx="8259190" cy="1030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400"/>
            </a:pPr>
            <a:r>
              <a:t>DE </a:t>
            </a:r>
            <a:r>
              <a:rPr u="sng"/>
              <a:t>Guerras </a:t>
            </a:r>
            <a:r>
              <a:rPr sz="2800" u="sng">
                <a:latin typeface="Futura Bold"/>
                <a:ea typeface="Futura Bold"/>
                <a:cs typeface="Futura Bold"/>
                <a:sym typeface="Futura Bold"/>
              </a:rPr>
              <a:t>POLÍTICAS</a:t>
            </a:r>
            <a:r>
              <a:t> [</a:t>
            </a:r>
            <a:r>
              <a:rPr sz="2800">
                <a:solidFill>
                  <a:schemeClr val="accent3">
                    <a:satOff val="18648"/>
                    <a:lumOff val="5971"/>
                  </a:schemeClr>
                </a:solidFill>
                <a:latin typeface="Futura Bold"/>
                <a:ea typeface="Futura Bold"/>
                <a:cs typeface="Futura Bold"/>
                <a:sym typeface="Futura Bold"/>
              </a:rPr>
              <a:t>POLITICAL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 wars</a:t>
            </a:r>
            <a:r>
              <a:t>]</a:t>
            </a:r>
          </a:p>
          <a:p>
            <a:pPr algn="l">
              <a:defRPr sz="2400"/>
            </a:pPr>
            <a:r>
              <a:t>A  </a:t>
            </a:r>
            <a:r>
              <a:rPr u="sng"/>
              <a:t>Desacuerdos en </a:t>
            </a:r>
            <a:r>
              <a:rPr sz="2800" u="sng">
                <a:latin typeface="Futura Bold"/>
                <a:ea typeface="Futura Bold"/>
                <a:cs typeface="Futura Bold"/>
                <a:sym typeface="Futura Bold"/>
              </a:rPr>
              <a:t>políticas</a:t>
            </a:r>
            <a:r>
              <a:t> 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[</a:t>
            </a:r>
            <a:r>
              <a:rPr sz="2800">
                <a:solidFill>
                  <a:schemeClr val="accent3">
                    <a:satOff val="18648"/>
                    <a:lumOff val="5971"/>
                  </a:schemeClr>
                </a:solidFill>
                <a:latin typeface="Futura Bold"/>
                <a:ea typeface="Futura Bold"/>
                <a:cs typeface="Futura Bold"/>
                <a:sym typeface="Futura Bold"/>
              </a:rPr>
              <a:t>policy</a:t>
            </a: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 disagreements</a:t>
            </a:r>
            <a:r>
              <a:t>]</a:t>
            </a:r>
          </a:p>
        </p:txBody>
      </p:sp>
      <p:sp>
        <p:nvSpPr>
          <p:cNvPr id="863" name="Estructurales…"/>
          <p:cNvSpPr txBox="1"/>
          <p:nvPr/>
        </p:nvSpPr>
        <p:spPr>
          <a:xfrm>
            <a:off x="2589909" y="5230778"/>
            <a:ext cx="5441529" cy="5388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342900" indent="-342900" algn="l">
              <a:buSzPct val="100000"/>
              <a:buAutoNum type="alphaUcPeriod"/>
              <a:defRPr sz="2400"/>
            </a:pPr>
            <a:r>
              <a:t>Estructurales</a:t>
            </a:r>
          </a:p>
          <a:p>
            <a:pPr marL="1181100" lvl="1" indent="-228600" algn="l">
              <a:buSzPct val="100000"/>
              <a:buChar char="•"/>
              <a:defRPr sz="2400">
                <a:solidFill>
                  <a:schemeClr val="accent3">
                    <a:satOff val="18648"/>
                    <a:lumOff val="5971"/>
                  </a:schemeClr>
                </a:solidFill>
              </a:defRPr>
            </a:pPr>
            <a:r>
              <a:t>Cajas de resonancia </a:t>
            </a:r>
          </a:p>
          <a:p>
            <a:pPr marL="1181100" lvl="1" indent="-228600" algn="l">
              <a:buSzPct val="80000"/>
              <a:buBlip>
                <a:blip r:embed="rId5"/>
              </a:buBlip>
              <a:defRPr sz="2400"/>
            </a:pPr>
            <a:r>
              <a:t>X redes interpersonales homogéneas</a:t>
            </a:r>
          </a:p>
          <a:p>
            <a:pPr marL="1181100" lvl="1" indent="-228600" algn="l">
              <a:buSzPct val="80000"/>
              <a:buBlip>
                <a:blip r:embed="rId5"/>
              </a:buBlip>
              <a:defRPr sz="2400"/>
            </a:pPr>
            <a:r>
              <a:t>X proliferación de medios y contenido partidario</a:t>
            </a:r>
          </a:p>
          <a:p>
            <a:pPr marL="1181100" lvl="1" indent="-228600" algn="l">
              <a:buSzPct val="100000"/>
              <a:buChar char="•"/>
              <a:defRPr sz="2400"/>
            </a:pPr>
            <a:r>
              <a:rPr>
                <a:solidFill>
                  <a:schemeClr val="accent3">
                    <a:satOff val="18648"/>
                    <a:lumOff val="5971"/>
                  </a:schemeClr>
                </a:solidFill>
              </a:rPr>
              <a:t>Ordenamiento social </a:t>
            </a:r>
            <a:r>
              <a:t>(“Sorting”) - los “miss” y los “otros”</a:t>
            </a:r>
          </a:p>
          <a:p>
            <a:pPr marL="342900" indent="-342900" algn="l">
              <a:buSzPct val="100000"/>
              <a:buAutoNum type="alphaUcPeriod"/>
              <a:defRPr sz="2400"/>
            </a:pPr>
            <a:r>
              <a:t>Coyunturales</a:t>
            </a:r>
          </a:p>
          <a:p>
            <a:pPr marL="1181100" lvl="1" indent="-228600" algn="l">
              <a:buSzPct val="100000"/>
              <a:buChar char="•"/>
              <a:defRPr sz="2400"/>
            </a:pPr>
            <a:r>
              <a:t>Elecciones</a:t>
            </a:r>
          </a:p>
          <a:p>
            <a:pPr marL="1181100" lvl="1" indent="-228600" algn="l">
              <a:buSzPct val="100000"/>
              <a:buChar char="•"/>
              <a:defRPr sz="2400"/>
            </a:pPr>
            <a:r>
              <a:t>Desastres</a:t>
            </a:r>
          </a:p>
          <a:p>
            <a:pPr marL="1181100" lvl="1" indent="-228600" algn="l">
              <a:buSzPct val="100000"/>
              <a:buChar char="•"/>
              <a:defRPr sz="2500"/>
            </a:pPr>
            <a:r>
              <a:t>Crisis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5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5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3" presetClass="entr" presetSubtype="5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3" presetClass="entr" presetSubtype="5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5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10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3" presetClass="entr" presetSubtype="5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10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3" presetClass="entr" presetSubtype="5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10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5" fill="hold" grpId="1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4" dur="5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3" presetClass="entr" presetSubtype="5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8" dur="5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3" presetClass="entr" presetSubtype="5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2" dur="500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7" grpId="3" animBg="1" advAuto="0"/>
      <p:bldP spid="849" grpId="4" animBg="1" advAuto="0"/>
      <p:bldP spid="850" grpId="1" animBg="1" advAuto="0"/>
      <p:bldP spid="851" grpId="5" animBg="1" advAuto="0"/>
      <p:bldP spid="852" grpId="6" animBg="1" advAuto="0"/>
      <p:bldP spid="853" grpId="9" animBg="1" advAuto="0"/>
      <p:bldP spid="854" grpId="7" animBg="1" advAuto="0"/>
      <p:bldP spid="855" grpId="8" animBg="1" advAuto="0"/>
      <p:bldP spid="856" grpId="11" animBg="1" advAuto="0"/>
      <p:bldP spid="857" grpId="12" animBg="1" advAuto="0"/>
      <p:bldP spid="858" grpId="13" animBg="1" advAuto="0"/>
      <p:bldP spid="859" grpId="14" animBg="1" advAuto="0"/>
      <p:bldP spid="860" grpId="15" animBg="1" advAuto="0"/>
      <p:bldP spid="861" grpId="16" animBg="1" advAuto="0"/>
      <p:bldP spid="862" grpId="10" animBg="1" advAuto="0"/>
      <p:bldP spid="863" grpId="2" animBg="1" advAuto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Fin"/>
          <p:cNvSpPr txBox="1"/>
          <p:nvPr/>
        </p:nvSpPr>
        <p:spPr>
          <a:xfrm>
            <a:off x="11747484" y="1684648"/>
            <a:ext cx="1077492" cy="1057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solidFill>
                  <a:schemeClr val="accent3">
                    <a:satOff val="18648"/>
                    <a:lumOff val="5971"/>
                  </a:schemeClr>
                </a:solidFill>
              </a:defRPr>
            </a:lvl1pPr>
          </a:lstStyle>
          <a:p>
            <a:r>
              <a:t>Fin</a:t>
            </a:r>
          </a:p>
        </p:txBody>
      </p:sp>
      <p:sp>
        <p:nvSpPr>
          <p:cNvPr id="866" name="Gracias por su atención"/>
          <p:cNvSpPr txBox="1"/>
          <p:nvPr/>
        </p:nvSpPr>
        <p:spPr>
          <a:xfrm>
            <a:off x="8800009" y="4112126"/>
            <a:ext cx="6783982" cy="56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r>
              <a:t>Gracias por su atención</a:t>
            </a:r>
          </a:p>
        </p:txBody>
      </p:sp>
      <p:sp>
        <p:nvSpPr>
          <p:cNvPr id="86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65243" y="13109828"/>
            <a:ext cx="425197" cy="4122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45</a:t>
            </a:fld>
            <a:endParaRPr/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Industrial">
  <a:themeElements>
    <a:clrScheme name="Industrial">
      <a:dk1>
        <a:srgbClr val="BC00FF"/>
      </a:dk1>
      <a:lt1>
        <a:srgbClr val="FFFFFF"/>
      </a:lt1>
      <a:dk2>
        <a:srgbClr val="53585F"/>
      </a:dk2>
      <a:lt2>
        <a:srgbClr val="DCDEE0"/>
      </a:lt2>
      <a:accent1>
        <a:srgbClr val="0073CF"/>
      </a:accent1>
      <a:accent2>
        <a:srgbClr val="1A941F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Industrial">
      <a:majorFont>
        <a:latin typeface="Futura"/>
        <a:ea typeface="Futura"/>
        <a:cs typeface="Futura"/>
      </a:majorFont>
      <a:minorFont>
        <a:latin typeface="Futura"/>
        <a:ea typeface="Futura"/>
        <a:cs typeface="Futura"/>
      </a:minorFont>
    </a:fontScheme>
    <a:fmtScheme name="Indust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50800" dist="38100" dir="5400000" rotWithShape="0">
                <a:srgbClr val="000000"/>
              </a:outerShdw>
            </a:effectLst>
            <a:uFillTx/>
            <a:latin typeface="+mn-lt"/>
            <a:ea typeface="+mn-ea"/>
            <a:cs typeface="+mn-cs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8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50800" dist="38100" dir="5400000" rotWithShape="0">
                <a:srgbClr val="000000"/>
              </a:outerShdw>
            </a:effectLst>
            <a:uFillTx/>
            <a:latin typeface="+mn-lt"/>
            <a:ea typeface="+mn-ea"/>
            <a:cs typeface="+mn-cs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Industrial">
  <a:themeElements>
    <a:clrScheme name="Industrial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73CF"/>
      </a:accent1>
      <a:accent2>
        <a:srgbClr val="1A941F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Industrial">
      <a:majorFont>
        <a:latin typeface="Futura"/>
        <a:ea typeface="Futura"/>
        <a:cs typeface="Futura"/>
      </a:majorFont>
      <a:minorFont>
        <a:latin typeface="Futura"/>
        <a:ea typeface="Futura"/>
        <a:cs typeface="Futura"/>
      </a:minorFont>
    </a:fontScheme>
    <a:fmtScheme name="Indust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50800" dist="38100" dir="5400000" rotWithShape="0">
                <a:srgbClr val="000000"/>
              </a:outerShdw>
            </a:effectLst>
            <a:uFillTx/>
            <a:latin typeface="+mn-lt"/>
            <a:ea typeface="+mn-ea"/>
            <a:cs typeface="+mn-cs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8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50800" dist="38100" dir="5400000" rotWithShape="0">
                <a:srgbClr val="000000"/>
              </a:outerShdw>
            </a:effectLst>
            <a:uFillTx/>
            <a:latin typeface="+mn-lt"/>
            <a:ea typeface="+mn-ea"/>
            <a:cs typeface="+mn-cs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1910</Words>
  <Application>Microsoft Macintosh PowerPoint</Application>
  <PresentationFormat>Custom</PresentationFormat>
  <Paragraphs>369</Paragraphs>
  <Slides>45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Copperplate</vt:lpstr>
      <vt:lpstr>Futura</vt:lpstr>
      <vt:lpstr>Futura Bold</vt:lpstr>
      <vt:lpstr>Times Roman</vt:lpstr>
      <vt:lpstr>Industrial</vt:lpstr>
      <vt:lpstr>¿Qué Divide a los Bolivianos?</vt:lpstr>
      <vt:lpstr>PowerPoint Presentation</vt:lpstr>
      <vt:lpstr>PowerPoint Presentation</vt:lpstr>
      <vt:lpstr>#1 Marco Conceptual</vt:lpstr>
      <vt:lpstr>Marco Conceptual</vt:lpstr>
      <vt:lpstr>Grietas entre Identidades Sociales</vt:lpstr>
      <vt:lpstr>Grietas entre Identidades Sociales</vt:lpstr>
      <vt:lpstr>Grietas entre Identidades Sociales</vt:lpstr>
      <vt:lpstr>#2 Objetivos</vt:lpstr>
      <vt:lpstr>PowerPoint Presentation</vt:lpstr>
      <vt:lpstr>#3 Mediciones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#4 Resultados</vt:lpstr>
      <vt:lpstr>A. Grietas en “Afecto” [Datos observacionales]</vt:lpstr>
      <vt:lpstr>A. Grietas en “Afecto” [Datos observacionales]</vt:lpstr>
      <vt:lpstr>A. Grietas en “Afecto” [Datos observacionales]</vt:lpstr>
      <vt:lpstr>A. Grietas en “Afecto” [Datos observacionales]</vt:lpstr>
      <vt:lpstr>A. Grietas en “Afecto” [Datos observacionales]</vt:lpstr>
      <vt:lpstr>A. Grietas en “Afecto” [Datos observacionales]</vt:lpstr>
      <vt:lpstr>A. Grietas en “Afecto” [Datos observacionales]</vt:lpstr>
      <vt:lpstr>A. Grietas en “Afecto” [Datos observacionales]</vt:lpstr>
      <vt:lpstr>B. Grietas en “Afecto” [Datos observacionales]</vt:lpstr>
      <vt:lpstr>B. Grietas en “Confianza” [Datos experimentales]</vt:lpstr>
      <vt:lpstr>B. Grietas en “Confianza” [Datos experimentales]</vt:lpstr>
      <vt:lpstr>B. Grietas en “Confianza” [Datos experimentales]</vt:lpstr>
      <vt:lpstr>B. Grietas en “Confianza” [Datos experimentales]</vt:lpstr>
      <vt:lpstr>B. Grietas en “Confianza” [Datos experimentales]</vt:lpstr>
      <vt:lpstr>B. Grietas en “Confianza” [Datos experimentales]</vt:lpstr>
      <vt:lpstr>B. Grietas en “Confianza” [Datos experimentales]</vt:lpstr>
      <vt:lpstr>B. Grietas en “Confianza” [Datos experimentales]</vt:lpstr>
      <vt:lpstr>B. Grietas en “Confianza” [Datos experimentales]</vt:lpstr>
      <vt:lpstr>B. Grietas Idiológicas [Datos observacionales]</vt:lpstr>
      <vt:lpstr>B. Grietas Idiológicas [Datos observacionales]</vt:lpstr>
      <vt:lpstr>C. Grietas Idiológicas [Datos observacionales]</vt:lpstr>
      <vt:lpstr>#5 Conclusiones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¿Qué Divide a los Bolivianos?</dc:title>
  <cp:lastModifiedBy>Werner Hernani Limarino</cp:lastModifiedBy>
  <cp:revision>1</cp:revision>
  <dcterms:modified xsi:type="dcterms:W3CDTF">2022-11-02T04:26:16Z</dcterms:modified>
</cp:coreProperties>
</file>